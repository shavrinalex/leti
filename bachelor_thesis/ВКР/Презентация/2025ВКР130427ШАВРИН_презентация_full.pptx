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301" r:id="rId3"/>
    <p:sldId id="258" r:id="rId4"/>
    <p:sldId id="257" r:id="rId5"/>
    <p:sldId id="267" r:id="rId6"/>
    <p:sldId id="260" r:id="rId7"/>
    <p:sldId id="268" r:id="rId8"/>
    <p:sldId id="261" r:id="rId9"/>
    <p:sldId id="262" r:id="rId10"/>
    <p:sldId id="263" r:id="rId11"/>
    <p:sldId id="270" r:id="rId12"/>
    <p:sldId id="264" r:id="rId13"/>
    <p:sldId id="265" r:id="rId14"/>
    <p:sldId id="275" r:id="rId15"/>
    <p:sldId id="282" r:id="rId16"/>
    <p:sldId id="283" r:id="rId17"/>
    <p:sldId id="288" r:id="rId18"/>
    <p:sldId id="289" r:id="rId19"/>
    <p:sldId id="290" r:id="rId20"/>
    <p:sldId id="279" r:id="rId21"/>
    <p:sldId id="299" r:id="rId22"/>
    <p:sldId id="297" r:id="rId23"/>
    <p:sldId id="284" r:id="rId24"/>
    <p:sldId id="298" r:id="rId25"/>
    <p:sldId id="300" r:id="rId26"/>
    <p:sldId id="285" r:id="rId27"/>
    <p:sldId id="286" r:id="rId28"/>
    <p:sldId id="287" r:id="rId29"/>
    <p:sldId id="296" r:id="rId30"/>
    <p:sldId id="291" r:id="rId31"/>
    <p:sldId id="280" r:id="rId32"/>
    <p:sldId id="294" r:id="rId33"/>
    <p:sldId id="295" r:id="rId34"/>
    <p:sldId id="293" r:id="rId35"/>
    <p:sldId id="277" r:id="rId36"/>
    <p:sldId id="278" r:id="rId37"/>
    <p:sldId id="269" r:id="rId38"/>
    <p:sldId id="302" r:id="rId39"/>
    <p:sldId id="303" r:id="rId4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93DE1C-1E29-4AD7-A6A6-37B49F56DD3D}">
  <a:tblStyle styleId="{8893DE1C-1E29-4AD7-A6A6-37B49F56DD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67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ed6f068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ed6f068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781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313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02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485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2270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592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262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010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9254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6238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01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253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0065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5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0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39118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162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6605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143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43794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630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3372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6384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27511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7179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86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vrinAlex/tsp-phase-transi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986699"/>
            <a:ext cx="8520600" cy="17429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РАЗРАБОТКА БИБЛИОТЕКИ ОПРЕДЕЛЕНИЯ ФАЗОВЫХ ПЕРЕХОДОВ В NP-ТРУДНОЙ ЗАДАЧЕ КОММИВОЯЖЕРА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</a:t>
            </a:r>
            <a:r>
              <a:rPr lang="ru-RU" sz="1800" dirty="0">
                <a:solidFill>
                  <a:srgbClr val="000000"/>
                </a:solidFill>
              </a:rPr>
              <a:t>Шаврин Алексей Павлович</a:t>
            </a:r>
            <a:r>
              <a:rPr lang="en" sz="1800" dirty="0">
                <a:solidFill>
                  <a:srgbClr val="000000"/>
                </a:solidFill>
              </a:rPr>
              <a:t>, гр. </a:t>
            </a:r>
            <a:r>
              <a:rPr lang="ru-RU" sz="1800" dirty="0">
                <a:solidFill>
                  <a:srgbClr val="000000"/>
                </a:solidFill>
              </a:rPr>
              <a:t>1304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     </a:t>
            </a:r>
            <a:r>
              <a:rPr lang="ru-RU" sz="1800" dirty="0">
                <a:solidFill>
                  <a:srgbClr val="000000"/>
                </a:solidFill>
              </a:rPr>
              <a:t>Беляев Сергей Алексеевич</a:t>
            </a:r>
            <a:r>
              <a:rPr lang="en" sz="1800" dirty="0">
                <a:solidFill>
                  <a:srgbClr val="000000"/>
                </a:solidFill>
              </a:rPr>
              <a:t>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</a:t>
            </a:r>
            <a:r>
              <a:rPr lang="ru-RU" sz="1800" dirty="0">
                <a:solidFill>
                  <a:srgbClr val="000000"/>
                </a:solidFill>
              </a:rPr>
              <a:t>	</a:t>
            </a:r>
            <a:r>
              <a:rPr lang="en-US" sz="1800" dirty="0">
                <a:solidFill>
                  <a:srgbClr val="000000"/>
                </a:solidFill>
              </a:rPr>
              <a:t>            </a:t>
            </a:r>
            <a:r>
              <a:rPr lang="ru-RU" sz="1800" dirty="0">
                <a:solidFill>
                  <a:srgbClr val="000000"/>
                </a:solidFill>
              </a:rPr>
              <a:t>Шевелева Анна Михайловна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Санкт-Петербург, </a:t>
            </a:r>
            <a:r>
              <a:rPr lang="ru-RU" sz="1800" dirty="0"/>
              <a:t>2025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163CA-C265-49BB-9D11-F0C6B70C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21" y="167277"/>
            <a:ext cx="8520600" cy="763500"/>
          </a:xfrm>
        </p:spPr>
        <p:txBody>
          <a:bodyPr/>
          <a:lstStyle/>
          <a:p>
            <a:r>
              <a:rPr lang="ru-RU" dirty="0"/>
              <a:t>Задача коммивояжера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F672F-E6C4-4F32-B990-145A1143C3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9D8F134-5CB4-4EA1-B8DA-D4782A12E6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79013" y="2297270"/>
                <a:ext cx="5379307" cy="3006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Aria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𝑚𝑖𝑛</m:t>
                      </m:r>
                      <m:nary>
                        <m:naryPr>
                          <m:chr m:val="∑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=1, </m:t>
                              </m:r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≠ </m:t>
                              </m:r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Font typeface="Arial"/>
                  <a:buNone/>
                </a:pPr>
                <a:r>
                  <a:rPr lang="ru-RU" sz="2000" dirty="0">
                    <a:solidFill>
                      <a:schemeClr val="tx1"/>
                    </a:solidFill>
                    <a:latin typeface="+mn-lt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chemeClr val="tx1"/>
                    </a:solidFill>
                    <a:latin typeface="+mn-lt"/>
                    <a:ea typeface="SimSun" panose="02010600030101010101" pitchFamily="2" charset="-122"/>
                    <a:cs typeface="Times New Roman" panose="02020603050405020304" pitchFamily="18" charset="0"/>
                  </a:rPr>
                  <a:t> - весовой коэффициент ребра из </a:t>
                </a:r>
                <a:r>
                  <a:rPr lang="en-US" sz="2000" i="1" dirty="0">
                    <a:solidFill>
                      <a:schemeClr val="tx1"/>
                    </a:solidFill>
                    <a:latin typeface="+mn-lt"/>
                    <a:ea typeface="SimSun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solidFill>
                      <a:schemeClr val="tx1"/>
                    </a:solidFill>
                    <a:latin typeface="+mn-lt"/>
                    <a:ea typeface="SimSun" panose="02010600030101010101" pitchFamily="2" charset="-122"/>
                    <a:cs typeface="Times New Roman" panose="02020603050405020304" pitchFamily="18" charset="0"/>
                  </a:rPr>
                  <a:t>города в </a:t>
                </a:r>
                <a:r>
                  <a:rPr lang="en-US" sz="2000" i="1" dirty="0">
                    <a:solidFill>
                      <a:schemeClr val="tx1"/>
                    </a:solidFill>
                    <a:latin typeface="+mn-lt"/>
                    <a:ea typeface="SimSun" panose="02010600030101010101" pitchFamily="2" charset="-122"/>
                    <a:cs typeface="Times New Roman" panose="02020603050405020304" pitchFamily="18" charset="0"/>
                  </a:rPr>
                  <a:t>j</a:t>
                </a:r>
                <a:endParaRPr lang="ru-RU" sz="2000" i="1" dirty="0">
                  <a:solidFill>
                    <a:schemeClr val="tx1"/>
                  </a:solidFill>
                  <a:latin typeface="+mn-lt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</m:t>
                              </m:r>
                              <m:r>
                                <a:rPr lang="ru-RU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если ребро входит в цикл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ru-RU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если ребро не входит в цикл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9D8F134-5CB4-4EA1-B8DA-D4782A12E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013" y="2297270"/>
                <a:ext cx="5379307" cy="3006677"/>
              </a:xfrm>
              <a:prstGeom prst="rect">
                <a:avLst/>
              </a:prstGeom>
              <a:blipFill>
                <a:blip r:embed="rId2"/>
                <a:stretch>
                  <a:fillRect l="-11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5BE024E-4059-4614-9AD0-67CED4A29AD0}"/>
              </a:ext>
            </a:extLst>
          </p:cNvPr>
          <p:cNvSpPr txBox="1"/>
          <p:nvPr/>
        </p:nvSpPr>
        <p:spPr>
          <a:xfrm>
            <a:off x="3379014" y="1554053"/>
            <a:ext cx="5379307" cy="743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0000"/>
              </a:lnSpc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Математическое решение: </a:t>
            </a:r>
            <a:r>
              <a:rPr lang="ru-RU" sz="2000" dirty="0">
                <a:solidFill>
                  <a:schemeClr val="tx1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минимальный гамильтонов цикл.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F0884-9058-4F81-B8FA-4C078A3E718B}"/>
              </a:ext>
            </a:extLst>
          </p:cNvPr>
          <p:cNvSpPr txBox="1"/>
          <p:nvPr/>
        </p:nvSpPr>
        <p:spPr>
          <a:xfrm>
            <a:off x="-254028" y="5765040"/>
            <a:ext cx="6717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 – Пример полного двунаправленного реберно взвешенного графа и его матрицы весов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B4E327-3EB1-41A3-9834-617C71A1D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20" y="930777"/>
            <a:ext cx="3172268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5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173103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747809"/>
            <a:ext cx="8520600" cy="5838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 algn="just">
              <a:lnSpc>
                <a:spcPct val="100000"/>
              </a:lnSpc>
              <a:buClr>
                <a:srgbClr val="000000"/>
              </a:buClr>
              <a:buSzPts val="2400"/>
              <a:buNone/>
            </a:pPr>
            <a:r>
              <a:rPr lang="ru-RU" sz="2000" b="1" dirty="0">
                <a:solidFill>
                  <a:srgbClr val="000000"/>
                </a:solidFill>
              </a:rPr>
              <a:t>Актуальность</a:t>
            </a:r>
            <a:r>
              <a:rPr lang="ru-RU" sz="2000" dirty="0">
                <a:solidFill>
                  <a:srgbClr val="000000"/>
                </a:solidFill>
              </a:rPr>
              <a:t>: </a:t>
            </a:r>
          </a:p>
          <a:p>
            <a:pPr marL="533400" indent="-457200" algn="just">
              <a:lnSpc>
                <a:spcPct val="100000"/>
              </a:lnSpc>
              <a:buClr>
                <a:srgbClr val="000000"/>
              </a:buClr>
              <a:buSzPct val="100000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Широкое практическое применение </a:t>
            </a:r>
            <a:r>
              <a:rPr lang="en-US" sz="2000" dirty="0">
                <a:solidFill>
                  <a:srgbClr val="000000"/>
                </a:solidFill>
              </a:rPr>
              <a:t>NP-</a:t>
            </a:r>
            <a:r>
              <a:rPr lang="ru-RU" sz="2000" dirty="0">
                <a:solidFill>
                  <a:srgbClr val="000000"/>
                </a:solidFill>
              </a:rPr>
              <a:t>трудной задачи коммивояжера</a:t>
            </a:r>
          </a:p>
          <a:p>
            <a:pPr marL="533400" indent="-457200" algn="just">
              <a:lnSpc>
                <a:spcPct val="100000"/>
              </a:lnSpc>
              <a:buClr>
                <a:srgbClr val="000000"/>
              </a:buClr>
              <a:buSzPct val="100000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Фазовые переходы резко увеличивают сложность решения задачи</a:t>
            </a:r>
          </a:p>
          <a:p>
            <a:pPr marL="533400" indent="-457200" algn="just">
              <a:lnSpc>
                <a:spcPct val="100000"/>
              </a:lnSpc>
              <a:buClr>
                <a:srgbClr val="000000"/>
              </a:buClr>
              <a:buSzPct val="100000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Необходимость точных и быстрых решений задачи коммивояжера</a:t>
            </a:r>
          </a:p>
          <a:p>
            <a:pPr marL="533400" indent="-457200" algn="just">
              <a:lnSpc>
                <a:spcPct val="100000"/>
              </a:lnSpc>
              <a:buClr>
                <a:srgbClr val="000000"/>
              </a:buClr>
              <a:buSzPts val="2400"/>
              <a:buAutoNum type="arabicPeriod"/>
            </a:pPr>
            <a:endParaRPr lang="en" sz="2000" b="1" dirty="0">
              <a:solidFill>
                <a:srgbClr val="000000"/>
              </a:solidFill>
            </a:endParaRPr>
          </a:p>
          <a:p>
            <a:pPr marL="114300" indent="0" algn="just">
              <a:buNone/>
            </a:pPr>
            <a:r>
              <a:rPr lang="en" sz="2000" b="1" dirty="0">
                <a:solidFill>
                  <a:srgbClr val="000000"/>
                </a:solidFill>
              </a:rPr>
              <a:t>Для че</a:t>
            </a:r>
            <a:r>
              <a:rPr lang="ru-RU" sz="2000" b="1" dirty="0">
                <a:solidFill>
                  <a:srgbClr val="000000"/>
                </a:solidFill>
              </a:rPr>
              <a:t>го: </a:t>
            </a:r>
            <a:r>
              <a:rPr lang="ru-RU" sz="2000" dirty="0">
                <a:solidFill>
                  <a:srgbClr val="000000"/>
                </a:solidFill>
              </a:rPr>
              <a:t>Позволит выбрать оптимальный алгоритм в условиях конкретного фазового перехода</a:t>
            </a:r>
          </a:p>
          <a:p>
            <a:pPr marL="114300" indent="0" algn="just"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76200" indent="0" algn="just">
              <a:buClr>
                <a:srgbClr val="000000"/>
              </a:buClr>
              <a:buSzPts val="2400"/>
              <a:buNone/>
            </a:pPr>
            <a:r>
              <a:rPr lang="ru-RU" sz="2000" b="1" dirty="0">
                <a:solidFill>
                  <a:srgbClr val="000000"/>
                </a:solidFill>
              </a:rPr>
              <a:t>Пользователи</a:t>
            </a:r>
            <a:r>
              <a:rPr lang="ru-RU" sz="2000" dirty="0">
                <a:solidFill>
                  <a:srgbClr val="000000"/>
                </a:solidFill>
              </a:rPr>
              <a:t>: </a:t>
            </a:r>
          </a:p>
          <a:p>
            <a:pPr marL="533400" indent="-457200" algn="just">
              <a:buClr>
                <a:srgbClr val="000000"/>
              </a:buClr>
              <a:buSzPct val="100000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Инженеры и разработчики в области маршрутизации АТС в складских помещениях</a:t>
            </a:r>
          </a:p>
          <a:p>
            <a:pPr marL="533400" indent="-457200" algn="just">
              <a:buClr>
                <a:srgbClr val="000000"/>
              </a:buClr>
              <a:buSzPct val="100000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Исследователи в области комбинаторной оптимизации и NP-трудных задач</a:t>
            </a:r>
          </a:p>
          <a:p>
            <a:pPr marL="419100">
              <a:buClr>
                <a:srgbClr val="000000"/>
              </a:buClr>
              <a:buSzPts val="2400"/>
            </a:pP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lang="ru-RU" sz="2400" dirty="0">
              <a:solidFill>
                <a:srgbClr val="000000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34753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935057"/>
            <a:ext cx="8709458" cy="5807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</a:t>
            </a:r>
            <a:r>
              <a:rPr lang="ru-RU" sz="2400" dirty="0">
                <a:solidFill>
                  <a:srgbClr val="000000"/>
                </a:solidFill>
              </a:rPr>
              <a:t>Разработать библиотеку, для автоматизированного определения фазовых переходов в NP-трудной задаче коммивояжера</a:t>
            </a:r>
            <a:endParaRPr lang="en-US" sz="2400" dirty="0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lang="ru-RU" sz="2400" dirty="0">
              <a:solidFill>
                <a:srgbClr val="000000"/>
              </a:solidFill>
            </a:endParaRPr>
          </a:p>
          <a:p>
            <a:pPr lvl="0" indent="-45720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Выполнить обзор предметной области</a:t>
            </a:r>
            <a:endParaRPr lang="en-US" sz="2400" dirty="0">
              <a:solidFill>
                <a:srgbClr val="000000"/>
              </a:solidFill>
            </a:endParaRPr>
          </a:p>
          <a:p>
            <a:pPr lvl="0" indent="-45720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Исследовать фазовые переходы</a:t>
            </a:r>
            <a:endParaRPr lang="en-US" sz="2400" dirty="0">
              <a:solidFill>
                <a:srgbClr val="000000"/>
              </a:solidFill>
            </a:endParaRPr>
          </a:p>
          <a:p>
            <a:pPr lvl="0" indent="-45720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Разработать алгоритмы определения фазовых переходов</a:t>
            </a:r>
            <a:endParaRPr lang="en-US" sz="2400" dirty="0">
              <a:solidFill>
                <a:srgbClr val="000000"/>
              </a:solidFill>
            </a:endParaRPr>
          </a:p>
          <a:p>
            <a:pPr lvl="0" indent="-45720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Исследовать разработанные алгоритмы</a:t>
            </a:r>
          </a:p>
          <a:p>
            <a:pPr marL="533400" lvl="0" indent="-4572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+mj-lt"/>
              <a:buAutoNum type="arabicPeriod"/>
            </a:pPr>
            <a:endParaRPr lang="ru-RU"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396285"/>
            <a:ext cx="8520600" cy="830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Обзор предметной области. Аналоги и метод решения</a:t>
            </a:r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F9DDB6-A60E-406B-8D86-973C87759E96}"/>
              </a:ext>
            </a:extLst>
          </p:cNvPr>
          <p:cNvSpPr txBox="1"/>
          <p:nvPr/>
        </p:nvSpPr>
        <p:spPr>
          <a:xfrm>
            <a:off x="583884" y="3950635"/>
            <a:ext cx="816292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Выбранный метод решения:</a:t>
            </a:r>
          </a:p>
          <a:p>
            <a:pPr marL="457200" lvl="0" indent="-457200" algn="just">
              <a:lnSpc>
                <a:spcPct val="95000"/>
              </a:lnSpc>
              <a:spcAft>
                <a:spcPts val="600"/>
              </a:spcAft>
              <a:buAutoNum type="arabicPeriod"/>
              <a:tabLst>
                <a:tab pos="182880" algn="l"/>
              </a:tabLst>
            </a:pPr>
            <a:r>
              <a:rPr lang="ru-RU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Язык – </a:t>
            </a:r>
            <a:r>
              <a:rPr lang="en-US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</a:p>
          <a:p>
            <a:pPr marL="457200" lvl="0" indent="-457200" algn="just">
              <a:lnSpc>
                <a:spcPct val="95000"/>
              </a:lnSpc>
              <a:spcAft>
                <a:spcPts val="600"/>
              </a:spcAft>
              <a:buAutoNum type="arabicPeriod"/>
              <a:tabLst>
                <a:tab pos="182880" algn="l"/>
              </a:tabLst>
            </a:pPr>
            <a:r>
              <a:rPr lang="ru-RU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Библиотеки - </a:t>
            </a:r>
            <a:r>
              <a:rPr lang="en-US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scikit-learn </a:t>
            </a:r>
            <a:r>
              <a:rPr lang="ru-RU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</a:p>
          <a:p>
            <a:pPr marL="457200" lvl="0" indent="-457200" algn="just">
              <a:lnSpc>
                <a:spcPct val="95000"/>
              </a:lnSpc>
              <a:spcAft>
                <a:spcPts val="600"/>
              </a:spcAft>
              <a:buAutoNum type="arabicPeriod"/>
              <a:tabLst>
                <a:tab pos="182880" algn="l"/>
              </a:tabLst>
            </a:pPr>
            <a:r>
              <a:rPr lang="ru-RU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Характеристики - модульная гибкость, готовые инструменты для определения фазовых переходов и масштабируемая производительность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366D297B-B238-4F9E-B33F-9E220CBB8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90504"/>
              </p:ext>
            </p:extLst>
          </p:nvPr>
        </p:nvGraphicFramePr>
        <p:xfrm>
          <a:off x="762000" y="1396466"/>
          <a:ext cx="7710458" cy="2316480"/>
        </p:xfrm>
        <a:graphic>
          <a:graphicData uri="http://schemas.openxmlformats.org/drawingml/2006/table">
            <a:tbl>
              <a:tblPr firstRow="1" bandRow="1">
                <a:tableStyleId>{8893DE1C-1E29-4AD7-A6A6-37B49F56DD3D}</a:tableStyleId>
              </a:tblPr>
              <a:tblGrid>
                <a:gridCol w="2124075">
                  <a:extLst>
                    <a:ext uri="{9D8B030D-6E8A-4147-A177-3AD203B41FA5}">
                      <a16:colId xmlns:a16="http://schemas.microsoft.com/office/drawing/2014/main" val="18544748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80664891"/>
                    </a:ext>
                  </a:extLst>
                </a:gridCol>
                <a:gridCol w="2081183">
                  <a:extLst>
                    <a:ext uri="{9D8B030D-6E8A-4147-A177-3AD203B41FA5}">
                      <a16:colId xmlns:a16="http://schemas.microsoft.com/office/drawing/2014/main" val="153526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Аналоги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Критерии сравнения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Вывод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5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 algn="just">
                        <a:buAutoNum type="arabicPeriod"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NetworkX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just"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Graph-tool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just"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python-tsp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just">
                        <a:buAutoNum type="arabicPeriod"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Condore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TSP Solver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just">
                        <a:buAutoNum type="arabicPeriod"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CuPy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Решаемый тип задачи</a:t>
                      </a: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Применимые методы</a:t>
                      </a: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Ограничения на данные</a:t>
                      </a: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Масштабируемость</a:t>
                      </a:r>
                      <a:endParaRPr lang="en-US" sz="2000" b="0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Наиболее универсальный аналог - </a:t>
                      </a:r>
                      <a:r>
                        <a:rPr lang="ru-RU" sz="2000" b="0" i="0" u="none" strike="noStrike" cap="none" dirty="0" err="1">
                          <a:solidFill>
                            <a:schemeClr val="tx1"/>
                          </a:solidFill>
                          <a:latin typeface="Arial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CuPy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5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9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9687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фазовых переходов. Радиально-кластерный</a:t>
            </a:r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95054-47F8-4173-AF02-02E6960A559D}"/>
              </a:ext>
            </a:extLst>
          </p:cNvPr>
          <p:cNvSpPr txBox="1"/>
          <p:nvPr/>
        </p:nvSpPr>
        <p:spPr>
          <a:xfrm>
            <a:off x="3553968" y="1963236"/>
            <a:ext cx="4802954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880" algn="just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ru-RU" sz="2000" spc="-5" dirty="0">
                <a:effectLst/>
                <a:latin typeface="+mn-lt"/>
                <a:ea typeface="SimSun" panose="02010600030101010101" pitchFamily="2" charset="-122"/>
              </a:rPr>
              <a:t>Проверены зависимости возникновения фазового перехода от: </a:t>
            </a:r>
          </a:p>
          <a:p>
            <a:pPr marL="457200" lvl="0" indent="-457200" algn="just">
              <a:lnSpc>
                <a:spcPct val="95000"/>
              </a:lnSpc>
              <a:spcAft>
                <a:spcPts val="600"/>
              </a:spcAft>
              <a:buAutoNum type="arabicPeriod"/>
              <a:tabLst>
                <a:tab pos="182880" algn="l"/>
              </a:tabLst>
            </a:pPr>
            <a:r>
              <a:rPr lang="x-none" sz="2000" spc="-5" dirty="0">
                <a:effectLst/>
                <a:latin typeface="+mn-lt"/>
                <a:ea typeface="SimSun" panose="02010600030101010101" pitchFamily="2" charset="-122"/>
              </a:rPr>
              <a:t>Количества кластеров</a:t>
            </a:r>
            <a:endParaRPr lang="en-US" sz="2000" spc="-5" dirty="0">
              <a:effectLst/>
              <a:latin typeface="+mn-lt"/>
              <a:ea typeface="SimSun" panose="02010600030101010101" pitchFamily="2" charset="-122"/>
            </a:endParaRPr>
          </a:p>
          <a:p>
            <a:pPr marL="457200" lvl="0" indent="-457200" algn="just">
              <a:lnSpc>
                <a:spcPct val="95000"/>
              </a:lnSpc>
              <a:spcAft>
                <a:spcPts val="600"/>
              </a:spcAft>
              <a:buAutoNum type="arabicPeriod"/>
              <a:tabLst>
                <a:tab pos="182880" algn="l"/>
              </a:tabLst>
            </a:pPr>
            <a:r>
              <a:rPr lang="x-none" sz="2000" spc="-5" dirty="0">
                <a:effectLst/>
                <a:latin typeface="+mn-lt"/>
                <a:ea typeface="SimSun" panose="02010600030101010101" pitchFamily="2" charset="-122"/>
              </a:rPr>
              <a:t>Размеров кластеров</a:t>
            </a:r>
            <a:endParaRPr lang="en-US" sz="2000" spc="-5" dirty="0">
              <a:latin typeface="+mn-lt"/>
              <a:ea typeface="SimSun" panose="02010600030101010101" pitchFamily="2" charset="-122"/>
            </a:endParaRPr>
          </a:p>
          <a:p>
            <a:pPr marL="457200" lvl="0" indent="-457200" algn="just">
              <a:lnSpc>
                <a:spcPct val="95000"/>
              </a:lnSpc>
              <a:spcAft>
                <a:spcPts val="600"/>
              </a:spcAft>
              <a:buAutoNum type="arabicPeriod"/>
              <a:tabLst>
                <a:tab pos="182880" algn="l"/>
              </a:tabLst>
            </a:pPr>
            <a:r>
              <a:rPr lang="x-none" sz="2000" spc="-5" dirty="0">
                <a:effectLst/>
                <a:latin typeface="+mn-lt"/>
                <a:ea typeface="SimSun" panose="02010600030101010101" pitchFamily="2" charset="-122"/>
              </a:rPr>
              <a:t>Количества городов</a:t>
            </a:r>
            <a:endParaRPr lang="ru-RU" sz="2000" spc="-5" dirty="0">
              <a:effectLst/>
              <a:latin typeface="+mn-lt"/>
              <a:ea typeface="SimSun" panose="02010600030101010101" pitchFamily="2" charset="-122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0E474B-09A3-4CE6-AEED-7F6DAABE58E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69" y="1963235"/>
            <a:ext cx="2550856" cy="2332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D95A52-36CC-4F0D-8367-00C249911DC9}"/>
              </a:ext>
            </a:extLst>
          </p:cNvPr>
          <p:cNvSpPr txBox="1"/>
          <p:nvPr/>
        </p:nvSpPr>
        <p:spPr>
          <a:xfrm>
            <a:off x="38064" y="4261267"/>
            <a:ext cx="3851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2 - Пример </a:t>
            </a:r>
          </a:p>
          <a:p>
            <a:pPr algn="ctr"/>
            <a:r>
              <a:rPr lang="ru-RU" sz="2000" dirty="0"/>
              <a:t>топологии матрицы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E9F436-D7DA-44E7-AE81-CB96896EF749}"/>
                  </a:ext>
                </a:extLst>
              </p:cNvPr>
              <p:cNvSpPr txBox="1"/>
              <p:nvPr/>
            </p:nvSpPr>
            <p:spPr>
              <a:xfrm>
                <a:off x="879190" y="5432939"/>
                <a:ext cx="75932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 0.17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i="1">
                        <a:latin typeface="Cambria Math" panose="02040503050406030204" pitchFamily="18" charset="0"/>
                      </a:rPr>
                      <m:t>−2.17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где 𝑟 – количество кластеров</a:t>
                </a:r>
                <a:endParaRPr lang="ru-RU" sz="2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E9F436-D7DA-44E7-AE81-CB96896EF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90" y="5432939"/>
                <a:ext cx="7593268" cy="400110"/>
              </a:xfrm>
              <a:prstGeom prst="rect">
                <a:avLst/>
              </a:prstGeom>
              <a:blipFill>
                <a:blip r:embed="rId4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фазовых переходов. </a:t>
            </a:r>
            <a:r>
              <a:rPr lang="ru-RU" dirty="0" err="1"/>
              <a:t>Кластерно-кратностный</a:t>
            </a:r>
            <a:endParaRPr lang="ru-RU"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895054-47F8-4173-AF02-02E6960A559D}"/>
                  </a:ext>
                </a:extLst>
              </p:cNvPr>
              <p:cNvSpPr txBox="1"/>
              <p:nvPr/>
            </p:nvSpPr>
            <p:spPr>
              <a:xfrm>
                <a:off x="3829050" y="1430879"/>
                <a:ext cx="5095032" cy="4974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182880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2000" spc="-5" dirty="0">
                    <a:effectLst/>
                    <a:latin typeface="+mn-lt"/>
                    <a:ea typeface="SimSun" panose="02010600030101010101" pitchFamily="2" charset="-122"/>
                  </a:rPr>
                  <a:t>Выявленные зависимости от:</a:t>
                </a: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1. </a:t>
                </a: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Количества кластеров</a:t>
                </a: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000" spc="-5" dirty="0">
                  <a:latin typeface="+mn-lt"/>
                  <a:ea typeface="SimSun" panose="02010600030101010101" pitchFamily="2" charset="-122"/>
                </a:endParaRPr>
              </a:p>
              <a:p>
                <a:pPr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где </a:t>
                </a:r>
                <a:r>
                  <a:rPr lang="en-US" sz="2000" i="1" spc="-5" dirty="0">
                    <a:latin typeface="+mn-lt"/>
                    <a:ea typeface="SimSun" panose="02010600030101010101" pitchFamily="2" charset="-122"/>
                  </a:rPr>
                  <a:t>n</a:t>
                </a: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 – </a:t>
                </a: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число городов, </a:t>
                </a:r>
                <a:r>
                  <a:rPr lang="en-US" sz="2000" i="1" spc="-5" dirty="0">
                    <a:latin typeface="+mn-lt"/>
                    <a:ea typeface="SimSun" panose="02010600030101010101" pitchFamily="2" charset="-122"/>
                  </a:rPr>
                  <a:t>m</a:t>
                </a: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 </a:t>
                </a: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– число кластеров</a:t>
                </a:r>
                <a:endParaRPr lang="en-US" sz="2000" spc="-5" dirty="0">
                  <a:latin typeface="+mn-lt"/>
                  <a:ea typeface="SimSun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2. </a:t>
                </a:r>
                <a:r>
                  <a:rPr lang="ru-RU" sz="2000" spc="-5" dirty="0">
                    <a:effectLst/>
                    <a:latin typeface="+mn-lt"/>
                    <a:ea typeface="SimSun" panose="02010600030101010101" pitchFamily="2" charset="-122"/>
                  </a:rPr>
                  <a:t>Расстояния между кластерами</a:t>
                </a: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 </a:t>
                </a: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 = 50.23</m:t>
                      </m:r>
                      <m:sSup>
                        <m:sSup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ru-RU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000" i="1">
                          <a:latin typeface="Cambria Math" panose="02040503050406030204" pitchFamily="18" charset="0"/>
                        </a:rPr>
                        <m:t> – 10.79</m:t>
                      </m:r>
                      <m:f>
                        <m:f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sz="2000" i="1">
                          <a:latin typeface="Cambria Math" panose="02040503050406030204" pitchFamily="18" charset="0"/>
                        </a:rPr>
                        <m:t> + 2.87</m:t>
                      </m:r>
                    </m:oMath>
                  </m:oMathPara>
                </a14:m>
                <a:endParaRPr lang="en-US" sz="2000" spc="-5" dirty="0">
                  <a:effectLst/>
                  <a:latin typeface="+mn-lt"/>
                  <a:ea typeface="SimSun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en-US" sz="2000" spc="-5" dirty="0">
                    <a:effectLst/>
                    <a:latin typeface="+mn-lt"/>
                    <a:ea typeface="SimSun" panose="02010600030101010101" pitchFamily="2" charset="-122"/>
                  </a:rPr>
                  <a:t>3. </a:t>
                </a:r>
                <a:r>
                  <a:rPr lang="ru-RU" sz="2000" spc="-5" dirty="0">
                    <a:effectLst/>
                    <a:latin typeface="+mn-lt"/>
                    <a:ea typeface="SimSun" panose="02010600030101010101" pitchFamily="2" charset="-122"/>
                  </a:rPr>
                  <a:t>Распределения городов по кластерам</a:t>
                </a:r>
                <a:endParaRPr lang="en-US" sz="2000" spc="-5" dirty="0">
                  <a:effectLst/>
                  <a:latin typeface="+mn-lt"/>
                  <a:ea typeface="SimSun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𝑚𝑟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𝑝𝑚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=3,</m:t>
                      </m:r>
                    </m:oMath>
                  </m:oMathPara>
                </a14:m>
                <a:endParaRPr lang="en-US" sz="2000" spc="-5" dirty="0">
                  <a:effectLst/>
                  <a:latin typeface="+mn-lt"/>
                  <a:ea typeface="SimSun" panose="02010600030101010101" pitchFamily="2" charset="-122"/>
                </a:endParaRPr>
              </a:p>
              <a:p>
                <a:pPr algn="just">
                  <a:lnSpc>
                    <a:spcPct val="95000"/>
                  </a:lnSpc>
                  <a:spcAft>
                    <a:spcPts val="600"/>
                  </a:spcAft>
                  <a:tabLst>
                    <a:tab pos="182880" algn="l"/>
                  </a:tabLst>
                </a:pP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где </a:t>
                </a:r>
                <a:r>
                  <a:rPr lang="en-US" sz="2000" i="1" spc="-5" dirty="0" err="1">
                    <a:latin typeface="+mn-lt"/>
                    <a:ea typeface="SimSun" panose="02010600030101010101" pitchFamily="2" charset="-122"/>
                  </a:rPr>
                  <a:t>mr</a:t>
                </a:r>
                <a:r>
                  <a:rPr lang="en-US" sz="2000" i="1" spc="-5" dirty="0">
                    <a:latin typeface="+mn-lt"/>
                    <a:ea typeface="SimSun" panose="02010600030101010101" pitchFamily="2" charset="-122"/>
                  </a:rPr>
                  <a:t> </a:t>
                </a: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– </a:t>
                </a: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наибольшее уникальное число городов в кластере</a:t>
                </a: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, </a:t>
                </a:r>
                <a:r>
                  <a:rPr lang="en-US" sz="2000" i="1" spc="-5" dirty="0" err="1">
                    <a:latin typeface="+mn-lt"/>
                    <a:ea typeface="SimSun" panose="02010600030101010101" pitchFamily="2" charset="-122"/>
                  </a:rPr>
                  <a:t>pmr</a:t>
                </a:r>
                <a:r>
                  <a:rPr lang="en-US" sz="2000" spc="-5" dirty="0">
                    <a:latin typeface="+mn-lt"/>
                    <a:ea typeface="SimSun" panose="02010600030101010101" pitchFamily="2" charset="-122"/>
                  </a:rPr>
                  <a:t> – </a:t>
                </a:r>
                <a:r>
                  <a:rPr lang="ru-RU" sz="2000" spc="-5" dirty="0">
                    <a:latin typeface="+mn-lt"/>
                    <a:ea typeface="SimSun" panose="02010600030101010101" pitchFamily="2" charset="-122"/>
                  </a:rPr>
                  <a:t>второе максимальное по величине число городов в кластере</a:t>
                </a:r>
                <a:endParaRPr lang="en-US" sz="2000" spc="-5" dirty="0">
                  <a:effectLst/>
                  <a:latin typeface="+mn-lt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895054-47F8-4173-AF02-02E6960A5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050" y="1430879"/>
                <a:ext cx="5095032" cy="4974952"/>
              </a:xfrm>
              <a:prstGeom prst="rect">
                <a:avLst/>
              </a:prstGeom>
              <a:blipFill>
                <a:blip r:embed="rId3"/>
                <a:stretch>
                  <a:fillRect l="-1196" t="-980" r="-1316" b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AE8F1E-7B4F-48D8-8611-3861B71BBA3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11700" y="1859837"/>
            <a:ext cx="3416619" cy="23699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C14B8E-51E6-439E-B2F5-BBB9EE720775}"/>
              </a:ext>
            </a:extLst>
          </p:cNvPr>
          <p:cNvSpPr txBox="1"/>
          <p:nvPr/>
        </p:nvSpPr>
        <p:spPr>
          <a:xfrm>
            <a:off x="311700" y="4449043"/>
            <a:ext cx="34964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Рисунок 3 - Пример </a:t>
            </a:r>
          </a:p>
          <a:p>
            <a:pPr algn="ctr"/>
            <a:r>
              <a:rPr lang="ru-RU" sz="2000" dirty="0"/>
              <a:t>кластеров городов для </a:t>
            </a:r>
            <a:r>
              <a:rPr lang="en-US" sz="2000" dirty="0"/>
              <a:t>TSP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678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115678"/>
            <a:ext cx="8520600" cy="1054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Разработка алгоритмов определения фазовых переходов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F6F06-2A75-42C9-BADD-7EA513674ED2}"/>
              </a:ext>
            </a:extLst>
          </p:cNvPr>
          <p:cNvSpPr txBox="1"/>
          <p:nvPr/>
        </p:nvSpPr>
        <p:spPr>
          <a:xfrm>
            <a:off x="856528" y="6279917"/>
            <a:ext cx="6967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4 – Схемы разработанных алгоритмов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E8EB26-A13A-40DD-B017-C2BA782C2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66" y="1107157"/>
            <a:ext cx="6567882" cy="5173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07617"/>
            <a:ext cx="8520600" cy="1016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и анализ разработанных алгоритмов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C969AB-7487-4C5D-8DCF-BEAE98E814E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19" y="1537419"/>
            <a:ext cx="4301490" cy="3397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F1B9DD-01C2-428F-8D03-B0FEBAB2552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37419"/>
            <a:ext cx="4542442" cy="339714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995E0-B8FC-47C0-8465-B4724580AD8F}"/>
              </a:ext>
            </a:extLst>
          </p:cNvPr>
          <p:cNvSpPr txBox="1"/>
          <p:nvPr/>
        </p:nvSpPr>
        <p:spPr>
          <a:xfrm>
            <a:off x="4710131" y="5051372"/>
            <a:ext cx="43110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6 - Точность </a:t>
            </a:r>
          </a:p>
          <a:p>
            <a:pPr algn="ctr"/>
            <a:r>
              <a:rPr lang="ru-RU" sz="2000" dirty="0"/>
              <a:t>определения </a:t>
            </a:r>
          </a:p>
          <a:p>
            <a:pPr algn="ctr"/>
            <a:r>
              <a:rPr lang="ru-RU" sz="2000" dirty="0" err="1">
                <a:solidFill>
                  <a:srgbClr val="000000"/>
                </a:solidFill>
              </a:rPr>
              <a:t>кластерно-кратностного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фазового перехода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7B8D32-7869-483B-8330-C0CE3285122E}"/>
              </a:ext>
            </a:extLst>
          </p:cNvPr>
          <p:cNvSpPr txBox="1"/>
          <p:nvPr/>
        </p:nvSpPr>
        <p:spPr>
          <a:xfrm>
            <a:off x="962612" y="5051373"/>
            <a:ext cx="30796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Рисунок 5 - Точность </a:t>
            </a:r>
          </a:p>
          <a:p>
            <a:pPr algn="ctr"/>
            <a:r>
              <a:rPr lang="ru-RU" sz="2000" dirty="0"/>
              <a:t>определения </a:t>
            </a:r>
          </a:p>
          <a:p>
            <a:pPr algn="ctr"/>
            <a:r>
              <a:rPr lang="ru-RU" sz="2000" dirty="0">
                <a:solidFill>
                  <a:srgbClr val="000000"/>
                </a:solidFill>
              </a:rPr>
              <a:t>радиально-кластерного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фазового перехода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3933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Заключение</a:t>
            </a:r>
            <a:r>
              <a:rPr lang="ru-RU" dirty="0"/>
              <a:t> 1</a:t>
            </a:r>
            <a:endParaRPr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005379"/>
            <a:ext cx="8520600" cy="56240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" sz="2400" dirty="0">
                <a:solidFill>
                  <a:schemeClr val="dk1"/>
                </a:solidFill>
              </a:rPr>
              <a:t>Проделанный обзор показал необходимость разработки </a:t>
            </a:r>
            <a:r>
              <a:rPr lang="ru-RU" sz="2400" dirty="0">
                <a:solidFill>
                  <a:schemeClr val="dk1"/>
                </a:solidFill>
              </a:rPr>
              <a:t>библиотеки определения фазовых переходов в </a:t>
            </a:r>
            <a:r>
              <a:rPr lang="en-US" sz="2400" dirty="0">
                <a:solidFill>
                  <a:schemeClr val="dk1"/>
                </a:solidFill>
              </a:rPr>
              <a:t>NP-</a:t>
            </a:r>
            <a:r>
              <a:rPr lang="ru-RU" sz="2400" dirty="0">
                <a:solidFill>
                  <a:schemeClr val="dk1"/>
                </a:solidFill>
              </a:rPr>
              <a:t>трудной задаче коммивояжера</a:t>
            </a:r>
          </a:p>
          <a:p>
            <a:pPr marL="5334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ru-RU" sz="2400" dirty="0">
                <a:solidFill>
                  <a:schemeClr val="dk1"/>
                </a:solidFill>
              </a:rPr>
              <a:t>В ходе исследования выявлены контрольные параметры и их критические значения для каждого выбранного фазового перехода</a:t>
            </a:r>
          </a:p>
          <a:p>
            <a:pPr marL="5334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ru-RU" sz="2400" dirty="0">
                <a:solidFill>
                  <a:schemeClr val="dk1"/>
                </a:solidFill>
              </a:rPr>
              <a:t>Разработано два алгоритма определения фазовых переходов, которые заложили основу главных методов библиотеки</a:t>
            </a:r>
          </a:p>
          <a:p>
            <a:pPr marL="5334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ru-RU" sz="2400" dirty="0">
                <a:solidFill>
                  <a:schemeClr val="dk1"/>
                </a:solidFill>
              </a:rPr>
              <a:t>Экспериментальное исследование точности показало значения свыше 85%, а скорости не превышает 4% от времени решения задачи в условиях фазового перехода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3933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Заключение</a:t>
            </a:r>
            <a:r>
              <a:rPr lang="ru-RU" dirty="0"/>
              <a:t> 2</a:t>
            </a:r>
            <a:endParaRPr dirty="0"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993F9B-3CD5-4C26-B4E3-B016C4822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1400"/>
            <a:ext cx="8520600" cy="5313258"/>
          </a:xfrm>
        </p:spPr>
        <p:txBody>
          <a:bodyPr/>
          <a:lstStyle/>
          <a:p>
            <a:pPr marL="114300" indent="0" algn="just">
              <a:buNone/>
            </a:pPr>
            <a:r>
              <a:rPr lang="ru-RU" sz="2400" dirty="0">
                <a:solidFill>
                  <a:schemeClr val="dk1"/>
                </a:solidFill>
                <a:latin typeface="+mn-lt"/>
              </a:rPr>
              <a:t>Дальнейшие направления исследований включают в себя:</a:t>
            </a:r>
          </a:p>
          <a:p>
            <a:pPr marL="571500" indent="-457200" algn="just">
              <a:buClr>
                <a:schemeClr val="tx1"/>
              </a:buClr>
              <a:buSzPct val="100000"/>
              <a:buAutoNum type="arabicPeriod"/>
            </a:pPr>
            <a:r>
              <a:rPr lang="ru-RU" sz="2400" dirty="0">
                <a:solidFill>
                  <a:schemeClr val="tx1"/>
                </a:solidFill>
                <a:effectLst/>
                <a:latin typeface="+mn-lt"/>
                <a:ea typeface="Noto Serif CJK SC"/>
                <a:cs typeface="Lohit Devanagari"/>
              </a:rPr>
              <a:t>Предварительная оценка тенденции данных к кластеризации</a:t>
            </a:r>
            <a:endParaRPr lang="en-US" sz="2400" dirty="0">
              <a:solidFill>
                <a:schemeClr val="tx1"/>
              </a:solidFill>
              <a:latin typeface="+mn-lt"/>
              <a:ea typeface="Noto Serif CJK SC"/>
            </a:endParaRPr>
          </a:p>
          <a:p>
            <a:pPr marL="571500" indent="-457200" algn="just">
              <a:buClr>
                <a:schemeClr val="tx1"/>
              </a:buClr>
              <a:buSzPct val="100000"/>
              <a:buAutoNum type="arabicPeriod"/>
            </a:pPr>
            <a:r>
              <a:rPr lang="ru-RU" sz="2400" dirty="0">
                <a:solidFill>
                  <a:schemeClr val="tx1"/>
                </a:solidFill>
                <a:effectLst/>
                <a:latin typeface="+mn-lt"/>
                <a:ea typeface="Noto Serif CJK SC"/>
                <a:cs typeface="Lohit Devanagari"/>
              </a:rPr>
              <a:t>Изменение способов предобработки данных и/или метода кластеризации</a:t>
            </a:r>
            <a:endParaRPr lang="en-US" sz="2400" dirty="0">
              <a:solidFill>
                <a:schemeClr val="tx1"/>
              </a:solidFill>
              <a:effectLst/>
              <a:latin typeface="+mn-lt"/>
              <a:ea typeface="Noto Serif CJK SC"/>
              <a:cs typeface="Lohit Devanagari"/>
            </a:endParaRPr>
          </a:p>
          <a:p>
            <a:pPr marL="571500" indent="-457200" algn="just">
              <a:buClr>
                <a:schemeClr val="tx1"/>
              </a:buClr>
              <a:buSzPct val="100000"/>
              <a:buAutoNum type="arabicPeriod"/>
            </a:pPr>
            <a:r>
              <a:rPr lang="ru-RU" sz="2400" dirty="0">
                <a:solidFill>
                  <a:schemeClr val="tx1"/>
                </a:solidFill>
                <a:effectLst/>
                <a:latin typeface="+mn-lt"/>
                <a:ea typeface="Noto Serif CJK SC"/>
                <a:cs typeface="Lohit Devanagari"/>
              </a:rPr>
              <a:t>Перенос кластеризации с городов на пути между городами</a:t>
            </a:r>
            <a:endParaRPr lang="en-US" sz="2400" dirty="0">
              <a:solidFill>
                <a:schemeClr val="tx1"/>
              </a:solidFill>
              <a:effectLst/>
              <a:latin typeface="+mn-lt"/>
              <a:ea typeface="Noto Serif CJK SC"/>
              <a:cs typeface="Lohit Devanagari"/>
            </a:endParaRPr>
          </a:p>
          <a:p>
            <a:pPr marL="571500" indent="-457200" algn="just">
              <a:buClr>
                <a:schemeClr val="tx1"/>
              </a:buClr>
              <a:buSzPct val="100000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Перенос вычислений на </a:t>
            </a:r>
            <a:r>
              <a:rPr lang="en-US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GPU</a:t>
            </a:r>
          </a:p>
          <a:p>
            <a:pPr marL="571500" indent="-457200" algn="just">
              <a:buClr>
                <a:schemeClr val="tx1"/>
              </a:buClr>
              <a:buSzPct val="100000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Расширение библиотеки до поддержки определения различных фазовых переходов как в задаче коммивояжера, так и в других задачах класса</a:t>
            </a:r>
            <a:r>
              <a:rPr lang="en-US" sz="24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NP</a:t>
            </a:r>
            <a:endParaRPr lang="ru-RU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288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53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«</a:t>
            </a:r>
            <a:r>
              <a:rPr lang="ru-RU" sz="2400" dirty="0">
                <a:solidFill>
                  <a:schemeClr val="tx1"/>
                </a:solidFill>
              </a:rPr>
              <a:t>Определение фазового перехода в NP-трудной задаче коммивояжера.</a:t>
            </a:r>
            <a:r>
              <a:rPr lang="en" sz="2400" dirty="0">
                <a:solidFill>
                  <a:srgbClr val="000000"/>
                </a:solidFill>
              </a:rPr>
              <a:t>»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" sz="2400" dirty="0">
                <a:solidFill>
                  <a:srgbClr val="000000"/>
                </a:solidFill>
              </a:rPr>
              <a:t>// </a:t>
            </a:r>
            <a:r>
              <a:rPr lang="ru-RU" sz="2400" dirty="0">
                <a:solidFill>
                  <a:srgbClr val="000000"/>
                </a:solidFill>
              </a:rPr>
              <a:t>Научно-технический семинар кафедры МО ЭВМ </a:t>
            </a:r>
            <a:r>
              <a:rPr lang="en" sz="2400" dirty="0">
                <a:solidFill>
                  <a:srgbClr val="000000"/>
                </a:solidFill>
              </a:rPr>
              <a:t>СПбГЭТУ «ЛЭТИ», 20</a:t>
            </a:r>
            <a:r>
              <a:rPr lang="ru-RU" sz="2400" dirty="0">
                <a:solidFill>
                  <a:srgbClr val="000000"/>
                </a:solidFill>
              </a:rPr>
              <a:t>25</a:t>
            </a:r>
            <a:endParaRPr lang="en-US" sz="2400" dirty="0">
              <a:solidFill>
                <a:schemeClr val="tx1"/>
              </a:solidFill>
            </a:endParaRPr>
          </a:p>
          <a:p>
            <a:pPr marL="53340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Репозиторий проекта</a:t>
            </a:r>
            <a:r>
              <a:rPr lang="ru-RU" sz="2400" dirty="0">
                <a:solidFill>
                  <a:srgbClr val="000000"/>
                </a:solidFill>
              </a:rPr>
              <a:t>:</a:t>
            </a:r>
            <a:r>
              <a:rPr lang="en" sz="2400" dirty="0">
                <a:solidFill>
                  <a:srgbClr val="000000"/>
                </a:solidFill>
              </a:rPr>
              <a:t> </a:t>
            </a:r>
            <a:endParaRPr lang="ru-RU" sz="2400" dirty="0">
              <a:solidFill>
                <a:srgbClr val="000000"/>
              </a:solidFill>
            </a:endParaRP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https://github.com/ShavrinAlex/tsp-phase-transition</a:t>
            </a:r>
            <a:endParaRPr lang="ru-RU" sz="2400" dirty="0">
              <a:solidFill>
                <a:srgbClr val="000000"/>
              </a:solidFill>
            </a:endParaRP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A3AE32-37E5-4364-A02B-1E6E16FE1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727" y="3718220"/>
            <a:ext cx="2235225" cy="223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99E666-7369-4E48-831D-B9CC05F0D7B5}"/>
              </a:ext>
            </a:extLst>
          </p:cNvPr>
          <p:cNvSpPr txBox="1"/>
          <p:nvPr/>
        </p:nvSpPr>
        <p:spPr>
          <a:xfrm>
            <a:off x="2108655" y="5953445"/>
            <a:ext cx="4201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Рисунок 7 – Репозиторий проекта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86CC7-90D8-4D95-BAE6-80F9D6D9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65177"/>
            <a:ext cx="8520600" cy="763500"/>
          </a:xfrm>
        </p:spPr>
        <p:txBody>
          <a:bodyPr/>
          <a:lstStyle/>
          <a:p>
            <a:r>
              <a:rPr lang="ru-RU" dirty="0"/>
              <a:t>Применение </a:t>
            </a:r>
            <a:r>
              <a:rPr lang="en-US" dirty="0"/>
              <a:t>NP-</a:t>
            </a:r>
            <a:r>
              <a:rPr lang="ru-RU" dirty="0"/>
              <a:t>трудной задачи коммивояжера.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612394-DE3B-487F-B8B0-2070203FF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9C3368-CA47-4CC0-A4F5-CDE993B6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75" y="729510"/>
            <a:ext cx="2393400" cy="239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681AF9-531A-44B6-8702-240B87981BAC}"/>
              </a:ext>
            </a:extLst>
          </p:cNvPr>
          <p:cNvSpPr txBox="1"/>
          <p:nvPr/>
        </p:nvSpPr>
        <p:spPr>
          <a:xfrm>
            <a:off x="526299" y="3085027"/>
            <a:ext cx="31951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Оптимизация маршрутов</a:t>
            </a:r>
          </a:p>
          <a:p>
            <a:r>
              <a:rPr lang="ru-RU" sz="2000" dirty="0"/>
              <a:t> наземного транспорта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877E32-5853-49A3-A584-2A45EF5E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457" y="624187"/>
            <a:ext cx="3112253" cy="26040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0CA2E4-CCCF-4C24-B9AE-F83452493E5C}"/>
              </a:ext>
            </a:extLst>
          </p:cNvPr>
          <p:cNvSpPr txBox="1"/>
          <p:nvPr/>
        </p:nvSpPr>
        <p:spPr>
          <a:xfrm>
            <a:off x="5400710" y="3198743"/>
            <a:ext cx="2484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Производство плат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01AFDF-FF8D-4375-B323-A0AFF52B5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894" y="3782943"/>
            <a:ext cx="2092628" cy="2092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52FC57-8E9D-4326-B1B6-4550ED90D859}"/>
              </a:ext>
            </a:extLst>
          </p:cNvPr>
          <p:cNvSpPr txBox="1"/>
          <p:nvPr/>
        </p:nvSpPr>
        <p:spPr>
          <a:xfrm>
            <a:off x="311701" y="5957130"/>
            <a:ext cx="412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+mn-lt"/>
                <a:ea typeface="Noto Serif CJK SC"/>
                <a:cs typeface="Lohit Devanagari"/>
              </a:rPr>
              <a:t>Маршрутизация АТС в</a:t>
            </a:r>
            <a:r>
              <a:rPr lang="ru-RU" sz="2000" dirty="0">
                <a:effectLst/>
                <a:latin typeface="+mn-lt"/>
                <a:ea typeface="Noto Serif CJK SC"/>
                <a:cs typeface="Lohit Devanagari"/>
              </a:rPr>
              <a:t> складских помещениях</a:t>
            </a:r>
            <a:endParaRPr lang="ru-RU" sz="1600" dirty="0">
              <a:latin typeface="+mn-lt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F660D4C-513C-4B70-848E-25F9A9607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884" y="3724884"/>
            <a:ext cx="2092628" cy="20926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C27339-8F9C-4CAD-B9B3-A9DB8A37202C}"/>
              </a:ext>
            </a:extLst>
          </p:cNvPr>
          <p:cNvSpPr txBox="1"/>
          <p:nvPr/>
        </p:nvSpPr>
        <p:spPr>
          <a:xfrm>
            <a:off x="5257801" y="5943543"/>
            <a:ext cx="3033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+mn-lt"/>
                <a:ea typeface="Noto Serif CJK SC"/>
                <a:cs typeface="Lohit Devanagari"/>
              </a:rPr>
              <a:t>Маршрутизация дронов</a:t>
            </a:r>
            <a:endParaRPr lang="ru-RU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491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Сложностные</a:t>
            </a:r>
            <a:r>
              <a:rPr lang="en-US" dirty="0"/>
              <a:t> </a:t>
            </a:r>
            <a:r>
              <a:rPr lang="ru-RU" dirty="0"/>
              <a:t>классы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30E9B-7F5C-4DA2-BC76-3B56D7799093}"/>
              </a:ext>
            </a:extLst>
          </p:cNvPr>
          <p:cNvSpPr txBox="1"/>
          <p:nvPr/>
        </p:nvSpPr>
        <p:spPr>
          <a:xfrm>
            <a:off x="5724525" y="4995952"/>
            <a:ext cx="3419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8 – Пример отношений классов сложности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117A1-18CF-45D4-96C2-8EC0B2B34B0B}"/>
              </a:ext>
            </a:extLst>
          </p:cNvPr>
          <p:cNvSpPr txBox="1"/>
          <p:nvPr/>
        </p:nvSpPr>
        <p:spPr>
          <a:xfrm>
            <a:off x="423819" y="1207238"/>
            <a:ext cx="56717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P</a:t>
            </a:r>
            <a:r>
              <a:rPr lang="en-US" sz="2000" dirty="0"/>
              <a:t> – </a:t>
            </a:r>
            <a:r>
              <a:rPr lang="ru-RU" sz="2000" dirty="0"/>
              <a:t>задача решаемая за полиномиальное время на детерминированной машине Тьюринга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NP</a:t>
            </a:r>
            <a:r>
              <a:rPr lang="en-US" sz="2000" dirty="0"/>
              <a:t> – </a:t>
            </a:r>
            <a:r>
              <a:rPr lang="ru-RU" sz="2000" dirty="0"/>
              <a:t>задача решаемая за полиномиальное время на недетерминированной машине Тьюринга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NP-</a:t>
            </a:r>
            <a:r>
              <a:rPr lang="ru-RU" sz="2000" b="1" dirty="0"/>
              <a:t>полная </a:t>
            </a:r>
            <a:r>
              <a:rPr lang="ru-RU" sz="2000" dirty="0"/>
              <a:t>– задача разрешимости, к которой можно свести любую другую задачу из класса </a:t>
            </a:r>
            <a:r>
              <a:rPr lang="en-US" sz="2000" dirty="0"/>
              <a:t>NP</a:t>
            </a: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NP</a:t>
            </a:r>
            <a:r>
              <a:rPr lang="ru-RU" sz="2000" b="1" dirty="0"/>
              <a:t>-трудная </a:t>
            </a:r>
            <a:r>
              <a:rPr lang="ru-RU" sz="2000" dirty="0"/>
              <a:t>-  задача, которая, как минимум, так же сложна, как любая задача из класса NP, но может быть не только задачей разрешимости, но и поиска или перебора решений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3EE8D0-D465-4406-BB12-43B289E73C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255"/>
          <a:stretch/>
        </p:blipFill>
        <p:spPr>
          <a:xfrm>
            <a:off x="5786206" y="1207238"/>
            <a:ext cx="2995656" cy="39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42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Рассмотренные фазовые переходы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FB45638E-EEA2-4BCD-96CC-0C6296555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42380"/>
              </p:ext>
            </p:extLst>
          </p:nvPr>
        </p:nvGraphicFramePr>
        <p:xfrm>
          <a:off x="876300" y="1473200"/>
          <a:ext cx="7391400" cy="4622801"/>
        </p:xfrm>
        <a:graphic>
          <a:graphicData uri="http://schemas.openxmlformats.org/drawingml/2006/table">
            <a:tbl>
              <a:tblPr firstRow="1" bandRow="1">
                <a:tableStyleId>{8893DE1C-1E29-4AD7-A6A6-37B49F56DD3D}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071547271"/>
                    </a:ext>
                  </a:extLst>
                </a:gridCol>
                <a:gridCol w="1557673">
                  <a:extLst>
                    <a:ext uri="{9D8B030D-6E8A-4147-A177-3AD203B41FA5}">
                      <a16:colId xmlns:a16="http://schemas.microsoft.com/office/drawing/2014/main" val="3129800027"/>
                    </a:ext>
                  </a:extLst>
                </a:gridCol>
                <a:gridCol w="3125507">
                  <a:extLst>
                    <a:ext uri="{9D8B030D-6E8A-4147-A177-3AD203B41FA5}">
                      <a16:colId xmlns:a16="http://schemas.microsoft.com/office/drawing/2014/main" val="1131173855"/>
                    </a:ext>
                  </a:extLst>
                </a:gridCol>
                <a:gridCol w="1717620">
                  <a:extLst>
                    <a:ext uri="{9D8B030D-6E8A-4147-A177-3AD203B41FA5}">
                      <a16:colId xmlns:a16="http://schemas.microsoft.com/office/drawing/2014/main" val="285516660"/>
                    </a:ext>
                  </a:extLst>
                </a:gridCol>
              </a:tblGrid>
              <a:tr h="745949">
                <a:tc>
                  <a:txBody>
                    <a:bodyPr/>
                    <a:lstStyle/>
                    <a:p>
                      <a:r>
                        <a:rPr lang="ru-RU" sz="2000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NP </a:t>
                      </a:r>
                      <a:r>
                        <a:rPr lang="ru-RU" sz="2000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Контрольный 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Поведение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686178"/>
                  </a:ext>
                </a:extLst>
              </a:tr>
              <a:tr h="10531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Трудная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Среднеквадратичное отклонение длин путей между городами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Легко – сложно - легко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026451"/>
                  </a:ext>
                </a:extLst>
              </a:tr>
              <a:tr h="10531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Полная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/>
                        <a:t>Зависимость от длины оптимального пути и количества городов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Легко - сложно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25847"/>
                  </a:ext>
                </a:extLst>
              </a:tr>
              <a:tr h="105310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Трудная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/>
                        <a:t>Кластеры городов в матрице весов на главной диагонали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Легко - сложно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91171"/>
                  </a:ext>
                </a:extLst>
              </a:tr>
              <a:tr h="7175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Трудная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/>
                        <a:t>Близость пути к центру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/>
                        <a:t>Легко - сложно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649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62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24935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Сравнение аналогов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A42D8-923D-49CF-845F-0BDF9CE429F0}"/>
              </a:ext>
            </a:extLst>
          </p:cNvPr>
          <p:cNvSpPr txBox="1"/>
          <p:nvPr/>
        </p:nvSpPr>
        <p:spPr>
          <a:xfrm>
            <a:off x="671542" y="916987"/>
            <a:ext cx="3206327" cy="2343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+mn-lt"/>
              </a:rPr>
              <a:t>Критерии: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000" dirty="0">
                <a:effectLst/>
                <a:latin typeface="+mn-lt"/>
                <a:ea typeface="Noto Serif CJK SC"/>
                <a:cs typeface="Lohit Devanagari"/>
              </a:rPr>
              <a:t>Решаемый тип задачи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000" dirty="0">
                <a:effectLst/>
                <a:latin typeface="+mn-lt"/>
                <a:ea typeface="Noto Serif CJK SC"/>
                <a:cs typeface="Lohit Devanagari"/>
              </a:rPr>
              <a:t>Применимые методы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000" dirty="0">
                <a:effectLst/>
                <a:latin typeface="+mn-lt"/>
                <a:ea typeface="Noto Serif CJK SC"/>
                <a:cs typeface="Lohit Devanagari"/>
              </a:rPr>
              <a:t>Ограничение данных</a:t>
            </a:r>
            <a:endParaRPr lang="ru-RU" sz="2000" dirty="0">
              <a:latin typeface="+mn-lt"/>
              <a:ea typeface="Noto Serif CJK SC"/>
              <a:cs typeface="Lohit Devanaga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000" dirty="0">
                <a:effectLst/>
                <a:latin typeface="+mn-lt"/>
                <a:ea typeface="Noto Serif CJK SC"/>
                <a:cs typeface="Lohit Devanagari"/>
              </a:rPr>
              <a:t>Масштабируемость</a:t>
            </a:r>
            <a:endParaRPr lang="ru-RU" sz="20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61721-54A3-4904-930C-839F6AF9CA1F}"/>
              </a:ext>
            </a:extLst>
          </p:cNvPr>
          <p:cNvSpPr txBox="1"/>
          <p:nvPr/>
        </p:nvSpPr>
        <p:spPr>
          <a:xfrm>
            <a:off x="654593" y="3212987"/>
            <a:ext cx="7817865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/>
              <a:t>Методы аналогов: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/>
              <a:t>Сообщества, Модульность, Средний коэффициент </a:t>
            </a:r>
            <a:r>
              <a:rPr lang="ru-RU" sz="2000" dirty="0" err="1"/>
              <a:t>класстеризации</a:t>
            </a:r>
            <a:r>
              <a:rPr lang="ru-RU" sz="2000" dirty="0"/>
              <a:t>, Плотность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/>
              <a:t>Линейная алгебра, Численные методы, Статистические вычисления, Кластеризация, Классификация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/>
              <a:t>Динамическое программирование, Ветвей и границ, Имитация отжига, Лин -</a:t>
            </a:r>
            <a:r>
              <a:rPr lang="ru-RU" sz="2000" dirty="0" err="1"/>
              <a:t>Керниган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72961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24935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Выбор метода решения. Архитектура 1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B8931E58-ED49-4665-B13C-0E4C05054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081903"/>
              </p:ext>
            </p:extLst>
          </p:nvPr>
        </p:nvGraphicFramePr>
        <p:xfrm>
          <a:off x="313765" y="2388158"/>
          <a:ext cx="8519636" cy="3505200"/>
        </p:xfrm>
        <a:graphic>
          <a:graphicData uri="http://schemas.openxmlformats.org/drawingml/2006/table">
            <a:tbl>
              <a:tblPr/>
              <a:tblGrid>
                <a:gridCol w="2483223">
                  <a:extLst>
                    <a:ext uri="{9D8B030D-6E8A-4147-A177-3AD203B41FA5}">
                      <a16:colId xmlns:a16="http://schemas.microsoft.com/office/drawing/2014/main" val="3863122936"/>
                    </a:ext>
                  </a:extLst>
                </a:gridCol>
                <a:gridCol w="3881718">
                  <a:extLst>
                    <a:ext uri="{9D8B030D-6E8A-4147-A177-3AD203B41FA5}">
                      <a16:colId xmlns:a16="http://schemas.microsoft.com/office/drawing/2014/main" val="482101226"/>
                    </a:ext>
                  </a:extLst>
                </a:gridCol>
                <a:gridCol w="2154695">
                  <a:extLst>
                    <a:ext uri="{9D8B030D-6E8A-4147-A177-3AD203B41FA5}">
                      <a16:colId xmlns:a16="http://schemas.microsoft.com/office/drawing/2014/main" val="166072493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ru-RU" sz="2000" b="1" dirty="0"/>
                        <a:t>Подход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Краткое 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Примеры использования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396548"/>
                  </a:ext>
                </a:extLst>
              </a:tr>
              <a:tr h="452718">
                <a:tc>
                  <a:txBody>
                    <a:bodyPr/>
                    <a:lstStyle/>
                    <a:p>
                      <a:r>
                        <a:rPr lang="en-US" sz="2000" b="0" dirty="0"/>
                        <a:t>Functional-based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Разделение по типу операций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scikit-learn, </a:t>
                      </a:r>
                      <a:r>
                        <a:rPr lang="en-US" sz="2000" dirty="0" err="1"/>
                        <a:t>numpy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27862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b="0" dirty="0"/>
                        <a:t>Feature-based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Разделение по сущностям или функциональным блокам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игровые движки, DS</a:t>
                      </a:r>
                      <a:r>
                        <a:rPr lang="en-US" sz="2000" dirty="0"/>
                        <a:t>L</a:t>
                      </a:r>
                      <a:endParaRPr lang="ru-RU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993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b="0" dirty="0"/>
                        <a:t>Layered (MVC-like)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Разделение на слои (модель, логика, UI)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веб-фреймворки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71737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b="0" dirty="0"/>
                        <a:t>Plugin-based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Расширение через внешние модули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pytest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Jupyter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278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723884E-8DB2-436B-A582-BAC384A2081A}"/>
              </a:ext>
            </a:extLst>
          </p:cNvPr>
          <p:cNvSpPr txBox="1"/>
          <p:nvPr/>
        </p:nvSpPr>
        <p:spPr>
          <a:xfrm>
            <a:off x="246201" y="1285360"/>
            <a:ext cx="85006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Модульная архитектура </a:t>
            </a:r>
            <a:r>
              <a:rPr lang="ru-RU" sz="2000" dirty="0"/>
              <a:t>— это архитектурный стиль, при котором система строится из независимых, изолированных модулей.</a:t>
            </a:r>
          </a:p>
        </p:txBody>
      </p:sp>
    </p:spTree>
    <p:extLst>
      <p:ext uri="{BB962C8B-B14F-4D97-AF65-F5344CB8AC3E}">
        <p14:creationId xmlns:p14="http://schemas.microsoft.com/office/powerpoint/2010/main" val="3297872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24935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Выбор метода решения. Архитектура 2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B991F-D534-4AB8-BBB4-541D0C75A7E4}"/>
              </a:ext>
            </a:extLst>
          </p:cNvPr>
          <p:cNvSpPr txBox="1"/>
          <p:nvPr/>
        </p:nvSpPr>
        <p:spPr>
          <a:xfrm>
            <a:off x="311700" y="1201082"/>
            <a:ext cx="8590253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Почему выбрана модульная (</a:t>
            </a:r>
            <a:r>
              <a:rPr lang="ru-RU" sz="2400" b="1" dirty="0" err="1"/>
              <a:t>feature-based</a:t>
            </a:r>
            <a:r>
              <a:rPr lang="ru-RU" sz="2400" b="1" dirty="0"/>
              <a:t>) архитектура: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ru-RU" sz="2400" dirty="0"/>
              <a:t>У проекта несколько независимых типов фазовых переходов, каждый с собственной логикой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ru-RU" sz="2400" dirty="0"/>
              <a:t>Удобно расширять новыми типами фазовых переходов без изменения существующего кода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ru-RU" sz="2400" dirty="0"/>
              <a:t>Возможность изолированного тестирования и отладки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ru-RU" sz="2400" dirty="0"/>
              <a:t>Легко ориентироваться при разработке и поддержке</a:t>
            </a:r>
          </a:p>
        </p:txBody>
      </p:sp>
    </p:spTree>
    <p:extLst>
      <p:ext uri="{BB962C8B-B14F-4D97-AF65-F5344CB8AC3E}">
        <p14:creationId xmlns:p14="http://schemas.microsoft.com/office/powerpoint/2010/main" val="72551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Условия проведения экспериментов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00D0E-39E6-475B-9336-C6DEC3BCB968}"/>
              </a:ext>
            </a:extLst>
          </p:cNvPr>
          <p:cNvSpPr txBox="1"/>
          <p:nvPr/>
        </p:nvSpPr>
        <p:spPr>
          <a:xfrm>
            <a:off x="3249097" y="1624132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Характеристики системы: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7AD1C-C378-465E-ABCF-94A08C7CFC22}"/>
              </a:ext>
            </a:extLst>
          </p:cNvPr>
          <p:cNvSpPr txBox="1"/>
          <p:nvPr/>
        </p:nvSpPr>
        <p:spPr>
          <a:xfrm>
            <a:off x="3098414" y="4631679"/>
            <a:ext cx="4163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Параметры экспериментов: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E271F-C05E-443D-967C-A611E3F2C8F9}"/>
              </a:ext>
            </a:extLst>
          </p:cNvPr>
          <p:cNvSpPr txBox="1"/>
          <p:nvPr/>
        </p:nvSpPr>
        <p:spPr>
          <a:xfrm>
            <a:off x="2994743" y="2226321"/>
            <a:ext cx="4000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CPU: </a:t>
            </a:r>
            <a:r>
              <a:rPr lang="en-US" sz="2400" dirty="0"/>
              <a:t>AMD </a:t>
            </a:r>
            <a:r>
              <a:rPr lang="en-US" sz="2400" dirty="0" err="1"/>
              <a:t>Razen</a:t>
            </a:r>
            <a:r>
              <a:rPr lang="en-US" sz="2400" dirty="0"/>
              <a:t> 5 (3.7 </a:t>
            </a:r>
            <a:r>
              <a:rPr lang="ru-RU" sz="2400" dirty="0"/>
              <a:t>МГц</a:t>
            </a:r>
            <a:r>
              <a:rPr lang="en-US" sz="2400" dirty="0"/>
              <a:t>)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SSD: </a:t>
            </a:r>
            <a:r>
              <a:rPr lang="en-US" sz="2400" dirty="0"/>
              <a:t>512</a:t>
            </a:r>
            <a:r>
              <a:rPr lang="ru-RU" sz="2400" dirty="0"/>
              <a:t> Гб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RAM: </a:t>
            </a:r>
            <a:r>
              <a:rPr lang="en-US" sz="2400" dirty="0"/>
              <a:t>16 </a:t>
            </a:r>
            <a:r>
              <a:rPr lang="ru-RU" sz="2400" dirty="0"/>
              <a:t>Гб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ОС: </a:t>
            </a:r>
            <a:r>
              <a:rPr lang="en-US" sz="2400" dirty="0"/>
              <a:t>Windows 11 (64-bit)</a:t>
            </a:r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559DC-BDF8-4D46-AD01-062596E1A74F}"/>
              </a:ext>
            </a:extLst>
          </p:cNvPr>
          <p:cNvSpPr txBox="1"/>
          <p:nvPr/>
        </p:nvSpPr>
        <p:spPr>
          <a:xfrm>
            <a:off x="3098414" y="5386625"/>
            <a:ext cx="400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Кол-во запусков</a:t>
            </a:r>
            <a:r>
              <a:rPr lang="en-US" sz="2400" b="1" dirty="0"/>
              <a:t>: </a:t>
            </a:r>
            <a:r>
              <a:rPr lang="ru-RU" sz="2400" dirty="0"/>
              <a:t>1000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Статистика</a:t>
            </a:r>
            <a:r>
              <a:rPr lang="en-US" sz="2400" b="1" dirty="0"/>
              <a:t>: </a:t>
            </a:r>
            <a:r>
              <a:rPr lang="ru-RU" sz="2400" dirty="0"/>
              <a:t>среднее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41C3D1-1488-465C-8151-7DA05E26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25" y="1434284"/>
            <a:ext cx="1878870" cy="18788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7861E7-196D-49A3-8D1A-342E35A31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23" y="4711614"/>
            <a:ext cx="1350021" cy="135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29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235535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Генерация радиально-кластерного фазового перехода 1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2E271F-C05E-443D-967C-A611E3F2C8F9}"/>
                  </a:ext>
                </a:extLst>
              </p:cNvPr>
              <p:cNvSpPr txBox="1"/>
              <p:nvPr/>
            </p:nvSpPr>
            <p:spPr>
              <a:xfrm>
                <a:off x="311700" y="2261297"/>
                <a:ext cx="5319657" cy="2267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000" dirty="0">
                    <a:latin typeface="+mn-lt"/>
                  </a:rPr>
                  <a:t>Значения внутри кластеров генерируются с нормальным распределением по следующему правилу:</a:t>
                </a:r>
              </a:p>
              <a:p>
                <a:pPr marL="457200" indent="-457200" algn="just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+mn-lt"/>
                  </a:rPr>
                  <a:t>-  среднее = 𝑚 (𝑚&gt;0), максимальное отклонение = 𝑑 (0 ≤ 𝑑 &lt; 𝑚).</a:t>
                </a:r>
              </a:p>
              <a:p>
                <a:pPr marL="457200" indent="-457200" algn="just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+mn-lt"/>
                  </a:rPr>
                  <a:t>- среднее =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d>
                          <m:dPr>
                            <m:ctrlPr>
                              <a:rPr lang="ru-RU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00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ru-RU" sz="2000" dirty="0">
                    <a:latin typeface="+mn-lt"/>
                  </a:rPr>
                  <a:t>(𝑖=2,…,𝑟), максимальное отклонение = 𝑑.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2E271F-C05E-443D-967C-A611E3F2C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2261297"/>
                <a:ext cx="5319657" cy="2267672"/>
              </a:xfrm>
              <a:prstGeom prst="rect">
                <a:avLst/>
              </a:prstGeom>
              <a:blipFill>
                <a:blip r:embed="rId3"/>
                <a:stretch>
                  <a:fillRect l="-1145" t="-1344" r="-1145" b="-40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7BF1415-0E80-4EED-B4CF-BDCC3F278A4E}"/>
              </a:ext>
            </a:extLst>
          </p:cNvPr>
          <p:cNvSpPr txBox="1"/>
          <p:nvPr/>
        </p:nvSpPr>
        <p:spPr>
          <a:xfrm>
            <a:off x="4981270" y="4716868"/>
            <a:ext cx="3851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9 - Пример </a:t>
            </a:r>
          </a:p>
          <a:p>
            <a:pPr algn="ctr"/>
            <a:r>
              <a:rPr lang="ru-RU" sz="2000" dirty="0"/>
              <a:t>топологии матрицы весов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1C6287-D4CA-4561-8CE0-3DE54F95C2C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357" y="2262730"/>
            <a:ext cx="2550856" cy="233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50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235535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Генерация радиально-кластерного фазового перехода 2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F1415-0E80-4EED-B4CF-BDCC3F278A4E}"/>
              </a:ext>
            </a:extLst>
          </p:cNvPr>
          <p:cNvSpPr txBox="1"/>
          <p:nvPr/>
        </p:nvSpPr>
        <p:spPr>
          <a:xfrm>
            <a:off x="122842" y="5576097"/>
            <a:ext cx="3851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10 - Пример </a:t>
            </a:r>
          </a:p>
          <a:p>
            <a:pPr algn="ctr"/>
            <a:r>
              <a:rPr lang="ru-RU" sz="2000" dirty="0"/>
              <a:t>визуализации матрицы весов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099FF-0044-410E-99C3-C587774C82AA}"/>
              </a:ext>
            </a:extLst>
          </p:cNvPr>
          <p:cNvSpPr txBox="1"/>
          <p:nvPr/>
        </p:nvSpPr>
        <p:spPr>
          <a:xfrm>
            <a:off x="4306222" y="5576097"/>
            <a:ext cx="4579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11 - Пример визуализации</a:t>
            </a:r>
          </a:p>
          <a:p>
            <a:pPr algn="ctr"/>
            <a:r>
              <a:rPr lang="ru-RU" sz="2000" dirty="0"/>
              <a:t> нормализованной матрицы весов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0A181B2-7C84-4396-B271-CC766960D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746" y="1400215"/>
            <a:ext cx="4461554" cy="372698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856392C-EF59-453E-8F84-26AF8AA3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9" y="1400214"/>
            <a:ext cx="4174220" cy="37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34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Радиально-кластерный фазовый переход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0F027F-56F8-46F0-84AE-7BAB627A4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238"/>
            <a:ext cx="7594863" cy="4594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0A5D2A-F88C-4ABC-8AF7-2A7768EC0FF0}"/>
              </a:ext>
            </a:extLst>
          </p:cNvPr>
          <p:cNvSpPr txBox="1"/>
          <p:nvPr/>
        </p:nvSpPr>
        <p:spPr>
          <a:xfrm>
            <a:off x="1123294" y="5782637"/>
            <a:ext cx="7433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12 - Зависимость фазового перехода для 3, 4 и 6 кластеров равного размера от коэффициента k</a:t>
            </a:r>
          </a:p>
        </p:txBody>
      </p:sp>
    </p:spTree>
    <p:extLst>
      <p:ext uri="{BB962C8B-B14F-4D97-AF65-F5344CB8AC3E}">
        <p14:creationId xmlns:p14="http://schemas.microsoft.com/office/powerpoint/2010/main" val="972080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Генерация </a:t>
            </a:r>
            <a:r>
              <a:rPr lang="ru-RU" dirty="0" err="1"/>
              <a:t>кластерно-кратностного</a:t>
            </a:r>
            <a:r>
              <a:rPr lang="ru-RU" dirty="0"/>
              <a:t> фазового перехода 1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E271F-C05E-443D-967C-A611E3F2C8F9}"/>
              </a:ext>
            </a:extLst>
          </p:cNvPr>
          <p:cNvSpPr txBox="1"/>
          <p:nvPr/>
        </p:nvSpPr>
        <p:spPr>
          <a:xfrm>
            <a:off x="311700" y="1842462"/>
            <a:ext cx="39286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/>
              <a:buAutoNum type="arabicPeriod"/>
            </a:pPr>
            <a:r>
              <a:rPr lang="ru-RU" sz="2000" dirty="0"/>
              <a:t>Центры кластеров генерируются с нормальным распределением внутри квадрата с заданной стороной</a:t>
            </a:r>
          </a:p>
          <a:p>
            <a:pPr marL="457200" indent="-457200" algn="just">
              <a:buAutoNum type="arabicPeriod"/>
            </a:pPr>
            <a:r>
              <a:rPr lang="ru-RU" sz="2000" dirty="0"/>
              <a:t>Значения внутри кластеров генерируются с нормальным распределением внутри окружности заданного радиуса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54485-C35D-4B5A-BFDF-948C1DBA6DFB}"/>
              </a:ext>
            </a:extLst>
          </p:cNvPr>
          <p:cNvSpPr txBox="1"/>
          <p:nvPr/>
        </p:nvSpPr>
        <p:spPr>
          <a:xfrm>
            <a:off x="4252464" y="5772086"/>
            <a:ext cx="4579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13 - Пример визуализации кластеров городов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A4C123-9D03-4189-A0F1-D029D2A7A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612" y="1458682"/>
            <a:ext cx="4383540" cy="431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36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Генерация </a:t>
            </a:r>
            <a:r>
              <a:rPr lang="ru-RU" dirty="0" err="1"/>
              <a:t>кластерно-кратностного</a:t>
            </a:r>
            <a:r>
              <a:rPr lang="ru-RU" dirty="0"/>
              <a:t> фазового перехода 2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0D1E1-098C-4116-AA12-AEBC3EDD6660}"/>
              </a:ext>
            </a:extLst>
          </p:cNvPr>
          <p:cNvSpPr txBox="1"/>
          <p:nvPr/>
        </p:nvSpPr>
        <p:spPr>
          <a:xfrm>
            <a:off x="229093" y="5547715"/>
            <a:ext cx="42156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14 – Пример визуализации матрицы весов</a:t>
            </a:r>
            <a:endParaRPr lang="en-US" sz="2000" dirty="0"/>
          </a:p>
          <a:p>
            <a:pPr algn="ctr"/>
            <a:r>
              <a:rPr lang="ru-RU" sz="2000" dirty="0"/>
              <a:t>отсортированной по кластерам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C8102-4C8C-4C61-BB6C-AAB3BFB299FE}"/>
              </a:ext>
            </a:extLst>
          </p:cNvPr>
          <p:cNvSpPr txBox="1"/>
          <p:nvPr/>
        </p:nvSpPr>
        <p:spPr>
          <a:xfrm>
            <a:off x="4335071" y="5547715"/>
            <a:ext cx="4579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15 - Пример визуализации</a:t>
            </a:r>
          </a:p>
          <a:p>
            <a:pPr algn="ctr"/>
            <a:r>
              <a:rPr lang="ru-RU" sz="2000" dirty="0"/>
              <a:t>матрицы весов с перемешанными городами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5D87B19-A514-4EA0-B9C3-1BFBBD1CF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358" y="1669009"/>
            <a:ext cx="4444903" cy="368292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A2B0B79-2FFD-4020-AB89-EC91CAC4DF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44"/>
          <a:stretch/>
        </p:blipFill>
        <p:spPr>
          <a:xfrm>
            <a:off x="229093" y="1669009"/>
            <a:ext cx="4468645" cy="368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25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67531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Кластерно-кратностный</a:t>
            </a:r>
            <a:r>
              <a:rPr lang="ru-RU" dirty="0"/>
              <a:t> фазовый переход 1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A5D2A-F88C-4ABC-8AF7-2A7768EC0FF0}"/>
              </a:ext>
            </a:extLst>
          </p:cNvPr>
          <p:cNvSpPr txBox="1"/>
          <p:nvPr/>
        </p:nvSpPr>
        <p:spPr>
          <a:xfrm>
            <a:off x="1123294" y="5782637"/>
            <a:ext cx="7433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16 - Зависимость фазового перехода от количества кластеров (m) для 10 и 12 городов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0534E0-92BF-4FE8-920E-179B2293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75" y="1238678"/>
            <a:ext cx="6328466" cy="438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96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41386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Кластерно-кратностный</a:t>
            </a:r>
            <a:r>
              <a:rPr lang="ru-RU" dirty="0"/>
              <a:t> фазовый переход 2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A5D2A-F88C-4ABC-8AF7-2A7768EC0FF0}"/>
              </a:ext>
            </a:extLst>
          </p:cNvPr>
          <p:cNvSpPr txBox="1"/>
          <p:nvPr/>
        </p:nvSpPr>
        <p:spPr>
          <a:xfrm>
            <a:off x="1039271" y="6008728"/>
            <a:ext cx="7433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17 - Зависимость фазового перехода от расстояния между кластерами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CA7B8D-EB13-4970-9AE0-1EB3A74E6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362" y="795255"/>
            <a:ext cx="5458063" cy="526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95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47172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Кластерно-кратностный</a:t>
            </a:r>
            <a:r>
              <a:rPr lang="ru-RU" dirty="0"/>
              <a:t> фазовый переход 3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A5D2A-F88C-4ABC-8AF7-2A7768EC0FF0}"/>
              </a:ext>
            </a:extLst>
          </p:cNvPr>
          <p:cNvSpPr txBox="1"/>
          <p:nvPr/>
        </p:nvSpPr>
        <p:spPr>
          <a:xfrm>
            <a:off x="598559" y="5871120"/>
            <a:ext cx="7946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18 - Зависимость фазового перехода от распределения городов по кластерам для матрицы весов 12 на 12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0534E0-92BF-4FE8-920E-179B2293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75" y="1238678"/>
            <a:ext cx="6328466" cy="438064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EA7414-8F41-4F79-B793-9D99AB728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99" y="1009312"/>
            <a:ext cx="7688213" cy="494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86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47172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Преобразование матрицы весов в матрицу признаков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552533-FDB5-4DC6-955B-8548B8DF4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03" y="1958867"/>
            <a:ext cx="7654791" cy="25156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9A9A51-FC08-47F6-8D01-6DBF65831A15}"/>
              </a:ext>
            </a:extLst>
          </p:cNvPr>
          <p:cNvSpPr txBox="1"/>
          <p:nvPr/>
        </p:nvSpPr>
        <p:spPr>
          <a:xfrm>
            <a:off x="705603" y="4474487"/>
            <a:ext cx="79468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Рисунок 19 - Преобразование матрицы весов в матрицу признаков</a:t>
            </a:r>
            <a:r>
              <a:rPr lang="en-US" sz="2000" dirty="0"/>
              <a:t> </a:t>
            </a:r>
            <a:r>
              <a:rPr lang="ru-RU" sz="2000" dirty="0"/>
              <a:t>добавлением ребер входящих в узел и удалением ребра самого в себя</a:t>
            </a:r>
          </a:p>
        </p:txBody>
      </p:sp>
    </p:spTree>
    <p:extLst>
      <p:ext uri="{BB962C8B-B14F-4D97-AF65-F5344CB8AC3E}">
        <p14:creationId xmlns:p14="http://schemas.microsoft.com/office/powerpoint/2010/main" val="3136685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34069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Понижение размерности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00D0E-39E6-475B-9336-C6DEC3BCB968}"/>
              </a:ext>
            </a:extLst>
          </p:cNvPr>
          <p:cNvSpPr txBox="1"/>
          <p:nvPr/>
        </p:nvSpPr>
        <p:spPr>
          <a:xfrm>
            <a:off x="347026" y="997293"/>
            <a:ext cx="81254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Цель:</a:t>
            </a:r>
          </a:p>
          <a:p>
            <a:pPr marL="457200" indent="-457200">
              <a:buAutoNum type="arabicPeriod"/>
            </a:pPr>
            <a:r>
              <a:rPr lang="ru-RU" sz="2000" dirty="0"/>
              <a:t>Упрощение визуализации</a:t>
            </a:r>
          </a:p>
          <a:p>
            <a:pPr marL="457200" indent="-457200">
              <a:buAutoNum type="arabicPeriod"/>
            </a:pPr>
            <a:r>
              <a:rPr lang="ru-RU" sz="2000" dirty="0"/>
              <a:t>Ускорение вычислений</a:t>
            </a:r>
          </a:p>
          <a:p>
            <a:pPr marL="457200" indent="-457200">
              <a:buAutoNum type="arabicPeriod"/>
            </a:pPr>
            <a:r>
              <a:rPr lang="ru-RU" sz="2000" dirty="0"/>
              <a:t>Удаление шума и избыточных признаков</a:t>
            </a:r>
          </a:p>
          <a:p>
            <a:pPr marL="457200" indent="-457200">
              <a:buAutoNum type="arabicPeriod"/>
            </a:pPr>
            <a:r>
              <a:rPr lang="ru-RU" sz="2000" dirty="0"/>
              <a:t>Выявление скрытой структуры данных</a:t>
            </a:r>
            <a:endParaRPr lang="ru-R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3">
                <a:extLst>
                  <a:ext uri="{FF2B5EF4-FFF2-40B4-BE49-F238E27FC236}">
                    <a16:creationId xmlns:a16="http://schemas.microsoft.com/office/drawing/2014/main" id="{707925B1-C660-4957-AE08-F650D01C7D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341908"/>
                  </p:ext>
                </p:extLst>
              </p:nvPr>
            </p:nvGraphicFramePr>
            <p:xfrm>
              <a:off x="595259" y="2746973"/>
              <a:ext cx="7628965" cy="3632774"/>
            </p:xfrm>
            <a:graphic>
              <a:graphicData uri="http://schemas.openxmlformats.org/drawingml/2006/table">
                <a:tbl>
                  <a:tblPr firstRow="1" bandRow="1">
                    <a:tableStyleId>{8893DE1C-1E29-4AD7-A6A6-37B49F56DD3D}</a:tableStyleId>
                  </a:tblPr>
                  <a:tblGrid>
                    <a:gridCol w="1696885">
                      <a:extLst>
                        <a:ext uri="{9D8B030D-6E8A-4147-A177-3AD203B41FA5}">
                          <a16:colId xmlns:a16="http://schemas.microsoft.com/office/drawing/2014/main" val="497100516"/>
                        </a:ext>
                      </a:extLst>
                    </a:gridCol>
                    <a:gridCol w="2117598">
                      <a:extLst>
                        <a:ext uri="{9D8B030D-6E8A-4147-A177-3AD203B41FA5}">
                          <a16:colId xmlns:a16="http://schemas.microsoft.com/office/drawing/2014/main" val="2789848727"/>
                        </a:ext>
                      </a:extLst>
                    </a:gridCol>
                    <a:gridCol w="1907241">
                      <a:extLst>
                        <a:ext uri="{9D8B030D-6E8A-4147-A177-3AD203B41FA5}">
                          <a16:colId xmlns:a16="http://schemas.microsoft.com/office/drawing/2014/main" val="366326734"/>
                        </a:ext>
                      </a:extLst>
                    </a:gridCol>
                    <a:gridCol w="1907241">
                      <a:extLst>
                        <a:ext uri="{9D8B030D-6E8A-4147-A177-3AD203B41FA5}">
                          <a16:colId xmlns:a16="http://schemas.microsoft.com/office/drawing/2014/main" val="3348980913"/>
                        </a:ext>
                      </a:extLst>
                    </a:gridCol>
                  </a:tblGrid>
                  <a:tr h="578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Метод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Тип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Время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Сохранение структуры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4305"/>
                      </a:ext>
                    </a:extLst>
                  </a:tr>
                  <a:tr h="4143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PCA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latin typeface="+mn-lt"/>
                            </a:rPr>
                            <a:t>)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Глобальная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5022842"/>
                      </a:ext>
                    </a:extLst>
                  </a:tr>
                  <a:tr h="4143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t-SNE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latin typeface="+mn-lt"/>
                            </a:rPr>
                            <a:t>)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Локальная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9187120"/>
                      </a:ext>
                    </a:extLst>
                  </a:tr>
                  <a:tr h="578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UMAP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)</a:t>
                          </a:r>
                          <a:endParaRPr lang="ru-RU" sz="2000" b="0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  <a:p>
                          <a:pPr algn="ctr"/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Локальная + Глобальная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8568772"/>
                      </a:ext>
                    </a:extLst>
                  </a:tr>
                  <a:tr h="578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MDS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Линейный + 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)</a:t>
                          </a:r>
                          <a:endParaRPr lang="ru-RU" sz="2000" b="0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  <a:p>
                          <a:pPr algn="ctr"/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Глобальная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108605"/>
                      </a:ext>
                    </a:extLst>
                  </a:tr>
                  <a:tr h="4143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+mn-lt"/>
                            </a:rPr>
                            <a:t>Isomap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)</a:t>
                          </a:r>
                          <a:endParaRPr lang="ru-RU" sz="2000" b="0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  <a:p>
                          <a:pPr algn="ctr"/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Глобальная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6878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3">
                <a:extLst>
                  <a:ext uri="{FF2B5EF4-FFF2-40B4-BE49-F238E27FC236}">
                    <a16:creationId xmlns:a16="http://schemas.microsoft.com/office/drawing/2014/main" id="{707925B1-C660-4957-AE08-F650D01C7D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341908"/>
                  </p:ext>
                </p:extLst>
              </p:nvPr>
            </p:nvGraphicFramePr>
            <p:xfrm>
              <a:off x="595259" y="2746973"/>
              <a:ext cx="7628965" cy="3632774"/>
            </p:xfrm>
            <a:graphic>
              <a:graphicData uri="http://schemas.openxmlformats.org/drawingml/2006/table">
                <a:tbl>
                  <a:tblPr firstRow="1" bandRow="1">
                    <a:tableStyleId>{8893DE1C-1E29-4AD7-A6A6-37B49F56DD3D}</a:tableStyleId>
                  </a:tblPr>
                  <a:tblGrid>
                    <a:gridCol w="1696885">
                      <a:extLst>
                        <a:ext uri="{9D8B030D-6E8A-4147-A177-3AD203B41FA5}">
                          <a16:colId xmlns:a16="http://schemas.microsoft.com/office/drawing/2014/main" val="497100516"/>
                        </a:ext>
                      </a:extLst>
                    </a:gridCol>
                    <a:gridCol w="2117598">
                      <a:extLst>
                        <a:ext uri="{9D8B030D-6E8A-4147-A177-3AD203B41FA5}">
                          <a16:colId xmlns:a16="http://schemas.microsoft.com/office/drawing/2014/main" val="2789848727"/>
                        </a:ext>
                      </a:extLst>
                    </a:gridCol>
                    <a:gridCol w="1907241">
                      <a:extLst>
                        <a:ext uri="{9D8B030D-6E8A-4147-A177-3AD203B41FA5}">
                          <a16:colId xmlns:a16="http://schemas.microsoft.com/office/drawing/2014/main" val="366326734"/>
                        </a:ext>
                      </a:extLst>
                    </a:gridCol>
                    <a:gridCol w="1907241">
                      <a:extLst>
                        <a:ext uri="{9D8B030D-6E8A-4147-A177-3AD203B41FA5}">
                          <a16:colId xmlns:a16="http://schemas.microsoft.com/office/drawing/2014/main" val="3348980913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Метод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Тип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Время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1" dirty="0">
                              <a:latin typeface="+mn-lt"/>
                            </a:rPr>
                            <a:t>Сохранение структуры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4305"/>
                      </a:ext>
                    </a:extLst>
                  </a:tr>
                  <a:tr h="4143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PCA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639" t="-175000" r="-100319" b="-6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Глобальная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5022842"/>
                      </a:ext>
                    </a:extLst>
                  </a:tr>
                  <a:tr h="4143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t-SNE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639" t="-275000" r="-100319" b="-5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Локальная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918712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UMAP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639" t="-219828" r="-1003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Локальная + Глобальная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856877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n-lt"/>
                            </a:rPr>
                            <a:t>MDS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Линейный + 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639" t="-322609" r="-100319" b="-1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Глобальная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1086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+mn-lt"/>
                            </a:rPr>
                            <a:t>Isomap</a:t>
                          </a:r>
                          <a:endParaRPr lang="ru-RU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Нелинейный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639" t="-422609" r="-100319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latin typeface="+mn-lt"/>
                            </a:rPr>
                            <a:t>Глобальная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68785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5201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34069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Кластеризация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00D0E-39E6-475B-9336-C6DEC3BCB968}"/>
              </a:ext>
            </a:extLst>
          </p:cNvPr>
          <p:cNvSpPr txBox="1"/>
          <p:nvPr/>
        </p:nvSpPr>
        <p:spPr>
          <a:xfrm>
            <a:off x="382074" y="1176244"/>
            <a:ext cx="83798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Цель: </a:t>
            </a:r>
            <a:r>
              <a:rPr lang="ru-RU" sz="2000" dirty="0"/>
              <a:t>сгруппировать множество объектов на подмножества (кластеры) таким образом, чтобы объекты из одного кластера были более похожи друг на друга, чем на объекты из других кластеров по какому-либо критерию.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7729AA-90F7-4BFD-8DF2-BEBC24ED9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021" y="2282545"/>
            <a:ext cx="3377905" cy="3338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EC27C7-E829-449E-84E1-83AE48892E24}"/>
              </a:ext>
            </a:extLst>
          </p:cNvPr>
          <p:cNvSpPr txBox="1"/>
          <p:nvPr/>
        </p:nvSpPr>
        <p:spPr>
          <a:xfrm>
            <a:off x="5014933" y="5804663"/>
            <a:ext cx="4006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Рисунок 20 – Пример кластеров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FE084-5E11-4596-81D1-9A974F419DDC}"/>
              </a:ext>
            </a:extLst>
          </p:cNvPr>
          <p:cNvSpPr txBox="1"/>
          <p:nvPr/>
        </p:nvSpPr>
        <p:spPr>
          <a:xfrm>
            <a:off x="382074" y="2937156"/>
            <a:ext cx="4817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Рассмотренные методы:</a:t>
            </a:r>
          </a:p>
          <a:p>
            <a:pPr marL="457200" indent="-457200">
              <a:buAutoNum type="arabicPeriod"/>
            </a:pPr>
            <a:r>
              <a:rPr lang="en-US" sz="2000" dirty="0"/>
              <a:t>K-means</a:t>
            </a:r>
          </a:p>
          <a:p>
            <a:pPr marL="457200" indent="-457200">
              <a:buAutoNum type="arabicPeriod"/>
            </a:pPr>
            <a:r>
              <a:rPr lang="en-US" sz="2000" dirty="0"/>
              <a:t>Agglomerative clustering</a:t>
            </a:r>
          </a:p>
          <a:p>
            <a:pPr marL="457200" indent="-457200">
              <a:buAutoNum type="arabicPeriod"/>
            </a:pPr>
            <a:r>
              <a:rPr lang="en-US" sz="2000" dirty="0"/>
              <a:t>DBSCAN</a:t>
            </a:r>
          </a:p>
          <a:p>
            <a:pPr marL="457200" indent="-457200">
              <a:buAutoNum type="arabicPeriod"/>
            </a:pPr>
            <a:r>
              <a:rPr lang="en-US" sz="2000" dirty="0"/>
              <a:t>OPTICS</a:t>
            </a:r>
          </a:p>
          <a:p>
            <a:pPr marL="457200" indent="-457200">
              <a:buAutoNum type="arabicPeriod"/>
            </a:pPr>
            <a:r>
              <a:rPr lang="en-US" sz="2000" dirty="0"/>
              <a:t>HDBSCAN</a:t>
            </a:r>
          </a:p>
          <a:p>
            <a:pPr marL="457200" indent="-457200">
              <a:buFont typeface="Arial"/>
              <a:buAutoNum type="arabicPeriod"/>
            </a:pPr>
            <a:r>
              <a:rPr lang="en-US" sz="2000" dirty="0"/>
              <a:t>Gaussian Mixture Model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84591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34069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Кластеризация. </a:t>
            </a:r>
            <a:r>
              <a:rPr lang="en-US" dirty="0"/>
              <a:t>K</a:t>
            </a:r>
            <a:r>
              <a:rPr lang="ru-RU" dirty="0"/>
              <a:t>-средних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00D0E-39E6-475B-9336-C6DEC3BCB968}"/>
              </a:ext>
            </a:extLst>
          </p:cNvPr>
          <p:cNvSpPr txBox="1"/>
          <p:nvPr/>
        </p:nvSpPr>
        <p:spPr>
          <a:xfrm>
            <a:off x="382074" y="1022356"/>
            <a:ext cx="8379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Цель: </a:t>
            </a:r>
            <a:r>
              <a:rPr lang="ru-RU" sz="2000" dirty="0"/>
              <a:t>разделить данные на K кластеров, минимизируя </a:t>
            </a:r>
            <a:r>
              <a:rPr lang="ru-RU" sz="2000" dirty="0" err="1"/>
              <a:t>внутрикластерное</a:t>
            </a:r>
            <a:r>
              <a:rPr lang="ru-RU" sz="2000" dirty="0"/>
              <a:t> расстояние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FE084-5E11-4596-81D1-9A974F419DDC}"/>
              </a:ext>
            </a:extLst>
          </p:cNvPr>
          <p:cNvSpPr txBox="1"/>
          <p:nvPr/>
        </p:nvSpPr>
        <p:spPr>
          <a:xfrm>
            <a:off x="382074" y="1918536"/>
            <a:ext cx="81407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Алгоритм: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Инициализация: случайный выбор K </a:t>
            </a:r>
            <a:r>
              <a:rPr lang="ru-RU" sz="2000" dirty="0" err="1"/>
              <a:t>центроидов</a:t>
            </a:r>
            <a:r>
              <a:rPr lang="ru-RU" sz="2000" dirty="0"/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Присвоение: каждая точка данных относится к ближайшему </a:t>
            </a:r>
            <a:r>
              <a:rPr lang="ru-RU" sz="2000" dirty="0" err="1"/>
              <a:t>центроиду</a:t>
            </a:r>
            <a:endParaRPr lang="ru-RU" sz="2000" dirty="0"/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Обновление: пересчитываются центры кластеров как среднее всех точек в них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Повторение: шаги 2 и 3 повторяются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2DED2C-EF31-40A3-AB60-A6E42260317B}"/>
                  </a:ext>
                </a:extLst>
              </p:cNvPr>
              <p:cNvSpPr txBox="1"/>
              <p:nvPr/>
            </p:nvSpPr>
            <p:spPr>
              <a:xfrm>
                <a:off x="382074" y="4353599"/>
                <a:ext cx="499675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b="1" dirty="0"/>
                  <a:t>Временная сложность: </a:t>
                </a:r>
                <a:r>
                  <a:rPr lang="ru-RU" sz="2000" dirty="0"/>
                  <a:t>O(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2000" dirty="0"/>
                  <a:t>))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n — количество точек данных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k — число кластеров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i — количество итераций до сходимости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d — размерность пространства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2DED2C-EF31-40A3-AB60-A6E422603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4" y="4353599"/>
                <a:ext cx="4996750" cy="1938992"/>
              </a:xfrm>
              <a:prstGeom prst="rect">
                <a:avLst/>
              </a:prstGeom>
              <a:blipFill>
                <a:blip r:embed="rId3"/>
                <a:stretch>
                  <a:fillRect l="-1343" t="-1258" b="-50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777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34069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Оценка кластеризации. Коэффициент силуэта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00D0E-39E6-475B-9336-C6DEC3BCB968}"/>
              </a:ext>
            </a:extLst>
          </p:cNvPr>
          <p:cNvSpPr txBox="1"/>
          <p:nvPr/>
        </p:nvSpPr>
        <p:spPr>
          <a:xfrm>
            <a:off x="382074" y="1022356"/>
            <a:ext cx="8379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Цель: </a:t>
            </a:r>
            <a:r>
              <a:rPr lang="ru-RU" sz="2000" dirty="0"/>
              <a:t>оценить, насколько хорошо объект (точка) вписан в свой кластер и насколько он отделён от других кластеров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8FE084-5E11-4596-81D1-9A974F419DDC}"/>
                  </a:ext>
                </a:extLst>
              </p:cNvPr>
              <p:cNvSpPr txBox="1"/>
              <p:nvPr/>
            </p:nvSpPr>
            <p:spPr>
              <a:xfrm>
                <a:off x="382074" y="1826830"/>
                <a:ext cx="8140762" cy="3379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Формула: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num>
                      <m:den>
                        <m:func>
                          <m:func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sz="2000" dirty="0" err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ru-RU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ru-RU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200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ru-RU" sz="2000"/>
                      <m:t>∈</m:t>
                    </m:r>
                    <m:r>
                      <m:rPr>
                        <m:nor/>
                      </m:rPr>
                      <a:rPr lang="en-US" sz="2000" b="0" i="0" smtClean="0"/>
                      <m:t>[−1, 1]</m:t>
                    </m:r>
                  </m:oMath>
                </a14:m>
                <a:endParaRPr lang="en-US" sz="2000" dirty="0"/>
              </a:p>
              <a:p>
                <a:pPr algn="just"/>
                <a:r>
                  <a:rPr lang="ru-RU" sz="2000" dirty="0"/>
                  <a:t>где a(i) - среднее расстояние до всех точек в своём кластере (</a:t>
                </a:r>
                <a:r>
                  <a:rPr lang="ru-RU" sz="2000" dirty="0" err="1"/>
                  <a:t>внутрикластерное</a:t>
                </a:r>
                <a:r>
                  <a:rPr lang="ru-RU" sz="2000" dirty="0"/>
                  <a:t> расстояние),</a:t>
                </a:r>
                <a:endParaRPr lang="en-US" sz="2000" dirty="0"/>
              </a:p>
              <a:p>
                <a:pPr algn="just"/>
                <a:r>
                  <a:rPr lang="ru-RU" sz="2000" dirty="0"/>
                  <a:t>b(i)- минимальное среднее расстояние до точек в других кластерах (</a:t>
                </a:r>
                <a:r>
                  <a:rPr lang="ru-RU" sz="2000" dirty="0" err="1"/>
                  <a:t>межкластерное</a:t>
                </a:r>
                <a:r>
                  <a:rPr lang="ru-RU" sz="2000" dirty="0"/>
                  <a:t> расстояние)</a:t>
                </a:r>
                <a:endParaRPr lang="en-US" sz="2000" dirty="0"/>
              </a:p>
              <a:p>
                <a:endParaRPr lang="en-US" sz="2000" dirty="0"/>
              </a:p>
              <a:p>
                <a:r>
                  <a:rPr lang="ru-RU" sz="2000" b="1" dirty="0"/>
                  <a:t>Значение:</a:t>
                </a:r>
              </a:p>
              <a:p>
                <a:pPr marL="457200" indent="-457200">
                  <a:buAutoNum type="arabicPeriod"/>
                </a:pPr>
                <a:r>
                  <a:rPr lang="ru-RU" sz="2000" dirty="0"/>
                  <a:t>ближе к 1 — хорошо </a:t>
                </a:r>
                <a:r>
                  <a:rPr lang="ru-RU" sz="2000" dirty="0" err="1"/>
                  <a:t>кластеризовано</a:t>
                </a:r>
                <a:endParaRPr lang="ru-RU" sz="2000" dirty="0"/>
              </a:p>
              <a:p>
                <a:pPr marL="457200" indent="-457200">
                  <a:buAutoNum type="arabicPeriod"/>
                </a:pPr>
                <a:r>
                  <a:rPr lang="ru-RU" sz="2000" dirty="0"/>
                  <a:t>ближе к -1— ошибочная кластеризация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8FE084-5E11-4596-81D1-9A974F419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4" y="1826830"/>
                <a:ext cx="8140762" cy="3379002"/>
              </a:xfrm>
              <a:prstGeom prst="rect">
                <a:avLst/>
              </a:prstGeom>
              <a:blipFill>
                <a:blip r:embed="rId3"/>
                <a:stretch>
                  <a:fillRect l="-824" t="-903" r="-749" b="-23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380C82-0B5A-44F0-B3A6-AB5130AAFF27}"/>
                  </a:ext>
                </a:extLst>
              </p:cNvPr>
              <p:cNvSpPr txBox="1"/>
              <p:nvPr/>
            </p:nvSpPr>
            <p:spPr>
              <a:xfrm>
                <a:off x="382074" y="5635589"/>
                <a:ext cx="49967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b="1" dirty="0"/>
                  <a:t>Временная сложность: </a:t>
                </a:r>
                <a:r>
                  <a:rPr lang="ru-RU" sz="20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/>
                  <a:t>))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380C82-0B5A-44F0-B3A6-AB5130A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4" y="5635589"/>
                <a:ext cx="4996750" cy="400110"/>
              </a:xfrm>
              <a:prstGeom prst="rect">
                <a:avLst/>
              </a:prstGeom>
              <a:blipFill>
                <a:blip r:embed="rId4"/>
                <a:stretch>
                  <a:fillRect l="-1343" t="-6061" b="-27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779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34069"/>
            <a:ext cx="8520600" cy="639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Кластеризация. </a:t>
            </a:r>
            <a:r>
              <a:rPr lang="ru-RU" dirty="0" err="1"/>
              <a:t>Агломеративная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00D0E-39E6-475B-9336-C6DEC3BCB968}"/>
              </a:ext>
            </a:extLst>
          </p:cNvPr>
          <p:cNvSpPr txBox="1"/>
          <p:nvPr/>
        </p:nvSpPr>
        <p:spPr>
          <a:xfrm>
            <a:off x="382074" y="1022356"/>
            <a:ext cx="8379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Цель: </a:t>
            </a:r>
            <a:r>
              <a:rPr lang="ru-RU" sz="2000" dirty="0"/>
              <a:t>построить иерархию кластеров путём поэтапного объединения наиболее близких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FE084-5E11-4596-81D1-9A974F419DDC}"/>
              </a:ext>
            </a:extLst>
          </p:cNvPr>
          <p:cNvSpPr txBox="1"/>
          <p:nvPr/>
        </p:nvSpPr>
        <p:spPr>
          <a:xfrm>
            <a:off x="382074" y="1778822"/>
            <a:ext cx="81407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Алгоритм:</a:t>
            </a:r>
          </a:p>
          <a:p>
            <a:pPr marL="457200" indent="-457200" algn="just">
              <a:buAutoNum type="arabicPeriod"/>
            </a:pPr>
            <a:r>
              <a:rPr lang="ru-RU" sz="2000" dirty="0"/>
              <a:t>Начало: каждая точка — отдельный кластер</a:t>
            </a:r>
          </a:p>
          <a:p>
            <a:pPr marL="457200" indent="-457200" algn="just">
              <a:buAutoNum type="arabicPeriod"/>
            </a:pPr>
            <a:r>
              <a:rPr lang="ru-RU" sz="2000" dirty="0"/>
              <a:t>Слияние: на каждом шаге объединяются два самых близких кластера</a:t>
            </a:r>
          </a:p>
          <a:p>
            <a:pPr marL="457200" indent="-457200" algn="just">
              <a:buAutoNum type="arabicPeriod"/>
            </a:pPr>
            <a:r>
              <a:rPr lang="ru-RU" sz="2000" dirty="0"/>
              <a:t>Повторение: продолжается, пока не останется один кластер или достигнуто заданное число кластеров 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2DED2C-EF31-40A3-AB60-A6E42260317B}"/>
                  </a:ext>
                </a:extLst>
              </p:cNvPr>
              <p:cNvSpPr txBox="1"/>
              <p:nvPr/>
            </p:nvSpPr>
            <p:spPr>
              <a:xfrm>
                <a:off x="5805721" y="4738303"/>
                <a:ext cx="3116226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b="1" dirty="0"/>
                  <a:t>Временная сложность: </a:t>
                </a:r>
                <a:r>
                  <a:rPr lang="ru-RU" sz="20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) </a:t>
                </a:r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2DED2C-EF31-40A3-AB60-A6E422603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21" y="4738303"/>
                <a:ext cx="3116226" cy="1015663"/>
              </a:xfrm>
              <a:prstGeom prst="rect">
                <a:avLst/>
              </a:prstGeom>
              <a:blipFill>
                <a:blip r:embed="rId3"/>
                <a:stretch>
                  <a:fillRect l="-1953" t="-2395" r="-3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DEDAAE8-FF5B-4530-AB55-586F5EE80F11}"/>
              </a:ext>
            </a:extLst>
          </p:cNvPr>
          <p:cNvSpPr txBox="1"/>
          <p:nvPr/>
        </p:nvSpPr>
        <p:spPr>
          <a:xfrm>
            <a:off x="311699" y="3766394"/>
            <a:ext cx="57484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Метрики расстояний кластеров: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Single </a:t>
            </a:r>
            <a:r>
              <a:rPr lang="ru-RU" sz="2000" b="1" dirty="0" err="1"/>
              <a:t>linkage</a:t>
            </a:r>
            <a:r>
              <a:rPr lang="ru-RU" sz="2000" dirty="0"/>
              <a:t> – минимальное расстояние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/>
              <a:t>Complete</a:t>
            </a:r>
            <a:r>
              <a:rPr lang="ru-RU" sz="2000" b="1" dirty="0"/>
              <a:t> </a:t>
            </a:r>
            <a:r>
              <a:rPr lang="ru-RU" sz="2000" b="1" dirty="0" err="1"/>
              <a:t>linkage</a:t>
            </a:r>
            <a:r>
              <a:rPr lang="ru-RU" sz="2000" dirty="0"/>
              <a:t> – максимальное расстояние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/>
              <a:t>Average</a:t>
            </a:r>
            <a:r>
              <a:rPr lang="ru-RU" sz="2000" b="1" dirty="0"/>
              <a:t> </a:t>
            </a:r>
            <a:r>
              <a:rPr lang="ru-RU" sz="2000" b="1" dirty="0" err="1"/>
              <a:t>linkage</a:t>
            </a:r>
            <a:r>
              <a:rPr lang="ru-RU" sz="2000" dirty="0"/>
              <a:t> – среднее расстояние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/>
              <a:t>Ward’s</a:t>
            </a:r>
            <a:r>
              <a:rPr lang="ru-RU" sz="2000" b="1" dirty="0"/>
              <a:t> </a:t>
            </a:r>
            <a:r>
              <a:rPr lang="ru-RU" sz="2000" b="1" dirty="0" err="1"/>
              <a:t>method</a:t>
            </a:r>
            <a:r>
              <a:rPr lang="ru-RU" sz="2000" dirty="0"/>
              <a:t> – минимизация </a:t>
            </a:r>
            <a:r>
              <a:rPr lang="ru-RU" sz="2000" dirty="0" err="1"/>
              <a:t>внутрикластерной</a:t>
            </a:r>
            <a:r>
              <a:rPr lang="ru-RU" sz="2000" dirty="0"/>
              <a:t> дисперсии</a:t>
            </a:r>
          </a:p>
        </p:txBody>
      </p:sp>
    </p:spTree>
    <p:extLst>
      <p:ext uri="{BB962C8B-B14F-4D97-AF65-F5344CB8AC3E}">
        <p14:creationId xmlns:p14="http://schemas.microsoft.com/office/powerpoint/2010/main" val="1298332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29881"/>
            <a:ext cx="8520600" cy="1016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и анализ разработанных алгоритмов. Точность радиально-кластерный.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03E4F-5D1F-4A54-BA8A-35B53124CC83}"/>
              </a:ext>
            </a:extLst>
          </p:cNvPr>
          <p:cNvSpPr txBox="1"/>
          <p:nvPr/>
        </p:nvSpPr>
        <p:spPr>
          <a:xfrm>
            <a:off x="339145" y="4514243"/>
            <a:ext cx="39915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Рисунок 21 - Точность определения количества кластеров от параметра</a:t>
            </a:r>
            <a:endParaRPr lang="ru-RU" sz="2000" dirty="0">
              <a:solidFill>
                <a:srgbClr val="00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5B9BFF-891C-4951-B2D0-AA522AFB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0" y="1266218"/>
            <a:ext cx="4330700" cy="32480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94DBFB-CB5B-49E9-84BD-AA44444C5AFF}"/>
              </a:ext>
            </a:extLst>
          </p:cNvPr>
          <p:cNvSpPr txBox="1"/>
          <p:nvPr/>
        </p:nvSpPr>
        <p:spPr>
          <a:xfrm>
            <a:off x="4813300" y="5606106"/>
            <a:ext cx="3991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Рисунок 22 - Матрицы ошибок кластеризации</a:t>
            </a:r>
            <a:endParaRPr lang="ru-RU" sz="2000" dirty="0">
              <a:solidFill>
                <a:srgbClr val="00000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E07294-D12E-48CA-AE52-4E167CD16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91" y="1079564"/>
            <a:ext cx="4507545" cy="445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46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29881"/>
            <a:ext cx="8520600" cy="1016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и анализ разработанных алгоритмов. Точность </a:t>
            </a:r>
            <a:r>
              <a:rPr lang="ru-RU" dirty="0" err="1"/>
              <a:t>кластерно-кратностный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03E4F-5D1F-4A54-BA8A-35B53124CC83}"/>
              </a:ext>
            </a:extLst>
          </p:cNvPr>
          <p:cNvSpPr txBox="1"/>
          <p:nvPr/>
        </p:nvSpPr>
        <p:spPr>
          <a:xfrm>
            <a:off x="1087958" y="5953557"/>
            <a:ext cx="7232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Рисунок 23 - Точность определения критических значений контрольных параметров</a:t>
            </a:r>
            <a:endParaRPr lang="ru-RU" sz="2000" dirty="0">
              <a:solidFill>
                <a:srgbClr val="00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E43BFC-56EE-48EB-9FB9-1DB71206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05039"/>
            <a:ext cx="6219825" cy="488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62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1016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и анализ разработанных алгоритмов. Время.</a:t>
            </a:r>
            <a:endParaRPr dirty="0"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03E4F-5D1F-4A54-BA8A-35B53124CC83}"/>
              </a:ext>
            </a:extLst>
          </p:cNvPr>
          <p:cNvSpPr txBox="1"/>
          <p:nvPr/>
        </p:nvSpPr>
        <p:spPr>
          <a:xfrm>
            <a:off x="1095345" y="5608863"/>
            <a:ext cx="73771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Рисунок 24 - Время определения фазового перехода для разработанных алгоритмов</a:t>
            </a:r>
            <a:endParaRPr lang="ru-RU" sz="2000" dirty="0">
              <a:solidFill>
                <a:srgbClr val="00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3DF3A9-8137-4414-BB2F-E4CFD17F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54" y="1658647"/>
            <a:ext cx="5212090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12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55FE6-9421-4680-A326-66B6D9B7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5678"/>
            <a:ext cx="8520600" cy="763500"/>
          </a:xfrm>
        </p:spPr>
        <p:txBody>
          <a:bodyPr/>
          <a:lstStyle/>
          <a:p>
            <a:r>
              <a:rPr lang="ru-RU" dirty="0"/>
              <a:t>Методы оценки </a:t>
            </a:r>
            <a:r>
              <a:rPr lang="ru-RU" dirty="0" err="1"/>
              <a:t>кластеризуемости</a:t>
            </a:r>
            <a:r>
              <a:rPr lang="ru-RU" dirty="0"/>
              <a:t>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D515FA-7926-49E8-BBFA-E1C73B970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10491"/>
            <a:ext cx="8520600" cy="5168968"/>
          </a:xfrm>
        </p:spPr>
        <p:txBody>
          <a:bodyPr/>
          <a:lstStyle/>
          <a:p>
            <a:pPr marL="11430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Позволяют понять: 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имеют ли данные склонность к образованию кластеров?</a:t>
            </a:r>
          </a:p>
          <a:p>
            <a:pPr marL="11430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Коэффициент Хопкинса (</a:t>
            </a:r>
            <a:r>
              <a:rPr lang="ru-RU" sz="2000" b="1" dirty="0" err="1">
                <a:solidFill>
                  <a:schemeClr val="tx1"/>
                </a:solidFill>
                <a:latin typeface="+mn-lt"/>
              </a:rPr>
              <a:t>Hopkins</a:t>
            </a:r>
            <a:r>
              <a:rPr lang="ru-RU" sz="20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2000" b="1" dirty="0" err="1">
                <a:solidFill>
                  <a:schemeClr val="tx1"/>
                </a:solidFill>
                <a:latin typeface="+mn-lt"/>
              </a:rPr>
              <a:t>Statistic</a:t>
            </a:r>
            <a:r>
              <a:rPr lang="ru-RU" sz="2000" b="1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 - оценивает случайность распределения данных.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None/>
            </a:pPr>
            <a:endParaRPr lang="ru-RU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Значения:</a:t>
            </a:r>
          </a:p>
          <a:p>
            <a:pPr marL="114300" indent="0">
              <a:buNone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≈ 0.5 - данные случайны (кластеризация нецелесообразна)</a:t>
            </a:r>
          </a:p>
          <a:p>
            <a:pPr marL="114300" indent="0">
              <a:buNone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→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1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 - сильная </a:t>
            </a:r>
            <a:r>
              <a:rPr lang="ru-RU" sz="2000" dirty="0" err="1">
                <a:solidFill>
                  <a:schemeClr val="tx1"/>
                </a:solidFill>
                <a:latin typeface="+mn-lt"/>
              </a:rPr>
              <a:t>кластеризуемость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None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→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0 - 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данные равномерны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None/>
            </a:pPr>
            <a:endParaRPr lang="ru-RU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Алгоритм: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Выбираются случайные точки из данных и из равномерного распределения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Сравниваются расстояния до ближайших соседей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C56BFF-9EBD-4968-87A4-5C2EA1AF1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72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55FE6-9421-4680-A326-66B6D9B7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5678"/>
            <a:ext cx="8520600" cy="763500"/>
          </a:xfrm>
        </p:spPr>
        <p:txBody>
          <a:bodyPr/>
          <a:lstStyle/>
          <a:p>
            <a:r>
              <a:rPr lang="ru-RU" dirty="0"/>
              <a:t>Метрика оценки качества кластеризации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D515FA-7926-49E8-BBFA-E1C73B970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79178"/>
            <a:ext cx="8520600" cy="5781598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Normalized Mutual Information</a:t>
            </a:r>
            <a:r>
              <a:rPr lang="ru-RU" sz="20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– сравнивает истинные метки и предсказанные метки кластеров</a:t>
            </a:r>
          </a:p>
          <a:p>
            <a:pPr marL="114300" indent="0">
              <a:buNone/>
            </a:pPr>
            <a:endParaRPr lang="ru-RU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Как работает: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Вычисляется взаимная информация (MI) между метками (</a:t>
            </a:r>
            <a:r>
              <a:rPr lang="ru-RU" sz="2000" dirty="0">
                <a:solidFill>
                  <a:schemeClr val="tx1"/>
                </a:solidFill>
              </a:rPr>
              <a:t>вероятностные распределения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)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Нормализация (чтобы получить значение от 0 до 1)</a:t>
            </a:r>
          </a:p>
          <a:p>
            <a:pPr marL="114300" indent="0">
              <a:buClrTx/>
              <a:buSzPct val="100000"/>
              <a:buNone/>
            </a:pPr>
            <a:endParaRPr lang="ru-RU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ClrTx/>
              <a:buSzPct val="100000"/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Интерпретация: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1 → идеальное совпадение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0 → нет связи между кластерами и истинными метками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endParaRPr lang="ru-RU" sz="2000" dirty="0">
              <a:solidFill>
                <a:schemeClr val="tx1"/>
              </a:solidFill>
              <a:latin typeface="+mn-lt"/>
            </a:endParaRPr>
          </a:p>
          <a:p>
            <a:pPr marL="114300" indent="0">
              <a:buClrTx/>
              <a:buSzPct val="100000"/>
              <a:buNone/>
            </a:pPr>
            <a:r>
              <a:rPr lang="ru-RU" sz="2000" b="1" dirty="0">
                <a:solidFill>
                  <a:schemeClr val="tx1"/>
                </a:solidFill>
                <a:latin typeface="+mn-lt"/>
              </a:rPr>
              <a:t>Преимущества: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Инвариантность к перестановке меток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Устойчивость к разному числу кластеров</a:t>
            </a:r>
          </a:p>
          <a:p>
            <a:pPr marL="571500" indent="-457200">
              <a:buClrTx/>
              <a:buSzPct val="100000"/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Балансировка влияния больших и малых кластеров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C56BFF-9EBD-4968-87A4-5C2EA1AF1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43791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8395</TotalTime>
  <Words>1805</Words>
  <Application>Microsoft Office PowerPoint</Application>
  <PresentationFormat>Экран (4:3)</PresentationFormat>
  <Paragraphs>353</Paragraphs>
  <Slides>39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Arial</vt:lpstr>
      <vt:lpstr>Cambria Math</vt:lpstr>
      <vt:lpstr>Simple Light</vt:lpstr>
      <vt:lpstr>РАЗРАБОТКА БИБЛИОТЕКИ ОПРЕДЕЛЕНИЯ ФАЗОВЫХ ПЕРЕХОДОВ В NP-ТРУДНОЙ ЗАДАЧЕ КОММИВОЯЖЕРА</vt:lpstr>
      <vt:lpstr>Задача коммивояжера</vt:lpstr>
      <vt:lpstr>Актуальность</vt:lpstr>
      <vt:lpstr>Цель и задачи</vt:lpstr>
      <vt:lpstr>Обзор предметной области. Аналоги и метод решения</vt:lpstr>
      <vt:lpstr>Исследование фазовых переходов. Радиально-кластерный</vt:lpstr>
      <vt:lpstr>Исследование фазовых переходов. Кластерно-кратностный</vt:lpstr>
      <vt:lpstr>Разработка алгоритмов определения фазовых переходов</vt:lpstr>
      <vt:lpstr>Исследование и анализ разработанных алгоритмов</vt:lpstr>
      <vt:lpstr>Заключение 1</vt:lpstr>
      <vt:lpstr>Заключение 2</vt:lpstr>
      <vt:lpstr>Апробация работы</vt:lpstr>
      <vt:lpstr>Запасные слайды</vt:lpstr>
      <vt:lpstr>Применение NP-трудной задачи коммивояжера.</vt:lpstr>
      <vt:lpstr>Сложностные классы</vt:lpstr>
      <vt:lpstr>Рассмотренные фазовые переходы</vt:lpstr>
      <vt:lpstr>Сравнение аналогов</vt:lpstr>
      <vt:lpstr>Выбор метода решения. Архитектура 1</vt:lpstr>
      <vt:lpstr>Выбор метода решения. Архитектура 2</vt:lpstr>
      <vt:lpstr>Условия проведения экспериментов</vt:lpstr>
      <vt:lpstr>Генерация радиально-кластерного фазового перехода 1</vt:lpstr>
      <vt:lpstr>Генерация радиально-кластерного фазового перехода 2</vt:lpstr>
      <vt:lpstr>Радиально-кластерный фазовый переход</vt:lpstr>
      <vt:lpstr>Генерация кластерно-кратностного фазового перехода 1</vt:lpstr>
      <vt:lpstr>Генерация кластерно-кратностного фазового перехода 2</vt:lpstr>
      <vt:lpstr>Кластерно-кратностный фазовый переход 1</vt:lpstr>
      <vt:lpstr>Кластерно-кратностный фазовый переход 2</vt:lpstr>
      <vt:lpstr>Кластерно-кратностный фазовый переход 3</vt:lpstr>
      <vt:lpstr>Преобразование матрицы весов в матрицу признаков</vt:lpstr>
      <vt:lpstr>Понижение размерности</vt:lpstr>
      <vt:lpstr>Кластеризация</vt:lpstr>
      <vt:lpstr>Кластеризация. K-средних</vt:lpstr>
      <vt:lpstr>Оценка кластеризации. Коэффициент силуэта</vt:lpstr>
      <vt:lpstr>Кластеризация. Агломеративная</vt:lpstr>
      <vt:lpstr>Исследование и анализ разработанных алгоритмов. Точность радиально-кластерный.</vt:lpstr>
      <vt:lpstr>Исследование и анализ разработанных алгоритмов. Точность кластерно-кратностный.</vt:lpstr>
      <vt:lpstr>Исследование и анализ разработанных алгоритмов. Время.</vt:lpstr>
      <vt:lpstr>Методы оценки кластеризуемости данных</vt:lpstr>
      <vt:lpstr>Метрика оценки качества кластеризации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БИБЛИОТЕКИ ОПРЕДЕЛЕНИЯ ФАЗОВЫХ ПЕРЕХОДОВ В NP-ТРУДНОЙ ХАДАЧЕ КОММИВОЯЖЕРА</dc:title>
  <dc:creator>Aleksei</dc:creator>
  <cp:lastModifiedBy>Алексей Шаврин</cp:lastModifiedBy>
  <cp:revision>149</cp:revision>
  <dcterms:modified xsi:type="dcterms:W3CDTF">2025-06-02T10:32:16Z</dcterms:modified>
</cp:coreProperties>
</file>