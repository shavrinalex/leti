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67" r:id="rId4"/>
    <p:sldId id="268" r:id="rId5"/>
    <p:sldId id="263" r:id="rId6"/>
    <p:sldId id="264" r:id="rId7"/>
    <p:sldId id="265" r:id="rId8"/>
    <p:sldId id="266" r:id="rId9"/>
    <p:sldId id="270" r:id="rId10"/>
    <p:sldId id="271" r:id="rId11"/>
    <p:sldId id="259" r:id="rId12"/>
    <p:sldId id="26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C9FA96-57C9-5CDA-2B94-448B9DE30CB0}" name="Анна Шевелева" initials="АШ" userId="85d599bd8b47cd6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1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0FFFE-45C4-495D-A91F-982FA975CF2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F0D85-E790-48C5-BE1D-A3627AD04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90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все задачи в теории алгоритмов могут быть решены за полиномиальное время. Существует подкласс задач, известных как NP-трудные задачи, которые требуют экспоненциального времени для нахождения решений. К числу таких задач относится и задача коммивояжера. Ситуация усугубляется наличием фазовых переходов, которые представляют собой резкое увеличение сложности решения задачи в зависимости от изменения контрольных параметров.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582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18034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была поставлена цель: разработать алгоритм для определения фазового перехода в NP-трудной задаче коммивояжера, а для достижения поставленной цели были поставлены следующие задачи: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Обзор существующих инструментов определения фазовых переходов.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Определение критериев сравнения инструментов определения фазовых переходов.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Сравнение выбранных инструментов по выбранным критериям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Разработка математической модели, описывающей определение фазового перехода.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Реализация определения заданного фазового перехода на основе описанной математической модели.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24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статье рассматривается задача коммивояжера — одна из классических NP-трудных задач комбинаторной оптимизации, 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Есть набор городов, связанных дорогами, и требуется найти кратчайший путь, который проходит через каждый город ровно один раз и возвращается в начальный город.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Математическое решение задачи – минимальный гамильтонов цикл, рассчитываемый по формуле представленной на слайде, 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где 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−весовой коэффициент ребра из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города в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а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параметр равный 1 если данный путь входит в цикл и 0 если не входит.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статье рассматривается задача коммивояжера — одна из классических NP-трудных задач комбинаторной оптимизации, 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Есть набор городов, связанных дорогами, и требуется найти кратчайший путь, который проходит через каждый город ровно один раз и возвращается в начальный город.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Математическое решение задачи – минимальный гамильтонов цикл, рассчитываемый по формуле представленной на слайде,  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:r>
                  <a:rPr lang="en-US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𝑤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_</a:t>
                </a:r>
                <a:r>
                  <a:rPr lang="en-US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𝑖𝑗  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−весовой коэффициент ребра из </a:t>
                </a:r>
                <a:r>
                  <a:rPr lang="en-US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𝑖 горо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да в </a:t>
                </a:r>
                <a:r>
                  <a:rPr lang="en-US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𝑗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а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параметр равный 1 если данный путь входит в цикл и 0 если не входит.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165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 рамках данной работы рассматривается фазовый переход, основанный на топологии в весовой матрице, общий вид которой представлен на слайде.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 квадратные подматрицы образующие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-й кластер, а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количество кластеров (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меньшее количества городов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Значения внутри кластеров генерируются с нормальным распределением по следующему правилу: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1 кластере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 среднее значение обозначим за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(при этом </m:t>
                    </m:r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&gt;0)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максимальное отклонение обозначим за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( при этом 0 ≤ </m:t>
                    </m:r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&lt; </m:t>
                    </m:r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spc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кластере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среднее значение считается по формуле: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e>
                      <m:sup>
                        <m:r>
                          <a:rPr lang="ru-RU" sz="1800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1800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1)</m:t>
                        </m:r>
                      </m:sup>
                    </m:sSup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(где </m:t>
                    </m:r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=2,…,</m:t>
                    </m:r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800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максимальное отклонение равно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 рамках данной работы рассматривается фазовый переход, основанный на топологии в весовой матрице, общий вид которой представлен на слайде.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𝑆_𝑖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 квадратные подматрицы образующие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𝑖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-й кластер, а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𝑟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количество кластеров (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меньшее количества городов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Значения внутри кластеров генерируются с нормальным распределением по следующему правилу: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1 кластере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 среднее значение обозначим за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𝑚 (при этом 𝑚&gt;0)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максимальное отклонение обозначим за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𝑑 ( при этом 0 ≤ 𝑑 &lt; 𝑚)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spc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кластере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среднее значение считается по формуле: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𝑚+𝑘^((𝑖−1))   (где 𝑖=2,…,𝑟)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максимальное отклонение равно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𝑑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7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роли сравнительных аналогов были рассмотрены библиотеки, применяемые для решения задачи коммивояжера, работы с графами и научных вычислений.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Рассмотренные аналоги сравнивались по таким критериям как: решаемый тип задачи, применимые методы, ограничения на данные и масштабируемость.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Анализируя результаты таблицы, были сделаны выводы: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Библиотеки направленные на решение задачи оптимизации не предоставляют инструментов анализа входных данных. 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ru-RU" sz="1800" spc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NetworkX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содержит большее количество основных методов анализа, чем </a:t>
            </a:r>
            <a:r>
              <a:rPr lang="ru-RU" sz="1800" spc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graph-tool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что является преимуществом при рассмотрении данного аналога в качестве решения поставленной задачи. 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Наиболее универсальным аналогом является библиотека </a:t>
            </a:r>
            <a:r>
              <a:rPr lang="ru-RU" sz="1800" spc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CuPy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которая предоставляет набор инструментов для линейной алгебры и численных методов.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03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4495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 целью определения параметра, влияющего на появление фазового перехода в данной топологии были проверены зависимости возникновения фазового перехода от: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Количества кластеров равного размера.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Размеров кластеров.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Количества городов.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Была выявлена зависимость между коэффициентом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количеством кластеров, которая представлена на слайде.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4495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 целью определения параметра, влияющего на появление фазового перехода в данной топологии были проверены зависимости возникновения фазового перехода от: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Количества кластеров равного размера.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Размеров кластеров.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Количества городов.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Была выявлена зависимость между коэффициентом </a:t>
                </a:r>
                <a:r>
                  <a:rPr lang="ru-RU" sz="1800" i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𝑘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количеством кластеров, которая представлена на слайде.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805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Исходя из определенной зависимости и топологии фазового перехода был разработан алгоритм определения фазового перехода, который состоит из 4х основных шагов: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Предобработка матрицы весов.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Матрица весов преобразуется к матрице признаков, где каждая строка - набор признаков для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-го города. Каждый признак – весовой коэффициент ребра исходящего или входящего в </a:t>
                </a:r>
                <a:r>
                  <a:rPr lang="en-US" sz="1800" spc="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-й город. После преобразования применяется алгоритм t-SNE для нелинейного понижения размерности до 2х признаков. (данный параметр был подобран опытным путем, при котором выбранный метод кластеризации показывал наилучшие результаты)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Кластеризация обработанных данных.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Кластеризация выполняется с использованием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одного из самых популярных алгоритмов кластеризации, k-средних, а в качестве метода оценки качества кластеризации использовался коэффициент силуэта. Значение силуэта показывает, насколько объект похож на свой кластер по сравнению с другими кластерами. 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Проверка корректности группировки кластеров и вычисление их характеристик.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 данном этапе необходимо проверить что внутри одного кластера находятся только соседние города по матрице весов. Если проверка на корректность группировки кластеров пройдена, то далее по каждому кластеру вычисляются средние значения и коэффициент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e>
                      <m:sup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  <m:r>
                          <a:rPr lang="ru-RU" sz="1800" i="1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1800" spc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всех кластеров кроме 1-го.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Оценка характеристик кластеризации.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После вычисленных характеристик по каждому кластеру вычисляется общее значение k, как среднее по всем кластерам. Полученный коэффициент </a:t>
                </a:r>
                <a14:m>
                  <m:oMath xmlns:m="http://schemas.openxmlformats.org/officeDocument/2006/math">
                    <m:r>
                      <a:rPr lang="ru-RU" sz="1800" i="1" spc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сравнивается с пороговым значением. В случае если он равен или превосходит ожидаемый коэффициент, считается, что был обнаружен фазовый переход в представленных входных данных.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Исходя из определенной зависимости и топологии фазового перехода был разработан алгоритм определения фазового перехода, который состоит из 4х основных шагов: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Предобработка матрицы весов.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Матрица весов преобразуется к матрице признаков, где каждая строка - набор признаков для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𝑖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-го города. Каждый признак – весовой коэффициент ребра исходящего или входящего в </a:t>
                </a:r>
                <a:r>
                  <a:rPr lang="en-US" sz="1800" spc="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-й город. После преобразования применяется алгоритм t-SNE для нелинейного понижения размерности до 2х признаков. (данный параметр был подобран опытным путем, при котором выбранный метод кластеризации показывал наилучшие результаты)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Кластеризация обработанных данных.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Кластеризация выполняется с использованием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одного из самых популярных алгоритмов кластеризации, k-средних, а в качестве метода оценки качества кластеризации использовался коэффициент силуэта. Значение силуэта показывает, насколько объект похож на свой кластер по сравнению с другими кластерами. 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Проверка корректности группировки кластеров и вычисление их характеристик.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 данном этапе необходимо проверить что внутри одного кластера находятся только соседние города по матрице весов. Если проверка на корректность группировки кластеров пройдена, то далее по каждому кластеру вычисляются средние значения и коэффициент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𝑘^(𝑖−1)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всех кластеров кроме 1-го.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Оценка характеристик кластеризации.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После вычисленных характеристик по каждому кластеру вычисляется общее значение k, как среднее по всем кластерам. Полученный коэффициент </a:t>
                </a:r>
                <a:r>
                  <a:rPr lang="ru-RU" sz="1800" i="0" spc="0">
                    <a:effectLst/>
                    <a:latin typeface="Cambria Math" panose="02040503050406030204" pitchFamily="18" charset="0"/>
                    <a:ea typeface="Calibri" panose="020F0502020204030204" pitchFamily="34" charset="0"/>
                  </a:rPr>
                  <a:t>𝑘</a:t>
                </a:r>
                <a:r>
                  <a:rPr lang="ru-RU" sz="1800" spc="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сравнивается с пороговым значением. В случае если он равен или превосходит ожидаемый коэффициент, считается, что был обнаружен фазовый переход в представленных входных данных.</a:t>
                </a:r>
                <a:endParaRPr lang="ru-RU" sz="18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35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С ц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елью проверк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и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точности определения фазового перехода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был проведен ряд исследований.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роведена оценка точности предсказания фазового перехода для различных значений параметра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представлена на слайде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слева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 Как видно из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графика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при значениях параметра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= 2, 3, 4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разработанный алгоритм выдает наименее точные результаты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, а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при значениях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= 3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более 75% ложных срабатываний. Однако при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&gt;= 4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точность составляет свыше 85%.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Под точностью понимается количество совпадений истинного значения наличия фазового перехода с предсказанным для заданного параметра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 Истинными считаются значения отсутствия фазового перехода при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&lt; 4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наличие фазового перехода при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&gt;= 4.</m:t>
                    </m:r>
                  </m:oMath>
                </a14:m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роведена оценка точности предсказания кластеров для различных значений параметра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представлена на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слайде справа.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Как видно из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графика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точность при значениях параметра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&lt; 5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меньше 70% и значительно снижается с уменьшением этого параметра. Таким образом точность определения количества кластеров при параметре k = 2, 3, 4 мала, что является причиной малой точности общего предсказания разработанной модели и ложных срабатываний при параметре 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= 3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од точностью понимается количество совпадений истинного количества и состава кластеров в сгенерированных данных (</a:t>
                </a:r>
                <a14:m>
                  <m:oMath xmlns:m="http://schemas.openxmlformats.org/officeDocument/2006/math"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</m:t>
                    </m:r>
                    <m:r>
                      <a:rPr lang="x-none" sz="18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= 4</m:t>
                    </m:r>
                  </m:oMath>
                </a14:m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 с предсказанным для заданного параметра k.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С ц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елью проверк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и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точности определения фазового перехода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был проведен ряд исследований.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роведена оценка точности предсказания фазового перехода для различных значений параметра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представлена на слайде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слева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 Как видно из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графика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при значениях параметра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= 2, 3, 4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разработанный алгоритм выдает наименее точные результаты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, а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при значениях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= 3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более 75% ложных срабатываний. Однако при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&gt;= 4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точность составляет свыше 85%.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Под точностью понимается количество совпадений истинного значения наличия фазового перехода с предсказанным для заданного параметра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 Истинными считаются значения отсутствия фазового перехода при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&lt; 4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наличие фазового перехода при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&gt;= 4.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</a:t>
                </a: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182880" algn="l"/>
                  </a:tabLst>
                </a:pP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роведена оценка точности предсказания кластеров для различных значений параметра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и представлена на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слайде справа.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Как видно из 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графика 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точность при значениях параметра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&lt; 5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меньше 70% и значительно снижается с уменьшением этого параметра. Таким образом точность определения количества кластеров при параметре k = 2, 3, 4 мала, что является причиной малой точности общего предсказания разработанной модели и ложных срабатываний при параметре 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𝑘 = 3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(П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од точностью понимается количество совпадений истинного количества и состава кластеров в сгенерированных данных (</a:t>
                </a:r>
                <a:r>
                  <a:rPr lang="x-none" sz="1800" i="0" spc="-5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𝑟 = 4</a:t>
                </a:r>
                <a:r>
                  <a:rPr lang="x-none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 с предсказанным для заданного параметра k.</a:t>
                </a:r>
                <a:r>
                  <a:rPr lang="ru-RU" sz="18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)</a:t>
                </a: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261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Р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ассчитаны матрицы ошибок для выявленных кластеров (истинное количество кластеров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и представлены на слайде. Как видно при малых параметрах 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  <m:r>
                      <a:rPr lang="x-none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 = 2, 3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первые 2-3 кластера считаются плохо различимыми и с большей вероятностью определяются в один кластер. Данная проблема приводит к неправильным расчетам параметра 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последующих кластеро. Также на представленном рисунке видно, что при больших значениях 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  <m:r>
                      <a:rPr lang="x-none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 = 11, 12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точность верной кластеризации увеличивается.</a:t>
                </a:r>
                <a:endParaRPr lang="ru-R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Р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ассчитаны матрицы ошибок для выявленных кластеров (истинное количество кластеров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и представлены на слайде. Как видно при малых параметрах 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 = 2, 3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первые 2-3 кластера считаются плохо различимыми и с большей вероятностью определяются в один кластер. Данная проблема приводит к неправильным расчетам параметра 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последующих кластеро. Также на представленном рисунке видно, что при больших значениях 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 = 11, 12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точность верной кластеризации увеличивается.</a:t>
                </a:r>
                <a:endParaRPr lang="ru-R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13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Таким образом, по результатам проведенных исследований, показана точность определения перехода свыше 85% при параметре </a:t>
                </a:r>
                <a14:m>
                  <m:oMath xmlns:m="http://schemas.openxmlformats.org/officeDocument/2006/math">
                    <m:r>
                      <a:rPr lang="x-none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не находящемся вблизи граничного значения. Однако из обнаруженных недостатков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стоит выделить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не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масштабируемость алгоритма к изменению топологии кластеров во входных данных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и 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плохое разделение схожих кластеров, что в свою очередь влияет на дальнейшее определение возникновения фазового перехода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</p:txBody>
          </p:sp>
        </mc:Choice>
        <mc:Fallback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Таким образом, по результатам проведенных исследований, показана точность определения перехода свыше 85% при параметре </a:t>
                </a:r>
                <a:r>
                  <a:rPr lang="x-none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не находящемся вблизи граничного значения. Однако из обнаруженных недостатков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стоит выделить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не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масштабируемость алгоритма к изменению топологии кластеров во входных данных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и </a:t>
                </a:r>
                <a:r>
                  <a:rPr lang="x-none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плохое разделение схожих кластеров, что в свою очередь влияет на дальнейшее определение возникновения фазового перехода</a:t>
                </a:r>
                <a:r>
                  <a:rPr lang="ru-R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948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182880" algn="just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По каждой из задач достигнуты фактические результаты: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Проведен обзор библиотек: NetworkX, Graph-tool, python-tsp, Concorde TSP Solver, CuPy, в качестве потенциальных аналогов предоставляющих инструменты для решения поставленной задачи.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Определены следующие критерии сравнения рассмотренных аналогов: тип решаемой задачи, применяемые алгоритмы, ограничения на размеры данных, уровень масштабируемости.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В результате сравнения было выявлено, что ни один из рассмотренных аналогов не предоставляет инструментов для прямого решения проблемы определения фазового перехода и определен наиболее универсальный аналог - библиотека CuPy.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Выявлена математическая зависимость : между  параметром влияющим на различие между кластерами в матрице весов и  количеством кластеров.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Разработан 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и исследован 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алгоритм определения фазового перехода, являющийся прямым решением проблемы.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879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182880" algn="just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В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озможными направлениями дальнейших исследований являются: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Изменение способов предобработки данных или метода кластеризации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 целью точного разделения схожих кластеров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Перенос кластеризации с городов на пути между городами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 целью повышения масштабируемости алгоритма на разные формы и позиции кластеров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Перенос вычислений на GPU и применение других методов машинного обучения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ru-RU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Р</a:t>
            </a:r>
            <a:r>
              <a:rPr lang="x-none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асширение библиотеки до поддержки определения различных фазовых переходов как в задаче коммивояжера, так и в других задачах класса NP. </a:t>
            </a:r>
            <a:endParaRPr lang="ru-RU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0D85-E790-48C5-BE1D-A3627AD0488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34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60EAC-91BC-49F2-B045-41EC3C12A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A2E38D-A73C-44F0-AF21-701CDD63A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21354-34AC-48B4-A856-EEC3153E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006-3830-48A6-9AF3-6FF6F0F593E6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FD119B-B3ED-46A5-95A5-2DB9B010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0CE7B8-F635-4000-B047-75DAAB9B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54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BF776-AC33-43F9-818C-E77900E9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1630B4-62E0-401C-B229-00E28225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A9C3AA-FA59-463F-A962-2EF9D2EE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355A-105F-4448-835C-6EB0DBA325C5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01FD77-25E2-4891-8920-E17AC1E0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23FFE0-A832-4EC5-B93B-ACB24A01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75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253AB-4031-4040-803D-A4E64AEC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649DB8-30DB-44C4-AF10-CABD048C6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0B79A1-D38A-486C-9EC7-A3490B44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2CA0-7BA0-4679-B1EC-6D10F0555035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E239C3-3FEF-4B59-8700-CFE7ABB6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5C9D9D-FA37-4638-9416-DA9DDEA9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4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D8AD1-3F23-4E4B-81C8-BCCC31B8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C7369-A02D-4A36-8F4E-766829CED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48D16F-0ADB-4035-804B-C8B6451BF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293CD1-F3F5-4417-8975-816A52B1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BC1AC-F3E1-4ECF-9EBD-49CBB0864A6D}" type="datetime1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EF366F-5BC7-4190-84FA-7A0940A2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874C9-BC59-4F37-8ADA-9048027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55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2C05C-2F31-4B6D-B358-4CBDE3E2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6AE21B-CFF9-4DD8-A86F-D63B3E3F3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A55D83-0E67-4171-8200-FB4E41A6B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4BBE11-EE00-48B2-AC3F-F798E1E17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FF8B38-F3C8-4557-B1BA-05F8004AB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FB8A33-793E-4A0B-A8A7-7651DBBC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1DDB-F19C-4310-8779-D1841E2F4E89}" type="datetime1">
              <a:rPr lang="ru-RU" smtClean="0"/>
              <a:t>29.01.2025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198DEF-9B41-42C3-AE7C-FB8BD240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68DB4C-E2BB-4DE1-8886-A6AD360C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64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CC6E6-4BFF-48D9-AA28-F307E2F4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F0058F-A947-4F0D-8CE4-D3512408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787D-8061-4E05-9FD3-B2918853075D}" type="datetime1">
              <a:rPr lang="ru-RU" smtClean="0"/>
              <a:t>29.01.2025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310D2A-EDC6-4A54-8CEE-5B00B36C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311746-C6E7-4CAE-B595-123A3DFE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02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4396B1-CB29-4DC0-9210-CFEB8D45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BCFD4-7AF0-4BDC-BC2F-7BBD016BF5B0}" type="datetime1">
              <a:rPr lang="ru-RU" smtClean="0"/>
              <a:t>29.01.2025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34F619-D033-4750-9796-E8DEDFD7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5CDB33-BAAD-4497-931B-A5CD0EE9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83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1D71E-A8A3-4F8C-A0B8-D5923C36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34C6A0-AE24-4F49-9E54-F984D05A5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0E3E87-B50C-4A86-93E3-25D0CC496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11CA92-0588-43C2-8FA0-61C94404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3913D-796F-4C78-A54E-5391D867F522}" type="datetime1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B7F9EE-7176-4CE0-86EA-5329BE81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ACCDC9-E07C-40E6-887C-C02D5FC0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19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24554-0125-4B68-82E4-7F60C301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12DE669-01C4-44BD-B0D0-22426E1FD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2BE72D-E20D-4F1A-BACD-9AFE9CD52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A99A2A-BDCA-4FDE-8828-7F520858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C3B1-E9A8-43DF-BE23-2E63B7C316A8}" type="datetime1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981CEB-28A1-470F-82B1-76B9FFE6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899899-CD40-4481-B298-F4742882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44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83E6C-9EDC-41C7-A402-5DAF9424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5A3852-CDE4-4968-B878-B2E478C76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24FC35-4F38-4AF9-81EA-33DBD004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744AA-362A-43C3-96FE-F68522CA5BA1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2AF961-CD35-4CC3-9EB6-B1229A22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DF1ED8-CAB9-4CDD-B385-001C0820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1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6D74C9-7D2B-4726-A36F-8B9BE75C1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1DA2AD-E4EF-4D34-A3CC-F6EF434A7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A5D02F-CA63-4FFA-AB31-30A8C5BB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22858-4409-49EB-A63D-2FFB45599BB4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67AD0C-820B-4E11-A3B8-A440F310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EFA8-4846-427F-91E9-0933F2A3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36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E1CC5-4134-4894-A2C1-EC496E62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77A041-8729-4889-919F-8182CE76C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8C5EB1-026E-43D6-80DE-3672DBCEB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334BF-26C4-4D1F-BB16-EE5A283067C2}" type="datetime1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12A0A0-DC24-46D7-A416-741B133F1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9A4903-DB54-48C1-84C5-C1C6BB826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AAD0-7D35-4125-8790-2FF391B8B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54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968538"/>
            <a:ext cx="9144000" cy="1767424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фазового перехода в NP-трудной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задаче коммивояжера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государственный электротехнический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3047999" y="60536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Санкт-Петербург, Россия,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05420-6793-4076-AC68-7C77CC79A953}"/>
              </a:ext>
            </a:extLst>
          </p:cNvPr>
          <p:cNvSpPr txBox="1"/>
          <p:nvPr/>
        </p:nvSpPr>
        <p:spPr>
          <a:xfrm>
            <a:off x="3838939" y="4744078"/>
            <a:ext cx="4514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 Шаврин Алексей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0696C-9C1F-46A5-8C41-7012BC34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8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разработка алгоритма для определения фазового перехода в NP-трудной задаче коммивояжера.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Обзор существующих инструментов определения фазовых переходов.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Определение критериев сравнения инструментов определения фазовых переходов.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Сравнение выбранных инструментов по выбранным критериям.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Разработка математической модели, описывающей определение фазового перехода в задаче коммивояжера.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Реализация определения заданного фазового перехода на основе описанной математической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5B753-D988-4081-BCB8-EBAA7D4E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17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коммивояжера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40696C-9C1F-46A5-8C41-7012BC34D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7443" y="1401244"/>
                <a:ext cx="6520070" cy="45894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решение: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минимальный гамильтонов цикл.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где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ru-RU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весовой коэффициент ребра из 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города в 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ru-RU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1, 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если ребро входит в цикл</m:t>
                              </m:r>
                            </m:e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если ребро не входит в цикл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40696C-9C1F-46A5-8C41-7012BC34D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443" y="1401244"/>
                <a:ext cx="6520070" cy="4589463"/>
              </a:xfrm>
              <a:blipFill>
                <a:blip r:embed="rId3"/>
                <a:stretch>
                  <a:fillRect l="-14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133B55-A674-42BB-8AEF-44CBE04B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563F0F-50E6-4AE9-9DDE-1677BD928F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31" r="22326"/>
          <a:stretch/>
        </p:blipFill>
        <p:spPr>
          <a:xfrm>
            <a:off x="6874048" y="1316555"/>
            <a:ext cx="4900509" cy="467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4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фазового перехода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850DE93-1FC3-426A-92DC-A9C7279A3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665" y="1750218"/>
            <a:ext cx="3662135" cy="3357563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133B55-A674-42BB-8AEF-44CBE04B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B46346-E7F9-4F56-B434-AC5787A70F68}"/>
                  </a:ext>
                </a:extLst>
              </p:cNvPr>
              <p:cNvSpPr txBox="1"/>
              <p:nvPr/>
            </p:nvSpPr>
            <p:spPr>
              <a:xfrm>
                <a:off x="838200" y="1528173"/>
                <a:ext cx="5876925" cy="4658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pc="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 spc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sz="2400" i="1" spc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- квадратные подматрицы образующие 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𝑖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-й кластер, </a:t>
                </a:r>
                <a:endParaRPr lang="en-US" sz="24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- количество кластеров (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&lt; 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𝑁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𝑁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- количество городов). </a:t>
                </a:r>
                <a:endParaRPr lang="en-US" sz="24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Значения внутри кластеров генерируются с нормальным распределением по следующему правилу:</a:t>
                </a:r>
                <a:endParaRPr lang="ru-RU" sz="24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x-none" sz="2400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-  среднее = 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𝑚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(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𝑚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&gt;0)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максимальное отклонение = 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𝑑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(0 ≤ 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𝑑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&lt; 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𝑚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ru-RU" sz="24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95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18288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- среднее = 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𝑚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p>
                      <m:sSupPr>
                        <m:ctrlPr>
                          <a:rPr lang="ru-RU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𝑘</m:t>
                        </m:r>
                      </m:e>
                      <m:sup>
                        <m:r>
                          <a:rPr lang="x-none" sz="2400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  <m:r>
                          <a:rPr lang="x-none" sz="2400" i="1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</m:t>
                        </m:r>
                        <m:r>
                          <a:rPr lang="x-none" sz="2400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1)</m:t>
                        </m:r>
                      </m:sup>
                    </m:sSup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 (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𝑖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=2,…,</m:t>
                    </m:r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</m:t>
                    </m:r>
                    <m:r>
                      <a:rPr lang="x-none" sz="2400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максимальное отклонение = </a:t>
                </a:r>
                <a14:m>
                  <m:oMath xmlns:m="http://schemas.openxmlformats.org/officeDocument/2006/math">
                    <m:r>
                      <a:rPr lang="x-none" sz="2400" i="1" spc="-5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𝑑</m:t>
                    </m:r>
                  </m:oMath>
                </a14:m>
                <a:r>
                  <a:rPr lang="x-none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ru-RU" sz="24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B46346-E7F9-4F56-B434-AC5787A70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28173"/>
                <a:ext cx="5876925" cy="4658904"/>
              </a:xfrm>
              <a:prstGeom prst="rect">
                <a:avLst/>
              </a:prstGeom>
              <a:blipFill>
                <a:blip r:embed="rId4"/>
                <a:stretch>
                  <a:fillRect l="-1660" t="-1440" r="-1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20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071" y="124064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аналогов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B6F555-D7B6-4BF6-91A2-57F86305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1" y="947312"/>
            <a:ext cx="10787857" cy="5786624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E518F47-D876-43B9-A2B0-CEABA4F7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21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Фазовый переход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CA8B540-4407-4151-A35E-2392195AC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869" y="1470498"/>
            <a:ext cx="5329218" cy="3311052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1AEF3-FEC2-4A83-86C3-01F309D3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5AB7D-863E-4412-8A41-56175C9143B3}"/>
              </a:ext>
            </a:extLst>
          </p:cNvPr>
          <p:cNvSpPr txBox="1"/>
          <p:nvPr/>
        </p:nvSpPr>
        <p:spPr>
          <a:xfrm>
            <a:off x="671531" y="1552575"/>
            <a:ext cx="4814869" cy="313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880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ru-RU" sz="24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Проверены зависимости возникновения фазового перехода от: </a:t>
            </a: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x-none" sz="24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Количества кластеров равного размера.</a:t>
            </a:r>
            <a:endParaRPr lang="ru-RU" sz="24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x-none" sz="24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Размеров кластеров.</a:t>
            </a:r>
            <a:endParaRPr lang="ru-RU" sz="24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lnSpc>
                <a:spcPct val="9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182880" algn="l"/>
              </a:tabLst>
            </a:pPr>
            <a:r>
              <a:rPr lang="x-none" sz="24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Количества городов.</a:t>
            </a:r>
            <a:endParaRPr lang="ru-RU" sz="24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4E10B-EDE8-4F38-AE85-3FEDF2BF2E28}"/>
                  </a:ext>
                </a:extLst>
              </p:cNvPr>
              <p:cNvSpPr txBox="1"/>
              <p:nvPr/>
            </p:nvSpPr>
            <p:spPr>
              <a:xfrm>
                <a:off x="671531" y="5083189"/>
                <a:ext cx="4431169" cy="1099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=−0.5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US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2400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где </m:t>
                      </m:r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𝑟</m:t>
                      </m:r>
                      <m:r>
                        <m:rPr>
                          <m:nor/>
                        </m:rPr>
                        <a:rPr lang="ru-RU" sz="2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– количество кластеров</m:t>
                      </m:r>
                      <m:r>
                        <m:rPr>
                          <m:nor/>
                        </m:rPr>
                        <a:rPr lang="ru-RU" sz="2400" dirty="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4E10B-EDE8-4F38-AE85-3FEDF2BF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31" y="5083189"/>
                <a:ext cx="4431169" cy="10994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595E70B-031A-4CED-ACB7-C48D2006B63D}"/>
              </a:ext>
            </a:extLst>
          </p:cNvPr>
          <p:cNvSpPr txBox="1"/>
          <p:nvPr/>
        </p:nvSpPr>
        <p:spPr>
          <a:xfrm>
            <a:off x="7000431" y="4819650"/>
            <a:ext cx="4294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Зависимость параметра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 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от количества кластеров.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162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0696C-9C1F-46A5-8C41-7012BC34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89463"/>
          </a:xfrm>
        </p:spPr>
        <p:txBody>
          <a:bodyPr>
            <a:normAutofit/>
          </a:bodyPr>
          <a:lstStyle/>
          <a:p>
            <a:pPr indent="0" algn="just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</a:tabLst>
            </a:pPr>
            <a:r>
              <a:rPr lang="ru-RU" sz="2400" b="1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Алгоритм</a:t>
            </a:r>
            <a:r>
              <a:rPr lang="x-none" sz="2400" b="1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ru-RU" sz="2400" b="1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800100" lvl="1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ru-RU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Предобработка матрицы весов</a:t>
            </a: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</a:t>
            </a:r>
            <a:r>
              <a:rPr lang="ru-RU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переход к матрице признаков + нелинейное понижение размерности</a:t>
            </a: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r>
              <a:rPr lang="ru-RU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marL="800100" lvl="1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ru-RU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Кластеризация обработанных данных (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K-means + Silhouette coefficient</a:t>
            </a:r>
            <a:r>
              <a:rPr lang="ru-RU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).</a:t>
            </a:r>
            <a:endParaRPr lang="ru-RU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800100" lvl="1" indent="-342900" algn="just">
              <a:lnSpc>
                <a:spcPct val="95000"/>
              </a:lnSpc>
              <a:spcAft>
                <a:spcPts val="600"/>
              </a:spcAft>
              <a:buFont typeface="+mj-lt"/>
              <a:buAutoNum type="arabicPeriod"/>
              <a:tabLst>
                <a:tab pos="182880" algn="l"/>
              </a:tabLst>
            </a:pPr>
            <a:r>
              <a:rPr lang="ru-RU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Проверка корректности группировки кластеров и вычисление их характеристик.</a:t>
            </a:r>
            <a:endParaRPr lang="en-US" spc="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57200" lvl="1" indent="0" algn="just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</a:tabLst>
            </a:pP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4. </a:t>
            </a:r>
            <a:r>
              <a:rPr lang="ru-RU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Оценка характеристик кластеризации.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3B0332-EA74-4454-8928-4843BD7B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5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015"/>
            <a:ext cx="5021826" cy="73654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решения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E47FA9-924B-4671-9055-13E1B8C1E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83" y="1363062"/>
            <a:ext cx="5314122" cy="4022001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DC33C1CA-C01B-4F82-BE5A-93ADFD8D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11A3D-1335-408F-9D44-D6128A184699}"/>
              </a:ext>
            </a:extLst>
          </p:cNvPr>
          <p:cNvSpPr txBox="1"/>
          <p:nvPr/>
        </p:nvSpPr>
        <p:spPr>
          <a:xfrm>
            <a:off x="862140" y="5449395"/>
            <a:ext cx="4294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Точность определения фазового перехода от параметра k.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DF5C72-5DD3-4A1C-B85C-37B9D9200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13" y="1363062"/>
            <a:ext cx="5314122" cy="4086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7ABB45-C6E1-40B3-96A2-6BF010767F3B}"/>
              </a:ext>
            </a:extLst>
          </p:cNvPr>
          <p:cNvSpPr txBox="1"/>
          <p:nvPr/>
        </p:nvSpPr>
        <p:spPr>
          <a:xfrm>
            <a:off x="6670597" y="5434643"/>
            <a:ext cx="4791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Точность определения </a:t>
            </a:r>
            <a:r>
              <a:rPr lang="ru-RU" dirty="0">
                <a:latin typeface="Times New Roman" panose="02020603050405020304" pitchFamily="18" charset="0"/>
                <a:ea typeface="SimSun" panose="02010600030101010101" pitchFamily="2" charset="-122"/>
              </a:rPr>
              <a:t>количества кластеров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перехода от параметра k.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3026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036"/>
            <a:ext cx="5021826" cy="73654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9980C-6D84-4453-876D-12CAF61E5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026" y="302036"/>
            <a:ext cx="5759040" cy="5759040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DC33C1CA-C01B-4F82-BE5A-93ADFD8D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5E800-0814-4CE4-9B9A-371749301B00}"/>
              </a:ext>
            </a:extLst>
          </p:cNvPr>
          <p:cNvSpPr txBox="1"/>
          <p:nvPr/>
        </p:nvSpPr>
        <p:spPr>
          <a:xfrm>
            <a:off x="6815265" y="6075144"/>
            <a:ext cx="4294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Матрицы ошибок кластеризации для параметра k.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16EB07-4157-444D-84DB-09027FC0571D}"/>
                  </a:ext>
                </a:extLst>
              </p:cNvPr>
              <p:cNvSpPr txBox="1"/>
              <p:nvPr/>
            </p:nvSpPr>
            <p:spPr>
              <a:xfrm>
                <a:off x="935601" y="1583130"/>
                <a:ext cx="492442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П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ри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малых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параметрах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= 2, 3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),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первые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2-3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кластера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считаются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плохо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различимыми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и с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большей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вероятностью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определяются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в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один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кластер</a:t>
                </a:r>
                <a:r>
                  <a:rPr lang="ru-RU" sz="24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что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приводит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неправильным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расчетам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параметра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последующих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кластеров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разработанном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алгоритме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16EB07-4157-444D-84DB-09027FC0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01" y="1583130"/>
                <a:ext cx="4924425" cy="3693319"/>
              </a:xfrm>
              <a:prstGeom prst="rect">
                <a:avLst/>
              </a:prstGeom>
              <a:blipFill>
                <a:blip r:embed="rId4"/>
                <a:stretch>
                  <a:fillRect l="-1856" t="-1320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86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40696C-9C1F-46A5-8C41-7012BC34D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7500"/>
                <a:ext cx="10515600" cy="45894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Преимущества: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Т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очность определения перехода свыше 85% при параметре 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не находящемся вблизи граничного значения.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Недостатки: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П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лохое разделение схожих кластеров, что переносит ошибки на дальнейшее определение возникновения фазового перехода.</a:t>
                </a:r>
              </a:p>
              <a:p>
                <a:r>
                  <a:rPr lang="ru-RU" sz="2400" spc="-5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Н</a:t>
                </a:r>
                <a:r>
                  <a:rPr lang="ru-RU" sz="2400" spc="-5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е масштабируемость алгоритма к изменению топологии кластеров во входных данных.</a:t>
                </a: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40696C-9C1F-46A5-8C41-7012BC34D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7500"/>
                <a:ext cx="10515600" cy="4589463"/>
              </a:xfrm>
              <a:blipFill>
                <a:blip r:embed="rId3"/>
                <a:stretch>
                  <a:fillRect l="-928" t="-1859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3B5890-50BD-4126-978D-BF9572AD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86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0696C-9C1F-46A5-8C41-7012BC34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894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обзор библиотек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Graph-tool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python-tsp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Concorde TSP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CuPy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качестве потенциальных аналогов предоставляющих инструменты для решения поставленной задачи.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следующие критерии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сравнения рассмотренных аналогов: тип решаемой задачи, применяемые алгоритмы, ограничения на размеры данных, уровень масштабируемости.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сравнения было выявлено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ни один из рассмотренных аналогов не предоставляет инструментов для прямого решения проблемы определения фазового перехода и определен наиболее универсальный аналог – библиотека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CuPy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Выявлена математическая зависимость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𝑘 = −0.5𝑟 + 6, между k - параметром влияющим на различие между кластерами в матрице весов и r - количеством кластеров.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и исследован алгоритм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 фазового перехода, являющийся прямым решением проблемы.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3B5890-50BD-4126-978D-BF9572AD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7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BF322-C90C-4965-ACD7-D8462BB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Дальнейшие направления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0696C-9C1F-46A5-8C41-7012BC34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501"/>
            <a:ext cx="10515600" cy="359795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способов предобработки данных и/или метода кластеризации.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 кластеризации с городов на пути между городами.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 вычислений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библиотеки до поддержки определения различных фазовых переходов как в задаче коммивояжера, так и в других задачах класса NP.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F9F295-1510-433E-A340-FE1457F3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AAD0-7D35-4125-8790-2FF391B8BBD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2023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1888</Words>
  <Application>Microsoft Office PowerPoint</Application>
  <PresentationFormat>Широкоэкранный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Symbol</vt:lpstr>
      <vt:lpstr>Times New Roman</vt:lpstr>
      <vt:lpstr>Тема Office</vt:lpstr>
      <vt:lpstr>Определение фазового перехода в NP-трудной задаче коммивояжера</vt:lpstr>
      <vt:lpstr>Цель и задачи</vt:lpstr>
      <vt:lpstr>Задача коммивояжера</vt:lpstr>
      <vt:lpstr>Описание фазового перехода</vt:lpstr>
      <vt:lpstr>Сравнение аналогов</vt:lpstr>
      <vt:lpstr>Фазовый переход</vt:lpstr>
      <vt:lpstr>Описание решения</vt:lpstr>
      <vt:lpstr>Исследование решения</vt:lpstr>
      <vt:lpstr>Исследование решения</vt:lpstr>
      <vt:lpstr>Исследование решения</vt:lpstr>
      <vt:lpstr>Заключение</vt:lpstr>
      <vt:lpstr>Дальнейшие направления исследования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фазового перехода в NP-трудной задаче коммивояжера</dc:title>
  <dc:creator>Pavel</dc:creator>
  <cp:lastModifiedBy>Pavel</cp:lastModifiedBy>
  <cp:revision>39</cp:revision>
  <dcterms:created xsi:type="dcterms:W3CDTF">2025-01-13T08:28:05Z</dcterms:created>
  <dcterms:modified xsi:type="dcterms:W3CDTF">2025-01-29T16:04:23Z</dcterms:modified>
</cp:coreProperties>
</file>