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93" r:id="rId6"/>
    <p:sldId id="295" r:id="rId7"/>
    <p:sldId id="294" r:id="rId8"/>
    <p:sldId id="296" r:id="rId9"/>
    <p:sldId id="297" r:id="rId10"/>
    <p:sldId id="298" r:id="rId11"/>
    <p:sldId id="299" r:id="rId12"/>
    <p:sldId id="301" r:id="rId13"/>
    <p:sldId id="302" r:id="rId14"/>
    <p:sldId id="300" r:id="rId15"/>
    <p:sldId id="292" r:id="rId16"/>
    <p:sldId id="303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vel" initials="P" lastIdx="3" clrIdx="0">
    <p:extLst>
      <p:ext uri="{19B8F6BF-5375-455C-9EA6-DF929625EA0E}">
        <p15:presenceInfo xmlns:p15="http://schemas.microsoft.com/office/powerpoint/2012/main" userId="Pave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94660"/>
  </p:normalViewPr>
  <p:slideViewPr>
    <p:cSldViewPr snapToGrid="0">
      <p:cViewPr varScale="1">
        <p:scale>
          <a:sx n="50" d="100"/>
          <a:sy n="50" d="100"/>
        </p:scale>
        <p:origin x="912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23AFBF-CE0F-4FDC-A50F-1E6786B98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F9A4974-D12B-4A2E-9FC5-2376FF0345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04E3C9-1AB9-4CAD-9721-6A67E731D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25.11.2024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BE009D-33FE-4987-AA70-1977C558C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F81F69-28F3-426E-B47E-ED8504968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4535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355C58-68B3-457A-AD0F-536560605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B177E9-8A7E-4F97-8895-BD7EBE9B8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A27836-49EC-4BC7-8521-475E5B683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25.11.2024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5E70F1-67F1-4E66-86C7-67F652EAC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6F1A38-EE80-49F0-987E-F0F898D61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693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4704AE-A581-4481-AF9F-5065EDA0D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C767F1-6106-41A8-BBA7-2E54357B1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B2C095-5923-44D9-8375-DF543EB8D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25.11.2024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849FB6-C7E7-4E98-A248-16B66709B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AD41D5-D56C-4755-95E5-24556AB0D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5085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49AF86-1AC8-48F3-B64B-8CB3D0D3D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E34B0D-AED3-497B-88E6-4AB94D937C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B51B7AC-228E-4A0F-B675-EDEC77026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507ACD-32AF-4641-9931-0CEC5B939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25.11.2024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30E5BAD-6829-4D02-8E1C-9904C2A45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FAD800-2FD8-41E0-BFD0-16A66C09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027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D9F620-57CD-438D-B079-979888DB5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4AC821-384A-4127-BA7F-1A4F779F6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D23798-43C8-4184-94F6-69DE603F2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4261B00-4BC6-4ED1-9404-9FC2DDCD41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F6D291-32AE-4D57-8D6F-79ADB64AE6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1938F56-FC47-42DF-A718-380B78D2A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25.11.2024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E7828FA-594F-4A3B-9D5E-4BE89B21F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99F32D0-5958-49DC-B086-64DC33070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6412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2CFD11-5533-431B-BB9C-DC756EC98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BBEC173-B140-4AEF-9B28-59C7527B7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25.11.2024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F96C05-F665-4BFF-9CC1-199F264EC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49BF359-2EDF-42D8-A1B2-B56FE3F95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6766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F493A31-0FB8-4606-921C-A845D807B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25.11.2024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6268833-4D33-4938-B6EB-9F7936071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8BA733-C82D-4858-8E82-49099BFCE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8676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FA6E2F-B152-468F-B133-897EBAA4D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1C32B8-DAFD-4A69-B23C-095DD238D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9B3F6F-E07F-4B7D-97A1-BD23E9AEF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C5B1BA-1FA8-4E45-B34D-2F2FCD71B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25.11.2024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CED8DC-E5CC-4C5D-9A4D-0C3CD426B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19894B8-E25C-4F99-8298-ABB655D00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189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3F0EC8-AF8B-411F-9200-F20764C43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9415AD3-FF13-4346-9ED1-5D69544F4D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4C68469-7965-4BEB-8216-DEDE633F2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D35D07-A440-4FC8-8FCB-E277721A1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25.11.2024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A741E10-D840-4B13-B315-3E1A74442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D57768-CF33-4D2C-9A9F-2403D656F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5188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8A7A1-B728-424B-ABE6-FBA9C74F4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023F10F-191D-4512-AAAF-C22B1BDA0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94F16C-EB3D-4389-B986-E894A1596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25.11.2024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621694-5618-453C-AE98-F6D92EB47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783810-582C-4A3E-94BA-B6D0CCEC9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522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3F10DC7-0688-4047-AA86-CE7B45578D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74FB343-202F-4593-83F4-A4B3FCCE2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B289BA-6EF8-4ED6-961F-1BE53CEE1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25.11.2024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F80A3E-28D9-4A30-A795-2867B173F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5E20E1-BD6B-43BC-9EBA-27526D901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7639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930E19-BB71-42B8-8024-224453EFD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7E83FB-5891-4B25-B092-0D1A10513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54FF24-2B92-42A7-A673-791231C02E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40517-DC0E-4BAD-8F7F-A522B7E4D527}" type="datetimeFigureOut">
              <a:rPr lang="ru-RU" smtClean="0"/>
              <a:t>25.11.2024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B7697A-BB49-4074-97AB-3CDE909227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AE6088-B204-4951-86B3-C730E86D6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4752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978001-CFCF-44AF-8433-C8B589518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09721"/>
            <a:ext cx="9144000" cy="1466850"/>
          </a:xfrm>
        </p:spPr>
        <p:txBody>
          <a:bodyPr>
            <a:normAutofit fontScale="90000"/>
          </a:bodyPr>
          <a:lstStyle/>
          <a:p>
            <a:r>
              <a:rPr lang="ru-RU" sz="4800" dirty="0"/>
              <a:t>Лабораторная работа № 6</a:t>
            </a:r>
            <a:br>
              <a:rPr lang="ru-RU" sz="4800" dirty="0"/>
            </a:br>
            <a:r>
              <a:rPr lang="ru-RU" sz="4800" dirty="0"/>
              <a:t>Изучение алгоритмов хеширования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8704093-D235-4F3F-A286-87160F482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57794"/>
            <a:ext cx="9144000" cy="960437"/>
          </a:xfrm>
        </p:spPr>
        <p:txBody>
          <a:bodyPr/>
          <a:lstStyle/>
          <a:p>
            <a:r>
              <a:rPr lang="ru-RU" dirty="0"/>
              <a:t>Санкт-Петербургский государственный электротехнический</a:t>
            </a:r>
          </a:p>
          <a:p>
            <a:r>
              <a:rPr lang="ru-RU" dirty="0"/>
              <a:t>университет «ЛЭТИ» им. В.И. Ульянова (Ленина)</a:t>
            </a: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1E0D34-0FC3-4E42-8F7E-0F0D642E0F4D}"/>
              </a:ext>
            </a:extLst>
          </p:cNvPr>
          <p:cNvSpPr txBox="1"/>
          <p:nvPr/>
        </p:nvSpPr>
        <p:spPr>
          <a:xfrm>
            <a:off x="2971800" y="605369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Санкт-Петербург 2024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199C7E9C-E7CA-4D8B-9071-7FC1B19A7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817180"/>
              </p:ext>
            </p:extLst>
          </p:nvPr>
        </p:nvGraphicFramePr>
        <p:xfrm>
          <a:off x="2133600" y="4268061"/>
          <a:ext cx="8534399" cy="1394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799">
                  <a:extLst>
                    <a:ext uri="{9D8B030D-6E8A-4147-A177-3AD203B41FA5}">
                      <a16:colId xmlns:a16="http://schemas.microsoft.com/office/drawing/2014/main" val="267774290"/>
                    </a:ext>
                  </a:extLst>
                </a:gridCol>
                <a:gridCol w="2570480">
                  <a:extLst>
                    <a:ext uri="{9D8B030D-6E8A-4147-A177-3AD203B41FA5}">
                      <a16:colId xmlns:a16="http://schemas.microsoft.com/office/drawing/2014/main" val="4293870335"/>
                    </a:ext>
                  </a:extLst>
                </a:gridCol>
                <a:gridCol w="4135120">
                  <a:extLst>
                    <a:ext uri="{9D8B030D-6E8A-4147-A177-3AD203B41FA5}">
                      <a16:colId xmlns:a16="http://schemas.microsoft.com/office/drawing/2014/main" val="873450627"/>
                    </a:ext>
                  </a:extLst>
                </a:gridCol>
              </a:tblGrid>
              <a:tr h="674912">
                <a:tc>
                  <a:txBody>
                    <a:bodyPr/>
                    <a:lstStyle/>
                    <a:p>
                      <a:pPr algn="r"/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Студент: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____________________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Шаврин Алексей Павлович, группа 1304</a:t>
                      </a:r>
                    </a:p>
                    <a:p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76354"/>
                  </a:ext>
                </a:extLst>
              </a:tr>
              <a:tr h="719804">
                <a:tc>
                  <a:txBody>
                    <a:bodyPr/>
                    <a:lstStyle/>
                    <a:p>
                      <a:pPr algn="r"/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Руководитель: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____________________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Племянников А.К., доцент каф. ИБ</a:t>
                      </a:r>
                    </a:p>
                    <a:p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478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0067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45F232-97FE-483C-850C-C83DA0484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работы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FD1A0A-E71E-4AFA-B0B1-63C671E52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b="1" dirty="0"/>
              <a:t>Цель: </a:t>
            </a:r>
            <a:r>
              <a:rPr lang="ru-RU" dirty="0"/>
              <a:t>Повышение своей компетенции при работе с алгоритмами хеширования</a:t>
            </a:r>
            <a:r>
              <a:rPr lang="en-US" dirty="0"/>
              <a:t>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b="1" dirty="0"/>
              <a:t>Задачи: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Оценить лавинный эффект хеш-функций </a:t>
            </a:r>
            <a:r>
              <a:rPr lang="en-US" dirty="0"/>
              <a:t>MD5, SHA-1, SHA-256, SHA-512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Изучить алгоритм работы функции перестановок </a:t>
            </a:r>
            <a:r>
              <a:rPr lang="ru-RU" dirty="0" err="1"/>
              <a:t>Keccak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Изучить алгоритм работы функции диверсификации ключа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Изучить  алгоритм  вычисления код аутентификации сообщения HMAC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effectLst/>
              </a:rPr>
              <a:t>Провести атаку дополнительной коллизии  на хэш-функцию </a:t>
            </a:r>
            <a:r>
              <a:rPr lang="ru-RU" b="1" dirty="0">
                <a:effectLst/>
              </a:rPr>
              <a:t> </a:t>
            </a:r>
            <a:r>
              <a:rPr lang="ru-RU" dirty="0">
                <a:effectLst/>
              </a:rPr>
              <a:t>MD-5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6781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708AC-B2A6-4161-8C4D-87B23B66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825" y="2766218"/>
            <a:ext cx="6610350" cy="1325563"/>
          </a:xfrm>
        </p:spPr>
        <p:txBody>
          <a:bodyPr/>
          <a:lstStyle/>
          <a:p>
            <a:pPr algn="ctr"/>
            <a:r>
              <a:rPr lang="ru-RU" dirty="0"/>
              <a:t>Оценка лавинного эффекта хеш-функций</a:t>
            </a:r>
          </a:p>
        </p:txBody>
      </p:sp>
    </p:spTree>
    <p:extLst>
      <p:ext uri="{BB962C8B-B14F-4D97-AF65-F5344CB8AC3E}">
        <p14:creationId xmlns:p14="http://schemas.microsoft.com/office/powerpoint/2010/main" val="685835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268DE2-3F27-4F0B-8381-7ADD7C61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6" y="561975"/>
            <a:ext cx="10039350" cy="733425"/>
          </a:xfrm>
        </p:spPr>
        <p:txBody>
          <a:bodyPr>
            <a:normAutofit/>
          </a:bodyPr>
          <a:lstStyle/>
          <a:p>
            <a:r>
              <a:rPr lang="ru-RU" sz="4000" dirty="0"/>
              <a:t>Шаблонная схема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2682A96-4E68-48A1-9AFB-7E98B9593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155" y="1870838"/>
            <a:ext cx="11059689" cy="331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93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268DE2-3F27-4F0B-8381-7ADD7C61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48" y="485775"/>
            <a:ext cx="10039350" cy="733425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Таблица с величиной лавинного эффекта в %%</a:t>
            </a:r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01505E35-B4F8-45A7-B210-465E61FE5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794245"/>
              </p:ext>
            </p:extLst>
          </p:nvPr>
        </p:nvGraphicFramePr>
        <p:xfrm>
          <a:off x="1609724" y="2076450"/>
          <a:ext cx="8972552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3138">
                  <a:extLst>
                    <a:ext uri="{9D8B030D-6E8A-4147-A177-3AD203B41FA5}">
                      <a16:colId xmlns:a16="http://schemas.microsoft.com/office/drawing/2014/main" val="2870959273"/>
                    </a:ext>
                  </a:extLst>
                </a:gridCol>
                <a:gridCol w="2243138">
                  <a:extLst>
                    <a:ext uri="{9D8B030D-6E8A-4147-A177-3AD203B41FA5}">
                      <a16:colId xmlns:a16="http://schemas.microsoft.com/office/drawing/2014/main" val="3860968873"/>
                    </a:ext>
                  </a:extLst>
                </a:gridCol>
                <a:gridCol w="2243138">
                  <a:extLst>
                    <a:ext uri="{9D8B030D-6E8A-4147-A177-3AD203B41FA5}">
                      <a16:colId xmlns:a16="http://schemas.microsoft.com/office/drawing/2014/main" val="3277422436"/>
                    </a:ext>
                  </a:extLst>
                </a:gridCol>
                <a:gridCol w="2243138">
                  <a:extLst>
                    <a:ext uri="{9D8B030D-6E8A-4147-A177-3AD203B41FA5}">
                      <a16:colId xmlns:a16="http://schemas.microsoft.com/office/drawing/2014/main" val="3073475856"/>
                    </a:ext>
                  </a:extLst>
                </a:gridCol>
              </a:tblGrid>
              <a:tr h="676275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Хеш-функция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Удаление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Добавление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Изменение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760154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MD5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50.8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54.9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46.6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0913347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SHA-1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50.2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50.6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50.8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457815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SHA-256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50.7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51.9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49.3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1425899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SHA-512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50.4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49.6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51.8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8949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1735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708AC-B2A6-4161-8C4D-87B23B66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825" y="2766218"/>
            <a:ext cx="661035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Изучение алгоритма работы функции перестановок </a:t>
            </a:r>
            <a:r>
              <a:rPr lang="ru-RU" dirty="0" err="1"/>
              <a:t>Keccak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819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FA4210-B10C-448F-AFB5-07CB0BB2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076" y="-171450"/>
            <a:ext cx="10515600" cy="1325563"/>
          </a:xfrm>
        </p:spPr>
        <p:txBody>
          <a:bodyPr/>
          <a:lstStyle/>
          <a:p>
            <a:r>
              <a:rPr lang="ru-RU" dirty="0"/>
              <a:t>Преобразования первого раунда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277EA4-EB3F-4D2F-AF24-4BD46AD49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957113"/>
            <a:ext cx="3999282" cy="279573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64FFE73-B748-45C2-8F25-AB3C17D96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283" y="957113"/>
            <a:ext cx="4108022" cy="279573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338BE5F-613A-40C1-B97E-8A55BF0727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7306" y="957113"/>
            <a:ext cx="4096226" cy="279573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ACD92E8-6015-4D0C-A9D8-1B3BF0F797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367" y="3752850"/>
            <a:ext cx="4509038" cy="310515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8ACD6D6-22F1-4F45-ADEA-5A3EC2805FD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178"/>
          <a:stretch/>
        </p:blipFill>
        <p:spPr>
          <a:xfrm>
            <a:off x="5575405" y="3752850"/>
            <a:ext cx="4597295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633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FA4210-B10C-448F-AFB5-07CB0BB24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</a:t>
            </a:r>
            <a:r>
              <a:rPr lang="ru-RU" sz="4400" dirty="0"/>
              <a:t>еличина лавинного эффекта в %%.</a:t>
            </a:r>
            <a:endParaRPr lang="ru-RU" dirty="0"/>
          </a:p>
        </p:txBody>
      </p:sp>
      <p:graphicFrame>
        <p:nvGraphicFramePr>
          <p:cNvPr id="8" name="Таблица 3">
            <a:extLst>
              <a:ext uri="{FF2B5EF4-FFF2-40B4-BE49-F238E27FC236}">
                <a16:creationId xmlns:a16="http://schemas.microsoft.com/office/drawing/2014/main" id="{DCD73E18-3F94-478D-8042-5CA40C0EF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238079"/>
              </p:ext>
            </p:extLst>
          </p:nvPr>
        </p:nvGraphicFramePr>
        <p:xfrm>
          <a:off x="1609724" y="1847850"/>
          <a:ext cx="8972552" cy="4057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3138">
                  <a:extLst>
                    <a:ext uri="{9D8B030D-6E8A-4147-A177-3AD203B41FA5}">
                      <a16:colId xmlns:a16="http://schemas.microsoft.com/office/drawing/2014/main" val="2870959273"/>
                    </a:ext>
                  </a:extLst>
                </a:gridCol>
                <a:gridCol w="2243138">
                  <a:extLst>
                    <a:ext uri="{9D8B030D-6E8A-4147-A177-3AD203B41FA5}">
                      <a16:colId xmlns:a16="http://schemas.microsoft.com/office/drawing/2014/main" val="3860968873"/>
                    </a:ext>
                  </a:extLst>
                </a:gridCol>
                <a:gridCol w="2243138">
                  <a:extLst>
                    <a:ext uri="{9D8B030D-6E8A-4147-A177-3AD203B41FA5}">
                      <a16:colId xmlns:a16="http://schemas.microsoft.com/office/drawing/2014/main" val="3277422436"/>
                    </a:ext>
                  </a:extLst>
                </a:gridCol>
                <a:gridCol w="2243138">
                  <a:extLst>
                    <a:ext uri="{9D8B030D-6E8A-4147-A177-3AD203B41FA5}">
                      <a16:colId xmlns:a16="http://schemas.microsoft.com/office/drawing/2014/main" val="3073475856"/>
                    </a:ext>
                  </a:extLst>
                </a:gridCol>
              </a:tblGrid>
              <a:tr h="676275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Хеш-функция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Удаление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Добавление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Изменение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760154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MD5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50.8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54.9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46.6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0913347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SHA-1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50.2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50.6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50.8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457815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SHA-256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50.7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51.9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49.3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1425899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SHA-512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50.4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49.6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51.8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8949771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Keccak</a:t>
                      </a:r>
                      <a:endParaRPr lang="ru-RU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46.3</a:t>
                      </a:r>
                      <a:endParaRPr lang="ru-RU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48.7</a:t>
                      </a:r>
                      <a:endParaRPr lang="ru-RU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49.2</a:t>
                      </a:r>
                      <a:endParaRPr lang="ru-RU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302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4415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708AC-B2A6-4161-8C4D-87B23B66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0274" y="2419350"/>
            <a:ext cx="8429625" cy="1672431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Изучение алгоритма работы функции диверсификации ключа </a:t>
            </a:r>
          </a:p>
        </p:txBody>
      </p:sp>
    </p:spTree>
    <p:extLst>
      <p:ext uri="{BB962C8B-B14F-4D97-AF65-F5344CB8AC3E}">
        <p14:creationId xmlns:p14="http://schemas.microsoft.com/office/powerpoint/2010/main" val="3904016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40786A-4962-4708-96CB-C6614C67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алгоритма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67EC7C5-94C6-4C69-91C6-61241BA557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379" y="1690688"/>
            <a:ext cx="2536942" cy="4351338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1ECC2DF-5681-4B2B-A295-653AE84DD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2517218"/>
            <a:ext cx="7475479" cy="269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614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708AC-B2A6-4161-8C4D-87B23B66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824" y="2419350"/>
            <a:ext cx="9058275" cy="1672431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Изучение алгоритма вычисления кода аутентификации сообщения HMAC</a:t>
            </a:r>
          </a:p>
        </p:txBody>
      </p:sp>
    </p:spTree>
    <p:extLst>
      <p:ext uri="{BB962C8B-B14F-4D97-AF65-F5344CB8AC3E}">
        <p14:creationId xmlns:p14="http://schemas.microsoft.com/office/powerpoint/2010/main" val="152234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40786A-4962-4708-96CB-C6614C67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алгоритма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3CDCBD4-95BB-408B-A179-B28E046984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2864064" cy="4351338"/>
          </a:xfrm>
        </p:spPr>
      </p:pic>
    </p:spTree>
    <p:extLst>
      <p:ext uri="{BB962C8B-B14F-4D97-AF65-F5344CB8AC3E}">
        <p14:creationId xmlns:p14="http://schemas.microsoft.com/office/powerpoint/2010/main" val="2728845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708AC-B2A6-4161-8C4D-87B23B66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824" y="2419350"/>
            <a:ext cx="9058275" cy="1672431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Проведение а</a:t>
            </a:r>
            <a:r>
              <a:rPr lang="ru-RU" dirty="0">
                <a:effectLst/>
              </a:rPr>
              <a:t>таки дополнительной коллизии  на хэш-функцию </a:t>
            </a:r>
            <a:r>
              <a:rPr lang="ru-RU" b="1" dirty="0">
                <a:effectLst/>
              </a:rPr>
              <a:t> </a:t>
            </a:r>
            <a:r>
              <a:rPr lang="ru-RU" dirty="0">
                <a:effectLst/>
              </a:rPr>
              <a:t>MD-5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9220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03096E-4882-4EA4-8B51-91C8D3671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Т</a:t>
            </a:r>
            <a:r>
              <a:rPr lang="ru-RU" dirty="0">
                <a:effectLst/>
              </a:rPr>
              <a:t>аблица  с оценками сложности проведения атаки </a:t>
            </a: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9CEB9879-7943-4AE0-BFE7-F4AED0682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20027"/>
              </p:ext>
            </p:extLst>
          </p:nvPr>
        </p:nvGraphicFramePr>
        <p:xfrm>
          <a:off x="1346199" y="2062691"/>
          <a:ext cx="9521824" cy="4023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0456">
                  <a:extLst>
                    <a:ext uri="{9D8B030D-6E8A-4147-A177-3AD203B41FA5}">
                      <a16:colId xmlns:a16="http://schemas.microsoft.com/office/drawing/2014/main" val="3350750162"/>
                    </a:ext>
                  </a:extLst>
                </a:gridCol>
                <a:gridCol w="2380456">
                  <a:extLst>
                    <a:ext uri="{9D8B030D-6E8A-4147-A177-3AD203B41FA5}">
                      <a16:colId xmlns:a16="http://schemas.microsoft.com/office/drawing/2014/main" val="288577300"/>
                    </a:ext>
                  </a:extLst>
                </a:gridCol>
                <a:gridCol w="2380456">
                  <a:extLst>
                    <a:ext uri="{9D8B030D-6E8A-4147-A177-3AD203B41FA5}">
                      <a16:colId xmlns:a16="http://schemas.microsoft.com/office/drawing/2014/main" val="1261213298"/>
                    </a:ext>
                  </a:extLst>
                </a:gridCol>
                <a:gridCol w="2380456">
                  <a:extLst>
                    <a:ext uri="{9D8B030D-6E8A-4147-A177-3AD203B41FA5}">
                      <a16:colId xmlns:a16="http://schemas.microsoft.com/office/drawing/2014/main" val="3165522313"/>
                    </a:ext>
                  </a:extLst>
                </a:gridCol>
              </a:tblGrid>
              <a:tr h="140322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Кол-во бит совпадающих частей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Время атаки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Кол-во бит совпадающих частей</a:t>
                      </a:r>
                    </a:p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Время атаки</a:t>
                      </a:r>
                    </a:p>
                    <a:p>
                      <a:pPr algn="ctr"/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2920279"/>
                  </a:ext>
                </a:extLst>
              </a:tr>
              <a:tr h="437759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9мин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5615218"/>
                  </a:ext>
                </a:extLst>
              </a:tr>
              <a:tr h="437759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2.5ч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7509788"/>
                  </a:ext>
                </a:extLst>
              </a:tr>
              <a:tr h="437759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0.06с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1.7д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0749110"/>
                  </a:ext>
                </a:extLst>
              </a:tr>
              <a:tr h="437759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27.5д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693941"/>
                  </a:ext>
                </a:extLst>
              </a:tr>
              <a:tr h="437759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4.69с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1.2г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618941"/>
                  </a:ext>
                </a:extLst>
              </a:tr>
              <a:tr h="43176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35с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23г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075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454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17CDF10-2111-4846-B65F-3C9C513A4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844" y="1429543"/>
            <a:ext cx="11370311" cy="4961732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dirty="0">
                <a:effectLst/>
                <a:latin typeface="Arial" panose="020B0604020202020204" pitchFamily="34" charset="0"/>
              </a:rPr>
              <a:t>В ходе работы было выполнено: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effectLst/>
                <a:latin typeface="Arial" panose="020B0604020202020204" pitchFamily="34" charset="0"/>
              </a:rPr>
              <a:t>1. </a:t>
            </a:r>
            <a:r>
              <a:rPr lang="ru-RU" dirty="0">
                <a:effectLst/>
                <a:latin typeface="Arial" panose="020B0604020202020204" pitchFamily="34" charset="0"/>
              </a:rPr>
              <a:t>Исследован лавинный эффект хэш-функций MD5, SHA-1, SHA-256, SHA-512.</a:t>
            </a:r>
            <a:br>
              <a:rPr lang="ru-RU" dirty="0"/>
            </a:br>
            <a:r>
              <a:rPr lang="ru-RU" dirty="0">
                <a:effectLst/>
                <a:latin typeface="Arial" panose="020B0604020202020204" pitchFamily="34" charset="0"/>
              </a:rPr>
              <a:t>2. Изучен алгоритм работы функции перестановок </a:t>
            </a:r>
            <a:r>
              <a:rPr lang="ru-RU" dirty="0" err="1">
                <a:effectLst/>
                <a:latin typeface="Arial" panose="020B0604020202020204" pitchFamily="34" charset="0"/>
              </a:rPr>
              <a:t>Keccak</a:t>
            </a:r>
            <a:r>
              <a:rPr lang="ru-RU" dirty="0">
                <a:effectLst/>
                <a:latin typeface="Arial" panose="020B0604020202020204" pitchFamily="34" charset="0"/>
              </a:rPr>
              <a:t> и исследован лавинный эффект для него.</a:t>
            </a:r>
            <a:br>
              <a:rPr lang="ru-RU" dirty="0"/>
            </a:br>
            <a:r>
              <a:rPr lang="ru-RU" dirty="0">
                <a:effectLst/>
                <a:latin typeface="Arial" panose="020B0604020202020204" pitchFamily="34" charset="0"/>
              </a:rPr>
              <a:t>3. Изучен алгоритм работы функции диверсификации ключа PBKDF-1. Получен симметричный ключ из персонального пароля:</a:t>
            </a:r>
            <a:r>
              <a:rPr lang="en-US" dirty="0">
                <a:effectLst/>
                <a:latin typeface="Arial" panose="020B0604020202020204" pitchFamily="34" charset="0"/>
              </a:rPr>
              <a:t>Shavrin_Aleksei_Pavlovitch_18.01.2003</a:t>
            </a:r>
            <a:r>
              <a:rPr lang="ru-RU" dirty="0">
                <a:effectLst/>
                <a:latin typeface="Arial" panose="020B0604020202020204" pitchFamily="34" charset="0"/>
              </a:rPr>
              <a:t>: </a:t>
            </a:r>
            <a:r>
              <a:rPr lang="en-US" dirty="0">
                <a:effectLst/>
                <a:latin typeface="Arial" panose="020B0604020202020204" pitchFamily="34" charset="0"/>
              </a:rPr>
              <a:t>D4 87 41 C7 17 85 3A 56 46 E5 76 6A 0E 21 05 66 65 6F F4 </a:t>
            </a:r>
            <a:r>
              <a:rPr lang="en-US" dirty="0" err="1">
                <a:effectLst/>
                <a:latin typeface="Arial" panose="020B0604020202020204" pitchFamily="34" charset="0"/>
              </a:rPr>
              <a:t>F4</a:t>
            </a:r>
            <a:br>
              <a:rPr lang="ru-RU" dirty="0"/>
            </a:br>
            <a:r>
              <a:rPr lang="ru-RU" dirty="0">
                <a:effectLst/>
                <a:latin typeface="Arial" panose="020B0604020202020204" pitchFamily="34" charset="0"/>
              </a:rPr>
              <a:t>4. Изучен алгоритм вычисления кода аутентификации сообщения HMAC. В качестве ключа использовался симметричный ключ полученный в п.3. </a:t>
            </a:r>
            <a:br>
              <a:rPr lang="ru-RU" dirty="0"/>
            </a:br>
            <a:r>
              <a:rPr lang="ru-RU" dirty="0">
                <a:effectLst/>
                <a:latin typeface="Arial" panose="020B0604020202020204" pitchFamily="34" charset="0"/>
              </a:rPr>
              <a:t>5. Проведена атака дополнительной коллизии на хэш-функцию MD-5 и оценено время атаки в зависимости от количества совпадающих бит дайджестов.</a:t>
            </a:r>
            <a:endParaRPr lang="ru-RU" dirty="0"/>
          </a:p>
          <a:p>
            <a:pPr marL="0" indent="0">
              <a:lnSpc>
                <a:spcPct val="120000"/>
              </a:lnSpc>
              <a:buNone/>
            </a:pPr>
            <a:r>
              <a:rPr lang="ru-RU" dirty="0">
                <a:effectLst/>
                <a:latin typeface="Arial" panose="020B0604020202020204" pitchFamily="34" charset="0"/>
              </a:rPr>
              <a:t>Получены практические навыки работы с хеш-функциями и алгоритмом атаки дополнительной коллизии, в том числе с использованием приложения </a:t>
            </a:r>
            <a:r>
              <a:rPr lang="ru-RU" dirty="0" err="1">
                <a:effectLst/>
                <a:latin typeface="Arial" panose="020B0604020202020204" pitchFamily="34" charset="0"/>
              </a:rPr>
              <a:t>CrypTool</a:t>
            </a:r>
            <a:r>
              <a:rPr lang="ru-RU" dirty="0">
                <a:effectLst/>
                <a:latin typeface="Arial" panose="020B0604020202020204" pitchFamily="34" charset="0"/>
              </a:rPr>
              <a:t> 1 и 2.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AC7E2FB-D405-4079-A8EB-D55AD4341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2769" y="304800"/>
            <a:ext cx="5986462" cy="800893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Заключение по работе.</a:t>
            </a:r>
          </a:p>
        </p:txBody>
      </p:sp>
    </p:spTree>
    <p:extLst>
      <p:ext uri="{BB962C8B-B14F-4D97-AF65-F5344CB8AC3E}">
        <p14:creationId xmlns:p14="http://schemas.microsoft.com/office/powerpoint/2010/main" val="3643814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0F9ECA-BC1A-4C77-B033-4F50EB4C9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6825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Спасибо за внимание!</a:t>
            </a:r>
            <a:br>
              <a:rPr lang="ru-RU" dirty="0"/>
            </a:br>
            <a:r>
              <a:rPr lang="ru-RU" dirty="0"/>
              <a:t>Готов ответить на Ваши вопросы.</a:t>
            </a:r>
          </a:p>
        </p:txBody>
      </p:sp>
    </p:spTree>
    <p:extLst>
      <p:ext uri="{BB962C8B-B14F-4D97-AF65-F5344CB8AC3E}">
        <p14:creationId xmlns:p14="http://schemas.microsoft.com/office/powerpoint/2010/main" val="34704655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3614</TotalTime>
  <Words>403</Words>
  <Application>Microsoft Office PowerPoint</Application>
  <PresentationFormat>Широкоэкранный</PresentationFormat>
  <Paragraphs>107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Тема Office</vt:lpstr>
      <vt:lpstr>Лабораторная работа № 6 Изучение алгоритмов хеширования</vt:lpstr>
      <vt:lpstr>Цель работы.</vt:lpstr>
      <vt:lpstr>Оценка лавинного эффекта хеш-функций</vt:lpstr>
      <vt:lpstr>Шаблонная схема</vt:lpstr>
      <vt:lpstr>Таблица с величиной лавинного эффекта в %%</vt:lpstr>
      <vt:lpstr>Изучение алгоритма работы функции перестановок Keccak</vt:lpstr>
      <vt:lpstr>Преобразования первого раунда</vt:lpstr>
      <vt:lpstr>Величина лавинного эффекта в %%.</vt:lpstr>
      <vt:lpstr>Изучение алгоритма работы функции диверсификации ключа </vt:lpstr>
      <vt:lpstr>Схема алгоритма</vt:lpstr>
      <vt:lpstr>Изучение алгоритма вычисления кода аутентификации сообщения HMAC</vt:lpstr>
      <vt:lpstr>Схема алгоритма</vt:lpstr>
      <vt:lpstr>Проведение атаки дополнительной коллизии  на хэш-функцию  MD-5</vt:lpstr>
      <vt:lpstr>Таблица  с оценками сложности проведения атаки </vt:lpstr>
      <vt:lpstr>Заключение по работе.</vt:lpstr>
      <vt:lpstr>Спасибо за внимание! Готов ответить на Ваши вопросы.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 1 Изучение классических шифров</dc:title>
  <dc:creator>Pavel</dc:creator>
  <cp:lastModifiedBy>Pavel</cp:lastModifiedBy>
  <cp:revision>169</cp:revision>
  <dcterms:created xsi:type="dcterms:W3CDTF">2024-09-10T08:56:48Z</dcterms:created>
  <dcterms:modified xsi:type="dcterms:W3CDTF">2024-11-25T17:55:05Z</dcterms:modified>
</cp:coreProperties>
</file>