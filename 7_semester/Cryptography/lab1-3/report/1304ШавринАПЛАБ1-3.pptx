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93" r:id="rId7"/>
    <p:sldId id="263" r:id="rId8"/>
    <p:sldId id="264" r:id="rId9"/>
    <p:sldId id="265" r:id="rId10"/>
    <p:sldId id="294" r:id="rId11"/>
    <p:sldId id="272" r:id="rId12"/>
    <p:sldId id="273" r:id="rId13"/>
    <p:sldId id="274" r:id="rId14"/>
    <p:sldId id="295" r:id="rId15"/>
    <p:sldId id="276" r:id="rId16"/>
    <p:sldId id="277" r:id="rId17"/>
    <p:sldId id="278" r:id="rId18"/>
    <p:sldId id="296" r:id="rId19"/>
    <p:sldId id="280" r:id="rId20"/>
    <p:sldId id="281" r:id="rId21"/>
    <p:sldId id="282" r:id="rId22"/>
    <p:sldId id="297" r:id="rId23"/>
    <p:sldId id="284" r:id="rId24"/>
    <p:sldId id="285" r:id="rId25"/>
    <p:sldId id="286" r:id="rId26"/>
    <p:sldId id="299" r:id="rId27"/>
    <p:sldId id="288" r:id="rId28"/>
    <p:sldId id="289" r:id="rId29"/>
    <p:sldId id="290" r:id="rId30"/>
    <p:sldId id="298" r:id="rId31"/>
    <p:sldId id="292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el" initials="P" lastIdx="1" clrIdx="0">
    <p:extLst>
      <p:ext uri="{19B8F6BF-5375-455C-9EA6-DF929625EA0E}">
        <p15:presenceInfo xmlns:p15="http://schemas.microsoft.com/office/powerpoint/2012/main" userId="Pav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3AFBF-CE0F-4FDC-A50F-1E6786B98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9A4974-D12B-4A2E-9FC5-2376FF034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04E3C9-1AB9-4CAD-9721-6A67E731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21.09.2024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BE009D-33FE-4987-AA70-1977C558C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F81F69-28F3-426E-B47E-ED850496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535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55C58-68B3-457A-AD0F-536560605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B177E9-8A7E-4F97-8895-BD7EBE9B8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A27836-49EC-4BC7-8521-475E5B683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21.09.2024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5E70F1-67F1-4E66-86C7-67F652EAC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6F1A38-EE80-49F0-987E-F0F898D6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5693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4704AE-A581-4481-AF9F-5065EDA0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C767F1-6106-41A8-BBA7-2E54357B1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B2C095-5923-44D9-8375-DF543EB8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21.09.2024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849FB6-C7E7-4E98-A248-16B66709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AD41D5-D56C-4755-95E5-24556AB0D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085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9AF86-1AC8-48F3-B64B-8CB3D0D3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E34B0D-AED3-497B-88E6-4AB94D937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51B7AC-228E-4A0F-B675-EDEC77026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507ACD-32AF-4641-9931-0CEC5B939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21.09.2024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30E5BAD-6829-4D02-8E1C-9904C2A45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FAD800-2FD8-41E0-BFD0-16A66C09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27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D9F620-57CD-438D-B079-979888DB5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4AC821-384A-4127-BA7F-1A4F779F6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D23798-43C8-4184-94F6-69DE603F2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261B00-4BC6-4ED1-9404-9FC2DDCD4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CF6D291-32AE-4D57-8D6F-79ADB64AE6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1938F56-FC47-42DF-A718-380B78D2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21.09.2024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E7828FA-594F-4A3B-9D5E-4BE89B21F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99F32D0-5958-49DC-B086-64DC33070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6412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CFD11-5533-431B-BB9C-DC756EC9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BBEC173-B140-4AEF-9B28-59C7527B7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21.09.2024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F96C05-F665-4BFF-9CC1-199F264E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49BF359-2EDF-42D8-A1B2-B56FE3F95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76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F493A31-0FB8-4606-921C-A845D807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21.09.2024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6268833-4D33-4938-B6EB-9F7936071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8BA733-C82D-4858-8E82-49099BFCE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676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A6E2F-B152-468F-B133-897EBAA4D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C32B8-DAFD-4A69-B23C-095DD238D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9B3F6F-E07F-4B7D-97A1-BD23E9AEF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C5B1BA-1FA8-4E45-B34D-2F2FCD71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21.09.2024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CED8DC-E5CC-4C5D-9A4D-0C3CD426B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19894B8-E25C-4F99-8298-ABB655D0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189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F0EC8-AF8B-411F-9200-F20764C43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9415AD3-FF13-4346-9ED1-5D69544F4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C68469-7965-4BEB-8216-DEDE633F2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D35D07-A440-4FC8-8FCB-E277721A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21.09.2024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A741E10-D840-4B13-B315-3E1A7444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D57768-CF33-4D2C-9A9F-2403D656F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18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8A7A1-B728-424B-ABE6-FBA9C74F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23F10F-191D-4512-AAAF-C22B1BDA0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94F16C-EB3D-4389-B986-E894A1596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21.09.2024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621694-5618-453C-AE98-F6D92EB47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783810-582C-4A3E-94BA-B6D0CCEC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522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F10DC7-0688-4047-AA86-CE7B45578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4FB343-202F-4593-83F4-A4B3FCCE2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B289BA-6EF8-4ED6-961F-1BE53CEE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0517-DC0E-4BAD-8F7F-A522B7E4D527}" type="datetimeFigureOut">
              <a:rPr lang="ru-RU" smtClean="0"/>
              <a:t>21.09.2024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F80A3E-28D9-4A30-A795-2867B173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5E20E1-BD6B-43BC-9EBA-27526D90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639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30E19-BB71-42B8-8024-224453EFD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7E83FB-5891-4B25-B092-0D1A10513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54FF24-2B92-42A7-A673-791231C02E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40517-DC0E-4BAD-8F7F-A522B7E4D527}" type="datetimeFigureOut">
              <a:rPr lang="ru-RU" smtClean="0"/>
              <a:t>21.09.2024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B7697A-BB49-4074-97AB-3CDE90922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AE6088-B204-4951-86B3-C730E86D6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70656-946A-4FB4-A04D-EDD89071B9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4752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78001-CFCF-44AF-8433-C8B589518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9721"/>
            <a:ext cx="9144000" cy="1466850"/>
          </a:xfrm>
        </p:spPr>
        <p:txBody>
          <a:bodyPr>
            <a:normAutofit/>
          </a:bodyPr>
          <a:lstStyle/>
          <a:p>
            <a:r>
              <a:rPr lang="ru-RU" sz="4800" dirty="0"/>
              <a:t>Лабораторная работа № 1</a:t>
            </a:r>
            <a:br>
              <a:rPr lang="ru-RU" sz="4800" dirty="0"/>
            </a:br>
            <a:r>
              <a:rPr lang="ru-RU" sz="4800" dirty="0"/>
              <a:t>Изучение классических шифров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8704093-D235-4F3F-A286-87160F482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57794"/>
            <a:ext cx="9144000" cy="960437"/>
          </a:xfrm>
        </p:spPr>
        <p:txBody>
          <a:bodyPr/>
          <a:lstStyle/>
          <a:p>
            <a:r>
              <a:rPr lang="ru-RU" dirty="0"/>
              <a:t>Санкт-Петербургский государственный электротехнический</a:t>
            </a:r>
          </a:p>
          <a:p>
            <a:r>
              <a:rPr lang="ru-RU" dirty="0"/>
              <a:t>университет «ЛЭТИ» им. В.И. Ульянова (Ленина)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76996-B2DA-4B13-BC6A-135E2D0F65C7}"/>
              </a:ext>
            </a:extLst>
          </p:cNvPr>
          <p:cNvSpPr txBox="1"/>
          <p:nvPr/>
        </p:nvSpPr>
        <p:spPr>
          <a:xfrm>
            <a:off x="2614612" y="4748279"/>
            <a:ext cx="6962775" cy="885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ru-RU" sz="2400" dirty="0"/>
              <a:t>Студент:</a:t>
            </a:r>
            <a:r>
              <a:rPr lang="en-US" sz="2400" dirty="0"/>
              <a:t> </a:t>
            </a:r>
            <a:r>
              <a:rPr lang="ru-RU" sz="2400" dirty="0"/>
              <a:t>Шаврин Алексей Павлович, группа 1304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ru-RU" sz="2400" dirty="0"/>
              <a:t>Руководитель: Племянников А.К., доцент каф. ИБ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E0D34-0FC3-4E42-8F7E-0F0D642E0F4D}"/>
              </a:ext>
            </a:extLst>
          </p:cNvPr>
          <p:cNvSpPr txBox="1"/>
          <p:nvPr/>
        </p:nvSpPr>
        <p:spPr>
          <a:xfrm>
            <a:off x="2971800" y="605369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Санкт-Петербург 2024</a:t>
            </a:r>
          </a:p>
        </p:txBody>
      </p:sp>
    </p:spTree>
    <p:extLst>
      <p:ext uri="{BB962C8B-B14F-4D97-AF65-F5344CB8AC3E}">
        <p14:creationId xmlns:p14="http://schemas.microsoft.com/office/powerpoint/2010/main" val="2740067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5F232-97FE-483C-850C-C83DA048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работы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FD1A0A-E71E-4AFA-B0B1-63C671E52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Исследовать шифры:</a:t>
            </a:r>
          </a:p>
          <a:p>
            <a:r>
              <a:rPr lang="en-US" dirty="0"/>
              <a:t>Scytale</a:t>
            </a:r>
          </a:p>
          <a:p>
            <a:r>
              <a:rPr lang="en-US" dirty="0"/>
              <a:t>Caesar</a:t>
            </a:r>
          </a:p>
          <a:p>
            <a:r>
              <a:rPr lang="en-US" dirty="0"/>
              <a:t>Substitution</a:t>
            </a:r>
          </a:p>
          <a:p>
            <a:r>
              <a:rPr lang="en-US" dirty="0"/>
              <a:t>Permutation/Transposition</a:t>
            </a:r>
          </a:p>
          <a:p>
            <a:r>
              <a:rPr lang="en-US" dirty="0" err="1"/>
              <a:t>Vigenere</a:t>
            </a:r>
            <a:endParaRPr lang="en-US" dirty="0"/>
          </a:p>
          <a:p>
            <a:r>
              <a:rPr lang="en-US" dirty="0"/>
              <a:t>Hill</a:t>
            </a:r>
          </a:p>
          <a:p>
            <a:r>
              <a:rPr lang="en-US" dirty="0"/>
              <a:t>ADFGVX</a:t>
            </a:r>
          </a:p>
          <a:p>
            <a:pPr marL="0" indent="0">
              <a:buNone/>
            </a:pPr>
            <a:r>
              <a:rPr lang="ru-RU" dirty="0"/>
              <a:t>И получить практические навыки работы с ними, в том числе с использованием приложения </a:t>
            </a:r>
            <a:r>
              <a:rPr lang="en-US" dirty="0" err="1"/>
              <a:t>CrypTool</a:t>
            </a:r>
            <a:r>
              <a:rPr lang="en-US" dirty="0"/>
              <a:t> </a:t>
            </a:r>
            <a:r>
              <a:rPr lang="ru-RU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6678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825" y="2766218"/>
            <a:ext cx="6610350" cy="1325563"/>
          </a:xfrm>
        </p:spPr>
        <p:txBody>
          <a:bodyPr/>
          <a:lstStyle/>
          <a:p>
            <a:pPr algn="ctr"/>
            <a:r>
              <a:rPr lang="ru-RU" dirty="0"/>
              <a:t>Шифр </a:t>
            </a:r>
            <a:r>
              <a:rPr lang="ru-RU" dirty="0" err="1"/>
              <a:t>Сцитала</a:t>
            </a:r>
            <a:r>
              <a:rPr lang="ru-RU" dirty="0"/>
              <a:t> (</a:t>
            </a:r>
            <a:r>
              <a:rPr lang="en-US" dirty="0"/>
              <a:t>Scytale)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835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68DE2-3F27-4F0B-8381-7ADD7C61D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в </a:t>
            </a:r>
            <a:r>
              <a:rPr lang="en-US" dirty="0" err="1"/>
              <a:t>CrypTool</a:t>
            </a:r>
            <a:r>
              <a:rPr lang="en-US" dirty="0"/>
              <a:t> </a:t>
            </a:r>
            <a:r>
              <a:rPr lang="ru-RU" dirty="0"/>
              <a:t>2.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BCABA0FF-FD1C-4F59-B261-ED985AD473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92355"/>
            <a:ext cx="10515600" cy="3617877"/>
          </a:xfrm>
        </p:spPr>
      </p:pic>
    </p:spTree>
    <p:extLst>
      <p:ext uri="{BB962C8B-B14F-4D97-AF65-F5344CB8AC3E}">
        <p14:creationId xmlns:p14="http://schemas.microsoft.com/office/powerpoint/2010/main" val="167139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6B4DA-F6F9-4911-8CEA-EAFADBB4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Схема, поясняющая работу шифра.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DB55896-F199-421A-BE72-0990D7A6A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434" y="1690688"/>
            <a:ext cx="7939132" cy="4643812"/>
          </a:xfrm>
        </p:spPr>
      </p:pic>
    </p:spTree>
    <p:extLst>
      <p:ext uri="{BB962C8B-B14F-4D97-AF65-F5344CB8AC3E}">
        <p14:creationId xmlns:p14="http://schemas.microsoft.com/office/powerpoint/2010/main" val="265165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652B1-D5E4-42C8-9917-732BDEDF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BruteForce</a:t>
            </a:r>
            <a:r>
              <a:rPr lang="en-US" dirty="0"/>
              <a:t> </a:t>
            </a:r>
            <a:r>
              <a:rPr lang="ru-RU" dirty="0"/>
              <a:t>атака.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A539562-5DF5-4BDC-BD86-9506B0130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7915" y="1825625"/>
            <a:ext cx="8716169" cy="4351338"/>
          </a:xfrm>
        </p:spPr>
      </p:pic>
    </p:spTree>
    <p:extLst>
      <p:ext uri="{BB962C8B-B14F-4D97-AF65-F5344CB8AC3E}">
        <p14:creationId xmlns:p14="http://schemas.microsoft.com/office/powerpoint/2010/main" val="4145544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037" y="2766218"/>
            <a:ext cx="5495925" cy="1325563"/>
          </a:xfrm>
        </p:spPr>
        <p:txBody>
          <a:bodyPr/>
          <a:lstStyle/>
          <a:p>
            <a:pPr algn="ctr"/>
            <a:r>
              <a:rPr lang="ru-RU" dirty="0"/>
              <a:t>Шифр Цезаря (</a:t>
            </a:r>
            <a:r>
              <a:rPr lang="en-US" dirty="0"/>
              <a:t>Caesar)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1078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68DE2-3F27-4F0B-8381-7ADD7C61D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в </a:t>
            </a:r>
            <a:r>
              <a:rPr lang="en-US" dirty="0" err="1"/>
              <a:t>CrypTool</a:t>
            </a:r>
            <a:r>
              <a:rPr lang="en-US" dirty="0"/>
              <a:t> </a:t>
            </a:r>
            <a:r>
              <a:rPr lang="ru-RU" dirty="0"/>
              <a:t>2.</a:t>
            </a:r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DE0DE97A-395E-400C-B57A-FCC9B6EF2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3254" y="1825625"/>
            <a:ext cx="9005492" cy="4351338"/>
          </a:xfrm>
        </p:spPr>
      </p:pic>
    </p:spTree>
    <p:extLst>
      <p:ext uri="{BB962C8B-B14F-4D97-AF65-F5344CB8AC3E}">
        <p14:creationId xmlns:p14="http://schemas.microsoft.com/office/powerpoint/2010/main" val="3567956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6B4DA-F6F9-4911-8CEA-EAFADBB4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Схема, поясняющая работу шифра.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C7771B2-44AA-4311-B4DD-6D0379FFE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737" y="2148681"/>
            <a:ext cx="4962525" cy="3705225"/>
          </a:xfrm>
        </p:spPr>
      </p:pic>
    </p:spTree>
    <p:extLst>
      <p:ext uri="{BB962C8B-B14F-4D97-AF65-F5344CB8AC3E}">
        <p14:creationId xmlns:p14="http://schemas.microsoft.com/office/powerpoint/2010/main" val="4068215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27E1C0-73C3-4569-84CB-6CB8E277A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BruteForce</a:t>
            </a:r>
            <a:r>
              <a:rPr lang="en-US" dirty="0"/>
              <a:t> </a:t>
            </a:r>
            <a:r>
              <a:rPr lang="ru-RU" dirty="0"/>
              <a:t>атака.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252EF4BD-D75D-4CC6-AF75-7032F03CEF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4259" y="1825625"/>
            <a:ext cx="8183482" cy="4351338"/>
          </a:xfrm>
        </p:spPr>
      </p:pic>
    </p:spTree>
    <p:extLst>
      <p:ext uri="{BB962C8B-B14F-4D97-AF65-F5344CB8AC3E}">
        <p14:creationId xmlns:p14="http://schemas.microsoft.com/office/powerpoint/2010/main" val="1952878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663" y="2766218"/>
            <a:ext cx="9210674" cy="132556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Шифр </a:t>
            </a:r>
            <a:r>
              <a:rPr lang="ru-RU" dirty="0" err="1"/>
              <a:t>моноалфавитной</a:t>
            </a:r>
            <a:r>
              <a:rPr lang="en-US" dirty="0"/>
              <a:t> </a:t>
            </a:r>
            <a:r>
              <a:rPr lang="ru-RU" dirty="0"/>
              <a:t>подстановки</a:t>
            </a:r>
            <a:r>
              <a:rPr lang="en-US" dirty="0"/>
              <a:t> (Substitution)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8353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68DE2-3F27-4F0B-8381-7ADD7C61D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в </a:t>
            </a:r>
            <a:r>
              <a:rPr lang="en-US" dirty="0" err="1"/>
              <a:t>CrypTool</a:t>
            </a:r>
            <a:r>
              <a:rPr lang="en-US" dirty="0"/>
              <a:t> </a:t>
            </a:r>
            <a:r>
              <a:rPr lang="ru-RU" dirty="0"/>
              <a:t>2.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95FC26F-817F-40CA-96B9-24AEE5D5D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4476" y="1825625"/>
            <a:ext cx="9423048" cy="4351338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F90BA6B-EA4D-4454-96A6-0FAC955A29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44" t="54126" r="18784"/>
          <a:stretch/>
        </p:blipFill>
        <p:spPr>
          <a:xfrm>
            <a:off x="6343651" y="4694238"/>
            <a:ext cx="5381624" cy="107384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D73B34D-90B9-4442-97A4-464544865096}"/>
              </a:ext>
            </a:extLst>
          </p:cNvPr>
          <p:cNvCxnSpPr/>
          <p:nvPr/>
        </p:nvCxnSpPr>
        <p:spPr>
          <a:xfrm flipH="1" flipV="1">
            <a:off x="7038975" y="2914650"/>
            <a:ext cx="142875" cy="1752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133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6B4DA-F6F9-4911-8CEA-EAFADBB4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Схема, поясняющая работу шифра.</a:t>
            </a: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5D700AA5-B32A-41DD-93BE-39EC80551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450" y="1690688"/>
            <a:ext cx="3893099" cy="4986667"/>
          </a:xfrm>
        </p:spPr>
      </p:pic>
    </p:spTree>
    <p:extLst>
      <p:ext uri="{BB962C8B-B14F-4D97-AF65-F5344CB8AC3E}">
        <p14:creationId xmlns:p14="http://schemas.microsoft.com/office/powerpoint/2010/main" val="1357529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3B192-EB12-4C24-BB6C-82B0B6A9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Шифрование и атака.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5352D266-C419-4B80-8C52-4EA2C29C2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7683"/>
            <a:ext cx="10515600" cy="3927221"/>
          </a:xfrm>
        </p:spPr>
      </p:pic>
    </p:spTree>
    <p:extLst>
      <p:ext uri="{BB962C8B-B14F-4D97-AF65-F5344CB8AC3E}">
        <p14:creationId xmlns:p14="http://schemas.microsoft.com/office/powerpoint/2010/main" val="3884618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663" y="2766218"/>
            <a:ext cx="9210674" cy="132556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Шифр двойной</a:t>
            </a:r>
            <a:r>
              <a:rPr lang="en-US" dirty="0"/>
              <a:t> </a:t>
            </a:r>
            <a:r>
              <a:rPr lang="ru-RU" dirty="0"/>
              <a:t>перестановки</a:t>
            </a:r>
            <a:br>
              <a:rPr lang="en-US" dirty="0"/>
            </a:br>
            <a:r>
              <a:rPr lang="en-US" dirty="0"/>
              <a:t>(Permutation/Transposition)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4162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68DE2-3F27-4F0B-8381-7ADD7C61D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в </a:t>
            </a:r>
            <a:r>
              <a:rPr lang="en-US" dirty="0" err="1"/>
              <a:t>CrypTool</a:t>
            </a:r>
            <a:r>
              <a:rPr lang="en-US" dirty="0"/>
              <a:t> </a:t>
            </a:r>
            <a:r>
              <a:rPr lang="ru-RU" dirty="0"/>
              <a:t>2.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E67D8CCD-2D75-4D5E-BD5D-5D7EA377F5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47332"/>
            <a:ext cx="10515600" cy="2907923"/>
          </a:xfrm>
        </p:spPr>
      </p:pic>
    </p:spTree>
    <p:extLst>
      <p:ext uri="{BB962C8B-B14F-4D97-AF65-F5344CB8AC3E}">
        <p14:creationId xmlns:p14="http://schemas.microsoft.com/office/powerpoint/2010/main" val="2852485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6B4DA-F6F9-4911-8CEA-EAFADBB4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Схема, поясняющая работу шифра.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67DC5B4B-B214-4CBD-8431-A322DD99C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474" y="1825625"/>
            <a:ext cx="6011052" cy="4351338"/>
          </a:xfrm>
        </p:spPr>
      </p:pic>
    </p:spTree>
    <p:extLst>
      <p:ext uri="{BB962C8B-B14F-4D97-AF65-F5344CB8AC3E}">
        <p14:creationId xmlns:p14="http://schemas.microsoft.com/office/powerpoint/2010/main" val="1275589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EA062-8D4C-4280-A3FB-0C5FDC702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BruteForce</a:t>
            </a:r>
            <a:r>
              <a:rPr lang="en-US" dirty="0"/>
              <a:t> </a:t>
            </a:r>
            <a:r>
              <a:rPr lang="ru-RU" dirty="0"/>
              <a:t>атака.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E9B345A-4CF3-4578-93EC-AA8137B80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83072"/>
            <a:ext cx="10515600" cy="2836444"/>
          </a:xfrm>
        </p:spPr>
      </p:pic>
    </p:spTree>
    <p:extLst>
      <p:ext uri="{BB962C8B-B14F-4D97-AF65-F5344CB8AC3E}">
        <p14:creationId xmlns:p14="http://schemas.microsoft.com/office/powerpoint/2010/main" val="3178157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663" y="2766218"/>
            <a:ext cx="9210674" cy="132556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Шифр </a:t>
            </a:r>
            <a:r>
              <a:rPr lang="ru-RU" dirty="0" err="1"/>
              <a:t>Виженера</a:t>
            </a:r>
            <a:r>
              <a:rPr lang="ru-RU" dirty="0"/>
              <a:t> (</a:t>
            </a:r>
            <a:r>
              <a:rPr lang="en-US" dirty="0" err="1"/>
              <a:t>Vigenere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994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68DE2-3F27-4F0B-8381-7ADD7C61D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в </a:t>
            </a:r>
            <a:r>
              <a:rPr lang="en-US" dirty="0" err="1"/>
              <a:t>CrypTool</a:t>
            </a:r>
            <a:r>
              <a:rPr lang="en-US" dirty="0"/>
              <a:t> </a:t>
            </a:r>
            <a:r>
              <a:rPr lang="ru-RU" dirty="0"/>
              <a:t>2.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6BF295DD-4025-4659-BDCD-389CE4A164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4362" y="2386581"/>
            <a:ext cx="8783276" cy="3229426"/>
          </a:xfrm>
        </p:spPr>
      </p:pic>
    </p:spTree>
    <p:extLst>
      <p:ext uri="{BB962C8B-B14F-4D97-AF65-F5344CB8AC3E}">
        <p14:creationId xmlns:p14="http://schemas.microsoft.com/office/powerpoint/2010/main" val="2454412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6B4DA-F6F9-4911-8CEA-EAFADBB4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Схема, поясняющая работу шифра.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3EC0BCA7-8CA0-4DF7-8205-2AB34474A3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887" y="2048669"/>
            <a:ext cx="637222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645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F0EFA7-7E84-4EB0-98E2-0893C4E7B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BruteForce</a:t>
            </a:r>
            <a:r>
              <a:rPr lang="en-US" dirty="0"/>
              <a:t> </a:t>
            </a:r>
            <a:r>
              <a:rPr lang="ru-RU" dirty="0"/>
              <a:t>атака.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E935DB3-9B11-40A0-94C8-59F5D27FC3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2442"/>
            <a:ext cx="10515600" cy="3717704"/>
          </a:xfrm>
        </p:spPr>
      </p:pic>
    </p:spTree>
    <p:extLst>
      <p:ext uri="{BB962C8B-B14F-4D97-AF65-F5344CB8AC3E}">
        <p14:creationId xmlns:p14="http://schemas.microsoft.com/office/powerpoint/2010/main" val="4253861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663" y="2766218"/>
            <a:ext cx="9210674" cy="132556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Шифр Хилла (</a:t>
            </a:r>
            <a:r>
              <a:rPr lang="en-US" dirty="0"/>
              <a:t>Hill)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88846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68DE2-3F27-4F0B-8381-7ADD7C61D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в </a:t>
            </a:r>
            <a:r>
              <a:rPr lang="en-US" dirty="0" err="1"/>
              <a:t>CrypTool</a:t>
            </a:r>
            <a:r>
              <a:rPr lang="en-US" dirty="0"/>
              <a:t> </a:t>
            </a:r>
            <a:r>
              <a:rPr lang="ru-RU" dirty="0"/>
              <a:t>2.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3162E68-8462-4B88-A054-376612C1C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33401"/>
            <a:ext cx="10515600" cy="3335786"/>
          </a:xfrm>
        </p:spPr>
      </p:pic>
    </p:spTree>
    <p:extLst>
      <p:ext uri="{BB962C8B-B14F-4D97-AF65-F5344CB8AC3E}">
        <p14:creationId xmlns:p14="http://schemas.microsoft.com/office/powerpoint/2010/main" val="18575182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6B4DA-F6F9-4911-8CEA-EAFADBB4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Схема, поясняющая работу шифра.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E94B950-0351-4C81-A813-2047236B2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13" y="1825625"/>
            <a:ext cx="9999374" cy="4351338"/>
          </a:xfrm>
        </p:spPr>
      </p:pic>
    </p:spTree>
    <p:extLst>
      <p:ext uri="{BB962C8B-B14F-4D97-AF65-F5344CB8AC3E}">
        <p14:creationId xmlns:p14="http://schemas.microsoft.com/office/powerpoint/2010/main" val="4216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FC1786-D415-4AF2-9C89-19221E89F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Known plaintext attack</a:t>
            </a:r>
            <a:r>
              <a:rPr lang="ru-RU" dirty="0"/>
              <a:t>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4952D66-0C69-44AC-BCF0-5D2E6AF4F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1113" y="1876425"/>
            <a:ext cx="3441293" cy="4351338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402009-A02E-413D-AD8E-F01D10F28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371" y="1876426"/>
            <a:ext cx="3510323" cy="435133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39B42E-7F61-41BC-A625-9674CCE67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09846"/>
            <a:ext cx="4896533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504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708AC-B2A6-4161-8C4D-87B23B66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663" y="2766218"/>
            <a:ext cx="9210674" cy="132556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Комбинированный шифр </a:t>
            </a:r>
            <a:r>
              <a:rPr lang="en-US" dirty="0"/>
              <a:t>ADFGVX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8697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68DE2-3F27-4F0B-8381-7ADD7C61D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в </a:t>
            </a:r>
            <a:r>
              <a:rPr lang="en-US" dirty="0" err="1"/>
              <a:t>CrypTool</a:t>
            </a:r>
            <a:r>
              <a:rPr lang="en-US" dirty="0"/>
              <a:t> </a:t>
            </a:r>
            <a:r>
              <a:rPr lang="ru-RU" dirty="0"/>
              <a:t>2.</a:t>
            </a: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DEFF6C75-B691-4A45-A84B-F77E82F63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284" y="1825625"/>
            <a:ext cx="9459431" cy="4351338"/>
          </a:xfrm>
        </p:spPr>
      </p:pic>
    </p:spTree>
    <p:extLst>
      <p:ext uri="{BB962C8B-B14F-4D97-AF65-F5344CB8AC3E}">
        <p14:creationId xmlns:p14="http://schemas.microsoft.com/office/powerpoint/2010/main" val="6579410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A6B4DA-F6F9-4911-8CEA-EAFADBB4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Схема, поясняющая работу шифра.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BD2F3BE-A58E-4CD1-BCC1-D8D4D9354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512" y="2158206"/>
            <a:ext cx="9324975" cy="3686175"/>
          </a:xfrm>
        </p:spPr>
      </p:pic>
    </p:spTree>
    <p:extLst>
      <p:ext uri="{BB962C8B-B14F-4D97-AF65-F5344CB8AC3E}">
        <p14:creationId xmlns:p14="http://schemas.microsoft.com/office/powerpoint/2010/main" val="2008707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3AE03D-8D17-4B8E-9036-9D7A49CF6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BruteForce</a:t>
            </a:r>
            <a:r>
              <a:rPr lang="en-US" dirty="0"/>
              <a:t> </a:t>
            </a:r>
            <a:r>
              <a:rPr lang="ru-RU" dirty="0"/>
              <a:t>атака.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2B4A743-1B05-4DC9-84BE-E80D7CB29E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05359"/>
            <a:ext cx="10515600" cy="3791870"/>
          </a:xfrm>
        </p:spPr>
      </p:pic>
    </p:spTree>
    <p:extLst>
      <p:ext uri="{BB962C8B-B14F-4D97-AF65-F5344CB8AC3E}">
        <p14:creationId xmlns:p14="http://schemas.microsoft.com/office/powerpoint/2010/main" val="28814465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17CDF10-2111-4846-B65F-3C9C513A4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140" y="1105693"/>
            <a:ext cx="10967720" cy="5534025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В ходе работы были исследованы шифры</a:t>
            </a:r>
            <a:r>
              <a:rPr lang="ru-RU" sz="2800" dirty="0"/>
              <a:t> классически</a:t>
            </a:r>
            <a:r>
              <a:rPr lang="ru-RU" dirty="0"/>
              <a:t>е</a:t>
            </a:r>
            <a:r>
              <a:rPr lang="ru-RU" sz="2800" dirty="0"/>
              <a:t> криптографические шифры и для каждого из них были определены его тип, ключи и сложность атаки </a:t>
            </a:r>
            <a:r>
              <a:rPr lang="en-US" sz="2800" dirty="0" err="1"/>
              <a:t>BruteForce</a:t>
            </a:r>
            <a:r>
              <a:rPr lang="ru-RU" dirty="0"/>
              <a:t>: </a:t>
            </a:r>
          </a:p>
          <a:p>
            <a:pPr lvl="1"/>
            <a:r>
              <a:rPr lang="en-US" b="1" dirty="0"/>
              <a:t>Scytale</a:t>
            </a:r>
            <a:r>
              <a:rPr lang="ru-RU" dirty="0"/>
              <a:t> (тип – перестановочный</a:t>
            </a:r>
            <a:r>
              <a:rPr lang="en-US" dirty="0"/>
              <a:t>;</a:t>
            </a:r>
            <a:r>
              <a:rPr lang="ru-RU" dirty="0"/>
              <a:t> ключ - количество граней призмы</a:t>
            </a:r>
            <a:r>
              <a:rPr lang="en-US" dirty="0"/>
              <a:t>; </a:t>
            </a:r>
            <a:r>
              <a:rPr lang="ru-RU" dirty="0"/>
              <a:t>сложность атаки</a:t>
            </a:r>
            <a:r>
              <a:rPr lang="en-US" dirty="0"/>
              <a:t> </a:t>
            </a:r>
            <a:r>
              <a:rPr lang="en-US" dirty="0" err="1"/>
              <a:t>BruteForce</a:t>
            </a:r>
            <a:r>
              <a:rPr lang="en-US" dirty="0"/>
              <a:t> – O(L)</a:t>
            </a:r>
            <a:r>
              <a:rPr lang="ru-RU" dirty="0"/>
              <a:t> без сдвига и </a:t>
            </a:r>
            <a:r>
              <a:rPr lang="en-US" dirty="0"/>
              <a:t>O(L^2)</a:t>
            </a:r>
            <a:r>
              <a:rPr lang="ru-RU" dirty="0"/>
              <a:t> при сдвиге, где </a:t>
            </a:r>
            <a:r>
              <a:rPr lang="en-US" dirty="0"/>
              <a:t>L –</a:t>
            </a:r>
            <a:r>
              <a:rPr lang="ru-RU" dirty="0"/>
              <a:t> длина текста)</a:t>
            </a:r>
          </a:p>
          <a:p>
            <a:pPr lvl="1"/>
            <a:r>
              <a:rPr lang="en-US" b="1" dirty="0"/>
              <a:t>Caesar</a:t>
            </a:r>
            <a:r>
              <a:rPr lang="ru-RU" dirty="0"/>
              <a:t> (тип – замена</a:t>
            </a:r>
            <a:r>
              <a:rPr lang="en-US" dirty="0"/>
              <a:t>; </a:t>
            </a:r>
            <a:r>
              <a:rPr lang="ru-RU" dirty="0"/>
              <a:t>ключ – сдвиг алфавита</a:t>
            </a:r>
            <a:r>
              <a:rPr lang="en-US" dirty="0"/>
              <a:t>;</a:t>
            </a:r>
            <a:r>
              <a:rPr lang="ru-RU" dirty="0"/>
              <a:t> сложность атаки </a:t>
            </a:r>
            <a:r>
              <a:rPr lang="en-US" dirty="0" err="1"/>
              <a:t>BruteForce</a:t>
            </a:r>
            <a:r>
              <a:rPr lang="en-US" dirty="0"/>
              <a:t> –</a:t>
            </a:r>
            <a:r>
              <a:rPr lang="ru-RU" dirty="0"/>
              <a:t> </a:t>
            </a:r>
            <a:r>
              <a:rPr lang="en-US" dirty="0"/>
              <a:t>O(A), </a:t>
            </a:r>
            <a:r>
              <a:rPr lang="ru-RU" dirty="0"/>
              <a:t>где А – мощность алфавита)</a:t>
            </a:r>
          </a:p>
          <a:p>
            <a:pPr lvl="1"/>
            <a:r>
              <a:rPr lang="en-US" b="1" dirty="0"/>
              <a:t>Substitution</a:t>
            </a:r>
            <a:r>
              <a:rPr lang="ru-RU" dirty="0"/>
              <a:t> (тип – замена</a:t>
            </a:r>
            <a:r>
              <a:rPr lang="en-US" dirty="0"/>
              <a:t>; </a:t>
            </a:r>
            <a:r>
              <a:rPr lang="ru-RU" dirty="0"/>
              <a:t>ключ – пара из слова и сдвиг алфавита</a:t>
            </a:r>
            <a:r>
              <a:rPr lang="en-US" dirty="0"/>
              <a:t>;</a:t>
            </a:r>
            <a:r>
              <a:rPr lang="ru-RU" dirty="0"/>
              <a:t> сложность атаки </a:t>
            </a:r>
            <a:r>
              <a:rPr lang="en-US" dirty="0" err="1"/>
              <a:t>BruteForce</a:t>
            </a:r>
            <a:r>
              <a:rPr lang="en-US" dirty="0"/>
              <a:t> –</a:t>
            </a:r>
            <a:r>
              <a:rPr lang="ru-RU" dirty="0"/>
              <a:t> </a:t>
            </a:r>
            <a:r>
              <a:rPr lang="en-US" dirty="0"/>
              <a:t>O(A!), </a:t>
            </a:r>
            <a:r>
              <a:rPr lang="ru-RU" dirty="0"/>
              <a:t>где </a:t>
            </a:r>
            <a:r>
              <a:rPr lang="en-US" dirty="0"/>
              <a:t>A – </a:t>
            </a:r>
            <a:r>
              <a:rPr lang="ru-RU" dirty="0"/>
              <a:t>мощность </a:t>
            </a:r>
            <a:r>
              <a:rPr lang="ru-RU" dirty="0" err="1"/>
              <a:t>афлавита</a:t>
            </a:r>
            <a:r>
              <a:rPr lang="ru-RU" dirty="0"/>
              <a:t>)</a:t>
            </a:r>
          </a:p>
          <a:p>
            <a:pPr lvl="1"/>
            <a:r>
              <a:rPr lang="en-US" b="1" dirty="0"/>
              <a:t>Permutation/Transposition</a:t>
            </a:r>
            <a:r>
              <a:rPr lang="ru-RU" b="1" dirty="0"/>
              <a:t> </a:t>
            </a:r>
            <a:r>
              <a:rPr lang="ru-RU" dirty="0"/>
              <a:t>(тип – перестановочный</a:t>
            </a:r>
            <a:r>
              <a:rPr lang="en-US" dirty="0"/>
              <a:t>; </a:t>
            </a:r>
            <a:r>
              <a:rPr lang="ru-RU" dirty="0"/>
              <a:t>ключ – набор перестановок по строкам и/или столбцам</a:t>
            </a:r>
            <a:r>
              <a:rPr lang="en-US" dirty="0"/>
              <a:t>;</a:t>
            </a:r>
            <a:r>
              <a:rPr lang="ru-RU" dirty="0"/>
              <a:t> сложность атаки </a:t>
            </a:r>
            <a:r>
              <a:rPr lang="en-US" dirty="0" err="1"/>
              <a:t>BruteForce</a:t>
            </a:r>
            <a:r>
              <a:rPr lang="en-US" dirty="0"/>
              <a:t> –</a:t>
            </a:r>
            <a:r>
              <a:rPr lang="ru-RU" dirty="0"/>
              <a:t> </a:t>
            </a:r>
            <a:r>
              <a:rPr lang="en-US" dirty="0"/>
              <a:t>O(n! x m!), </a:t>
            </a:r>
            <a:r>
              <a:rPr lang="ru-RU" dirty="0"/>
              <a:t>где </a:t>
            </a:r>
            <a:r>
              <a:rPr lang="en-US" dirty="0"/>
              <a:t>n </a:t>
            </a:r>
            <a:r>
              <a:rPr lang="ru-RU" dirty="0"/>
              <a:t>и </a:t>
            </a:r>
            <a:r>
              <a:rPr lang="en-US" dirty="0"/>
              <a:t>m – </a:t>
            </a:r>
            <a:r>
              <a:rPr lang="ru-RU" dirty="0"/>
              <a:t>размеры строк и столбцов) </a:t>
            </a:r>
          </a:p>
          <a:p>
            <a:pPr lvl="1"/>
            <a:r>
              <a:rPr lang="en-US" b="1" dirty="0" err="1"/>
              <a:t>Vigenere</a:t>
            </a:r>
            <a:r>
              <a:rPr lang="ru-RU" dirty="0"/>
              <a:t> (тип – замена</a:t>
            </a:r>
            <a:r>
              <a:rPr lang="en-US" dirty="0"/>
              <a:t>; </a:t>
            </a:r>
            <a:r>
              <a:rPr lang="ru-RU" dirty="0"/>
              <a:t>ключ - слово, определяющее смещения алфавита в таблице замены </a:t>
            </a:r>
            <a:r>
              <a:rPr lang="ru-RU" dirty="0" err="1"/>
              <a:t>Виженера</a:t>
            </a:r>
            <a:r>
              <a:rPr lang="en-US" dirty="0"/>
              <a:t>;</a:t>
            </a:r>
            <a:r>
              <a:rPr lang="ru-RU" dirty="0"/>
              <a:t> сложность атаки </a:t>
            </a:r>
            <a:r>
              <a:rPr lang="en-US" dirty="0" err="1"/>
              <a:t>BruteForce</a:t>
            </a:r>
            <a:r>
              <a:rPr lang="en-US" dirty="0"/>
              <a:t> –</a:t>
            </a:r>
            <a:r>
              <a:rPr lang="ru-RU" dirty="0"/>
              <a:t> </a:t>
            </a:r>
            <a:r>
              <a:rPr lang="en-US" dirty="0"/>
              <a:t>O(A!/(A-n)!), </a:t>
            </a:r>
            <a:r>
              <a:rPr lang="ru-RU" dirty="0"/>
              <a:t>где </a:t>
            </a:r>
            <a:r>
              <a:rPr lang="en-US" dirty="0"/>
              <a:t>A – </a:t>
            </a:r>
            <a:r>
              <a:rPr lang="ru-RU" dirty="0"/>
              <a:t>мощность алфавита, </a:t>
            </a:r>
            <a:r>
              <a:rPr lang="en-US" dirty="0"/>
              <a:t>m – </a:t>
            </a:r>
            <a:r>
              <a:rPr lang="ru-RU" dirty="0"/>
              <a:t>длина ключа) </a:t>
            </a:r>
          </a:p>
          <a:p>
            <a:pPr lvl="1"/>
            <a:r>
              <a:rPr lang="en-US" b="1" dirty="0"/>
              <a:t>Hill</a:t>
            </a:r>
            <a:r>
              <a:rPr lang="ru-RU" b="1" dirty="0"/>
              <a:t> </a:t>
            </a:r>
            <a:r>
              <a:rPr lang="ru-RU" dirty="0"/>
              <a:t>(тип – замена</a:t>
            </a:r>
            <a:r>
              <a:rPr lang="en-US" dirty="0"/>
              <a:t>; </a:t>
            </a:r>
            <a:r>
              <a:rPr lang="ru-RU" dirty="0"/>
              <a:t>ключ - обратимая матрица</a:t>
            </a:r>
            <a:r>
              <a:rPr lang="en-US" dirty="0"/>
              <a:t>;</a:t>
            </a:r>
            <a:r>
              <a:rPr lang="ru-RU" dirty="0"/>
              <a:t> сложность атаки </a:t>
            </a:r>
            <a:r>
              <a:rPr lang="en-US" dirty="0" err="1"/>
              <a:t>BruteForce</a:t>
            </a:r>
            <a:r>
              <a:rPr lang="en-US" dirty="0"/>
              <a:t> </a:t>
            </a:r>
            <a:r>
              <a:rPr lang="ru-RU" dirty="0"/>
              <a:t>- </a:t>
            </a:r>
            <a:r>
              <a:rPr lang="en-US" dirty="0"/>
              <a:t>O(A^(m x m)), </a:t>
            </a:r>
            <a:r>
              <a:rPr lang="ru-RU" dirty="0"/>
              <a:t>где А – мощность алфавита, </a:t>
            </a:r>
            <a:r>
              <a:rPr lang="en-US" dirty="0"/>
              <a:t>m – </a:t>
            </a:r>
            <a:r>
              <a:rPr lang="ru-RU" dirty="0"/>
              <a:t>размер шифрующей матрицы) </a:t>
            </a:r>
          </a:p>
          <a:p>
            <a:pPr lvl="1"/>
            <a:r>
              <a:rPr lang="en-US" b="1" dirty="0"/>
              <a:t>ADFGVX</a:t>
            </a:r>
            <a:r>
              <a:rPr lang="ru-RU" b="1" dirty="0"/>
              <a:t> </a:t>
            </a:r>
            <a:r>
              <a:rPr lang="ru-RU" dirty="0"/>
              <a:t>(тип – комбинированная замена и перестановка</a:t>
            </a:r>
            <a:r>
              <a:rPr lang="en-US" dirty="0"/>
              <a:t>; </a:t>
            </a:r>
            <a:r>
              <a:rPr lang="ru-RU" dirty="0"/>
              <a:t>ключ - слово, определяющее перестановку после замены</a:t>
            </a:r>
            <a:r>
              <a:rPr lang="en-US" dirty="0"/>
              <a:t>;</a:t>
            </a:r>
            <a:r>
              <a:rPr lang="ru-RU" dirty="0"/>
              <a:t> сложность атаки </a:t>
            </a:r>
            <a:r>
              <a:rPr lang="en-US" dirty="0" err="1"/>
              <a:t>BruteForce</a:t>
            </a:r>
            <a:r>
              <a:rPr lang="ru-RU" dirty="0"/>
              <a:t> – </a:t>
            </a:r>
            <a:r>
              <a:rPr lang="en-US" dirty="0"/>
              <a:t>O(n!), </a:t>
            </a:r>
            <a:r>
              <a:rPr lang="ru-RU" dirty="0"/>
              <a:t>где </a:t>
            </a:r>
            <a:r>
              <a:rPr lang="en-US" dirty="0"/>
              <a:t>n </a:t>
            </a:r>
            <a:r>
              <a:rPr lang="ru-RU" dirty="0"/>
              <a:t>– длина слова, определяющего перестановку</a:t>
            </a:r>
            <a:r>
              <a:rPr lang="en-US" dirty="0"/>
              <a:t>)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 ходе работы были получены практические навыки работы с каждым шифром, в том числе с использованием приложения </a:t>
            </a:r>
            <a:r>
              <a:rPr lang="en-US" dirty="0" err="1"/>
              <a:t>CrypTool</a:t>
            </a:r>
            <a:r>
              <a:rPr lang="en-US" dirty="0"/>
              <a:t> </a:t>
            </a:r>
            <a:r>
              <a:rPr lang="ru-RU" dirty="0"/>
              <a:t>2.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Для каждого шифра была зашифрована и расшифрована фамилия/ФИО вручную и с помощью программы </a:t>
            </a:r>
            <a:r>
              <a:rPr lang="ru-RU" dirty="0" err="1"/>
              <a:t>CrypTool</a:t>
            </a:r>
            <a:r>
              <a:rPr lang="ru-RU" dirty="0"/>
              <a:t> 2, а результаты были сверены друг с другом.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AC7E2FB-D405-4079-A8EB-D55AD4341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769" y="304800"/>
            <a:ext cx="5986462" cy="80089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Заключение по работе.</a:t>
            </a:r>
          </a:p>
        </p:txBody>
      </p:sp>
    </p:spTree>
    <p:extLst>
      <p:ext uri="{BB962C8B-B14F-4D97-AF65-F5344CB8AC3E}">
        <p14:creationId xmlns:p14="http://schemas.microsoft.com/office/powerpoint/2010/main" val="36438144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2232</TotalTime>
  <Words>532</Words>
  <Application>Microsoft Office PowerPoint</Application>
  <PresentationFormat>Широкоэкранный</PresentationFormat>
  <Paragraphs>55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Тема Office</vt:lpstr>
      <vt:lpstr>Лабораторная работа № 1 Изучение классических шифров</vt:lpstr>
      <vt:lpstr>Цель работы.</vt:lpstr>
      <vt:lpstr>Шифр Сцитала (Scytale)</vt:lpstr>
      <vt:lpstr>Реализация в CrypTool 2.</vt:lpstr>
      <vt:lpstr>Схема, поясняющая работу шифра.</vt:lpstr>
      <vt:lpstr>BruteForce атака.</vt:lpstr>
      <vt:lpstr>Шифр Цезаря (Caesar)</vt:lpstr>
      <vt:lpstr>Реализация в CrypTool 2.</vt:lpstr>
      <vt:lpstr>Схема, поясняющая работу шифра.</vt:lpstr>
      <vt:lpstr>BruteForce атака.</vt:lpstr>
      <vt:lpstr>Шифр моноалфавитной подстановки (Substitution)</vt:lpstr>
      <vt:lpstr>Реализация в CrypTool 2.</vt:lpstr>
      <vt:lpstr>Схема, поясняющая работу шифра.</vt:lpstr>
      <vt:lpstr>Шифрование и атака.</vt:lpstr>
      <vt:lpstr>Шифр двойной перестановки (Permutation/Transposition)</vt:lpstr>
      <vt:lpstr>Реализация в CrypTool 2.</vt:lpstr>
      <vt:lpstr>Схема, поясняющая работу шифра.</vt:lpstr>
      <vt:lpstr>BruteForce атака.</vt:lpstr>
      <vt:lpstr>Шифр Виженера (Vigenere)</vt:lpstr>
      <vt:lpstr>Реализация в CrypTool 2.</vt:lpstr>
      <vt:lpstr>Схема, поясняющая работу шифра.</vt:lpstr>
      <vt:lpstr>BruteForce атака.</vt:lpstr>
      <vt:lpstr>Шифр Хилла (Hill)</vt:lpstr>
      <vt:lpstr>Реализация в CrypTool 2.</vt:lpstr>
      <vt:lpstr>Схема, поясняющая работу шифра.</vt:lpstr>
      <vt:lpstr>Known plaintext attack.</vt:lpstr>
      <vt:lpstr>Комбинированный шифр ADFGVX</vt:lpstr>
      <vt:lpstr>Реализация в CrypTool 2.</vt:lpstr>
      <vt:lpstr>Схема, поясняющая работу шифра.</vt:lpstr>
      <vt:lpstr>BruteForce атака.</vt:lpstr>
      <vt:lpstr>Заключение по работе.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 1 Изучение классических шифров</dc:title>
  <dc:creator>Pavel</dc:creator>
  <cp:lastModifiedBy>Pavel</cp:lastModifiedBy>
  <cp:revision>90</cp:revision>
  <dcterms:created xsi:type="dcterms:W3CDTF">2024-09-10T08:56:48Z</dcterms:created>
  <dcterms:modified xsi:type="dcterms:W3CDTF">2024-09-21T10:01:05Z</dcterms:modified>
</cp:coreProperties>
</file>