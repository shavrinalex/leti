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95" r:id="rId6"/>
    <p:sldId id="296" r:id="rId7"/>
    <p:sldId id="297" r:id="rId8"/>
    <p:sldId id="299" r:id="rId9"/>
    <p:sldId id="300" r:id="rId10"/>
    <p:sldId id="263" r:id="rId11"/>
    <p:sldId id="265" r:id="rId12"/>
    <p:sldId id="294" r:id="rId13"/>
    <p:sldId id="272" r:id="rId14"/>
    <p:sldId id="302" r:id="rId15"/>
    <p:sldId id="303" r:id="rId16"/>
    <p:sldId id="304" r:id="rId17"/>
    <p:sldId id="301" r:id="rId18"/>
    <p:sldId id="305" r:id="rId19"/>
    <p:sldId id="306" r:id="rId20"/>
    <p:sldId id="307" r:id="rId21"/>
    <p:sldId id="308" r:id="rId22"/>
    <p:sldId id="276" r:id="rId23"/>
    <p:sldId id="309" r:id="rId24"/>
    <p:sldId id="292"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initials="P" lastIdx="3" clrIdx="0">
    <p:extLst>
      <p:ext uri="{19B8F6BF-5375-455C-9EA6-DF929625EA0E}">
        <p15:presenceInfo xmlns:p15="http://schemas.microsoft.com/office/powerpoint/2012/main" userId="Pav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660"/>
  </p:normalViewPr>
  <p:slideViewPr>
    <p:cSldViewPr snapToGrid="0">
      <p:cViewPr>
        <p:scale>
          <a:sx n="75" d="100"/>
          <a:sy n="75" d="100"/>
        </p:scale>
        <p:origin x="965"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23AFBF-CE0F-4FDC-A50F-1E6786B98EDC}"/>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BF9A4974-D12B-4A2E-9FC5-2376FF034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504E3C9-1AB9-4CAD-9721-6A67E731D418}"/>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5" name="Нижний колонтитул 4">
            <a:extLst>
              <a:ext uri="{FF2B5EF4-FFF2-40B4-BE49-F238E27FC236}">
                <a16:creationId xmlns:a16="http://schemas.microsoft.com/office/drawing/2014/main" id="{52BE009D-33FE-4987-AA70-1977C558CD8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6F81F69-28F3-426E-B47E-ED8504968D29}"/>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084535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355C58-68B3-457A-AD0F-53656060568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DB177E9-8A7E-4F97-8895-BD7EBE9B84D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7A27836-49EC-4BC7-8521-475E5B6835A2}"/>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5" name="Нижний колонтитул 4">
            <a:extLst>
              <a:ext uri="{FF2B5EF4-FFF2-40B4-BE49-F238E27FC236}">
                <a16:creationId xmlns:a16="http://schemas.microsoft.com/office/drawing/2014/main" id="{105E70F1-67F1-4E66-86C7-67F652EACED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46F1A38-EE80-49F0-987E-F0F898D6195C}"/>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655693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4704AE-A581-4481-AF9F-5065EDA0D67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9CC767F1-6106-41A8-BBA7-2E54357B10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2B2C095-5923-44D9-8375-DF543EB8D278}"/>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5" name="Нижний колонтитул 4">
            <a:extLst>
              <a:ext uri="{FF2B5EF4-FFF2-40B4-BE49-F238E27FC236}">
                <a16:creationId xmlns:a16="http://schemas.microsoft.com/office/drawing/2014/main" id="{24849FB6-C7E7-4E98-A248-16B66709BC5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FAD41D5-D56C-4755-95E5-24556AB0D3ED}"/>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705085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49AF86-1AC8-48F3-B64B-8CB3D0D3D4A5}"/>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3E34B0D-AED3-497B-88E6-4AB94D937C2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3B51B7AC-228E-4A0F-B675-EDEC77026EE3}"/>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5507ACD-32AF-4641-9931-0CEC5B939675}"/>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6" name="Нижний колонтитул 5">
            <a:extLst>
              <a:ext uri="{FF2B5EF4-FFF2-40B4-BE49-F238E27FC236}">
                <a16:creationId xmlns:a16="http://schemas.microsoft.com/office/drawing/2014/main" id="{730E5BAD-6829-4D02-8E1C-9904C2A45FF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DFAD800-2FD8-41E0-BFD0-16A66C09990D}"/>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63027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D9F620-57CD-438D-B079-979888DB5A79}"/>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34AC821-384A-4127-BA7F-1A4F779F60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5D23798-43C8-4184-94F6-69DE603F241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04261B00-4BC6-4ED1-9404-9FC2DDCD4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2CF6D291-32AE-4D57-8D6F-79ADB64AE6D6}"/>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21938F56-FC47-42DF-A718-380B78D2AA24}"/>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8" name="Нижний колонтитул 7">
            <a:extLst>
              <a:ext uri="{FF2B5EF4-FFF2-40B4-BE49-F238E27FC236}">
                <a16:creationId xmlns:a16="http://schemas.microsoft.com/office/drawing/2014/main" id="{4E7828FA-594F-4A3B-9D5E-4BE89B21F5A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99F32D0-5958-49DC-B086-64DC33070D53}"/>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096412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2CFD11-5533-431B-BB9C-DC756EC982D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5BBEC173-B140-4AEF-9B28-59C7527B783F}"/>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4" name="Нижний колонтитул 3">
            <a:extLst>
              <a:ext uri="{FF2B5EF4-FFF2-40B4-BE49-F238E27FC236}">
                <a16:creationId xmlns:a16="http://schemas.microsoft.com/office/drawing/2014/main" id="{79F96C05-F665-4BFF-9CC1-199F264EC17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49BF359-2EDF-42D8-A1B2-B56FE3F9593D}"/>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00676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3F493A31-0FB8-4606-921C-A845D807B610}"/>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3" name="Нижний колонтитул 2">
            <a:extLst>
              <a:ext uri="{FF2B5EF4-FFF2-40B4-BE49-F238E27FC236}">
                <a16:creationId xmlns:a16="http://schemas.microsoft.com/office/drawing/2014/main" id="{D6268833-4D33-4938-B6EB-9F7936071511}"/>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168BA733-C82D-4858-8E82-49099BFCE0A2}"/>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828676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FA6E2F-B152-468F-B133-897EBAA4D34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D1C32B8-DAFD-4A69-B23C-095DD238D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E9B3F6F-E07F-4B7D-97A1-BD23E9AEF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7C5B1BA-1FA8-4E45-B34D-2F2FCD71BC59}"/>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6" name="Нижний колонтитул 5">
            <a:extLst>
              <a:ext uri="{FF2B5EF4-FFF2-40B4-BE49-F238E27FC236}">
                <a16:creationId xmlns:a16="http://schemas.microsoft.com/office/drawing/2014/main" id="{7ACED8DC-E5CC-4C5D-9A4D-0C3CD426BA1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19894B8-E25C-4F99-8298-ABB655D00C45}"/>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1394189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3F0EC8-AF8B-411F-9200-F20764C431A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19415AD3-FF13-4346-9ED1-5D69544F4D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94C68469-7965-4BEB-8216-DEDE633F2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0D35D07-A440-4FC8-8FCB-E277721A1CF8}"/>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6" name="Нижний колонтитул 5">
            <a:extLst>
              <a:ext uri="{FF2B5EF4-FFF2-40B4-BE49-F238E27FC236}">
                <a16:creationId xmlns:a16="http://schemas.microsoft.com/office/drawing/2014/main" id="{8A741E10-D840-4B13-B315-3E1A74442CA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BD57768-CF33-4D2C-9A9F-2403D656F8C0}"/>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575188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8A7A1-B728-424B-ABE6-FBA9C74F4B5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9023F10F-191D-4512-AAAF-C22B1BDA056B}"/>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494F16C-EB3D-4389-B986-E894A15963EF}"/>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5" name="Нижний колонтитул 4">
            <a:extLst>
              <a:ext uri="{FF2B5EF4-FFF2-40B4-BE49-F238E27FC236}">
                <a16:creationId xmlns:a16="http://schemas.microsoft.com/office/drawing/2014/main" id="{47621694-5618-453C-AE98-F6D92EB478A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783810-582C-4A3E-94BA-B6D0CCEC9FD5}"/>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062522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3F10DC7-0688-4047-AA86-CE7B45578D0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74FB343-202F-4593-83F4-A4B3FCCE25D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0B289BA-6EF8-4ED6-961F-1BE53CEE1921}"/>
              </a:ext>
            </a:extLst>
          </p:cNvPr>
          <p:cNvSpPr>
            <a:spLocks noGrp="1"/>
          </p:cNvSpPr>
          <p:nvPr>
            <p:ph type="dt" sz="half" idx="10"/>
          </p:nvPr>
        </p:nvSpPr>
        <p:spPr/>
        <p:txBody>
          <a:bodyPr/>
          <a:lstStyle/>
          <a:p>
            <a:fld id="{B2540517-DC0E-4BAD-8F7F-A522B7E4D527}" type="datetimeFigureOut">
              <a:rPr lang="ru-RU" smtClean="0"/>
              <a:t>21.10.2024</a:t>
            </a:fld>
            <a:endParaRPr lang="ru-RU"/>
          </a:p>
        </p:txBody>
      </p:sp>
      <p:sp>
        <p:nvSpPr>
          <p:cNvPr id="5" name="Нижний колонтитул 4">
            <a:extLst>
              <a:ext uri="{FF2B5EF4-FFF2-40B4-BE49-F238E27FC236}">
                <a16:creationId xmlns:a16="http://schemas.microsoft.com/office/drawing/2014/main" id="{4BF80A3E-28D9-4A30-A795-2867B173FE9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15E20E1-BD6B-43BC-9EBA-27526D901E1D}"/>
              </a:ext>
            </a:extLst>
          </p:cNvPr>
          <p:cNvSpPr>
            <a:spLocks noGrp="1"/>
          </p:cNvSpPr>
          <p:nvPr>
            <p:ph type="sldNum" sz="quarter" idx="12"/>
          </p:nvPr>
        </p:nvSpPr>
        <p:spPr/>
        <p:txBody>
          <a:bodyPr/>
          <a:lstStyle/>
          <a:p>
            <a:fld id="{29870656-946A-4FB4-A04D-EDD89071B943}" type="slidenum">
              <a:rPr lang="ru-RU" smtClean="0"/>
              <a:t>‹#›</a:t>
            </a:fld>
            <a:endParaRPr lang="ru-RU"/>
          </a:p>
        </p:txBody>
      </p:sp>
    </p:spTree>
    <p:extLst>
      <p:ext uri="{BB962C8B-B14F-4D97-AF65-F5344CB8AC3E}">
        <p14:creationId xmlns:p14="http://schemas.microsoft.com/office/powerpoint/2010/main" val="3627639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930E19-BB71-42B8-8024-224453EFDE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D77E83FB-5891-4B25-B092-0D1A10513E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054FF24-2B92-42A7-A673-791231C02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40517-DC0E-4BAD-8F7F-A522B7E4D527}" type="datetimeFigureOut">
              <a:rPr lang="ru-RU" smtClean="0"/>
              <a:t>21.10.2024</a:t>
            </a:fld>
            <a:endParaRPr lang="ru-RU"/>
          </a:p>
        </p:txBody>
      </p:sp>
      <p:sp>
        <p:nvSpPr>
          <p:cNvPr id="5" name="Нижний колонтитул 4">
            <a:extLst>
              <a:ext uri="{FF2B5EF4-FFF2-40B4-BE49-F238E27FC236}">
                <a16:creationId xmlns:a16="http://schemas.microsoft.com/office/drawing/2014/main" id="{88B7697A-BB49-4074-97AB-3CDE909227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0CAE6088-B204-4951-86B3-C730E86D6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870656-946A-4FB4-A04D-EDD89071B943}" type="slidenum">
              <a:rPr lang="ru-RU" smtClean="0"/>
              <a:t>‹#›</a:t>
            </a:fld>
            <a:endParaRPr lang="ru-RU"/>
          </a:p>
        </p:txBody>
      </p:sp>
    </p:spTree>
    <p:extLst>
      <p:ext uri="{BB962C8B-B14F-4D97-AF65-F5344CB8AC3E}">
        <p14:creationId xmlns:p14="http://schemas.microsoft.com/office/powerpoint/2010/main" val="514752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978001-CFCF-44AF-8433-C8B589518054}"/>
              </a:ext>
            </a:extLst>
          </p:cNvPr>
          <p:cNvSpPr>
            <a:spLocks noGrp="1"/>
          </p:cNvSpPr>
          <p:nvPr>
            <p:ph type="ctrTitle"/>
          </p:nvPr>
        </p:nvSpPr>
        <p:spPr>
          <a:xfrm>
            <a:off x="1524000" y="2109721"/>
            <a:ext cx="9144000" cy="1466850"/>
          </a:xfrm>
        </p:spPr>
        <p:txBody>
          <a:bodyPr>
            <a:normAutofit/>
          </a:bodyPr>
          <a:lstStyle/>
          <a:p>
            <a:r>
              <a:rPr lang="ru-RU" sz="4800" dirty="0"/>
              <a:t>Лабораторная работа № </a:t>
            </a:r>
            <a:r>
              <a:rPr lang="en-US" sz="4800" dirty="0"/>
              <a:t>2</a:t>
            </a:r>
            <a:br>
              <a:rPr lang="ru-RU" sz="4800" dirty="0"/>
            </a:br>
            <a:r>
              <a:rPr lang="ru-RU" sz="4800" dirty="0"/>
              <a:t>Изучение шифров DES и МАГМА</a:t>
            </a:r>
          </a:p>
        </p:txBody>
      </p:sp>
      <p:sp>
        <p:nvSpPr>
          <p:cNvPr id="3" name="Подзаголовок 2">
            <a:extLst>
              <a:ext uri="{FF2B5EF4-FFF2-40B4-BE49-F238E27FC236}">
                <a16:creationId xmlns:a16="http://schemas.microsoft.com/office/drawing/2014/main" id="{F8704093-D235-4F3F-A286-87160F482310}"/>
              </a:ext>
            </a:extLst>
          </p:cNvPr>
          <p:cNvSpPr>
            <a:spLocks noGrp="1"/>
          </p:cNvSpPr>
          <p:nvPr>
            <p:ph type="subTitle" idx="1"/>
          </p:nvPr>
        </p:nvSpPr>
        <p:spPr>
          <a:xfrm>
            <a:off x="1523999" y="457794"/>
            <a:ext cx="9144000" cy="960437"/>
          </a:xfrm>
        </p:spPr>
        <p:txBody>
          <a:bodyPr/>
          <a:lstStyle/>
          <a:p>
            <a:r>
              <a:rPr lang="ru-RU" dirty="0"/>
              <a:t>Санкт-Петербургский государственный электротехнический</a:t>
            </a:r>
          </a:p>
          <a:p>
            <a:r>
              <a:rPr lang="ru-RU" dirty="0"/>
              <a:t>университет «ЛЭТИ» им. В.И. Ульянова (Ленина)</a:t>
            </a:r>
          </a:p>
          <a:p>
            <a:endParaRPr lang="ru-RU" dirty="0"/>
          </a:p>
        </p:txBody>
      </p:sp>
      <p:sp>
        <p:nvSpPr>
          <p:cNvPr id="8" name="TextBox 7">
            <a:extLst>
              <a:ext uri="{FF2B5EF4-FFF2-40B4-BE49-F238E27FC236}">
                <a16:creationId xmlns:a16="http://schemas.microsoft.com/office/drawing/2014/main" id="{371E0D34-0FC3-4E42-8F7E-0F0D642E0F4D}"/>
              </a:ext>
            </a:extLst>
          </p:cNvPr>
          <p:cNvSpPr txBox="1"/>
          <p:nvPr/>
        </p:nvSpPr>
        <p:spPr>
          <a:xfrm>
            <a:off x="2971800" y="6053693"/>
            <a:ext cx="6096000" cy="461665"/>
          </a:xfrm>
          <a:prstGeom prst="rect">
            <a:avLst/>
          </a:prstGeom>
          <a:noFill/>
        </p:spPr>
        <p:txBody>
          <a:bodyPr wrap="square">
            <a:spAutoFit/>
          </a:bodyPr>
          <a:lstStyle/>
          <a:p>
            <a:pPr algn="ctr"/>
            <a:r>
              <a:rPr lang="ru-RU" sz="2400" dirty="0"/>
              <a:t>Санкт-Петербург 2024</a:t>
            </a:r>
          </a:p>
        </p:txBody>
      </p:sp>
      <p:graphicFrame>
        <p:nvGraphicFramePr>
          <p:cNvPr id="4" name="Таблица 4">
            <a:extLst>
              <a:ext uri="{FF2B5EF4-FFF2-40B4-BE49-F238E27FC236}">
                <a16:creationId xmlns:a16="http://schemas.microsoft.com/office/drawing/2014/main" id="{199C7E9C-E7CA-4D8B-9071-7FC1B19A79CB}"/>
              </a:ext>
            </a:extLst>
          </p:cNvPr>
          <p:cNvGraphicFramePr>
            <a:graphicFrameLocks noGrp="1"/>
          </p:cNvGraphicFramePr>
          <p:nvPr>
            <p:extLst>
              <p:ext uri="{D42A27DB-BD31-4B8C-83A1-F6EECF244321}">
                <p14:modId xmlns:p14="http://schemas.microsoft.com/office/powerpoint/2010/main" val="2517817180"/>
              </p:ext>
            </p:extLst>
          </p:nvPr>
        </p:nvGraphicFramePr>
        <p:xfrm>
          <a:off x="2133600" y="4268061"/>
          <a:ext cx="8534399" cy="1394716"/>
        </p:xfrm>
        <a:graphic>
          <a:graphicData uri="http://schemas.openxmlformats.org/drawingml/2006/table">
            <a:tbl>
              <a:tblPr firstRow="1" bandRow="1">
                <a:tableStyleId>{5C22544A-7EE6-4342-B048-85BDC9FD1C3A}</a:tableStyleId>
              </a:tblPr>
              <a:tblGrid>
                <a:gridCol w="1828799">
                  <a:extLst>
                    <a:ext uri="{9D8B030D-6E8A-4147-A177-3AD203B41FA5}">
                      <a16:colId xmlns:a16="http://schemas.microsoft.com/office/drawing/2014/main" val="267774290"/>
                    </a:ext>
                  </a:extLst>
                </a:gridCol>
                <a:gridCol w="2570480">
                  <a:extLst>
                    <a:ext uri="{9D8B030D-6E8A-4147-A177-3AD203B41FA5}">
                      <a16:colId xmlns:a16="http://schemas.microsoft.com/office/drawing/2014/main" val="4293870335"/>
                    </a:ext>
                  </a:extLst>
                </a:gridCol>
                <a:gridCol w="4135120">
                  <a:extLst>
                    <a:ext uri="{9D8B030D-6E8A-4147-A177-3AD203B41FA5}">
                      <a16:colId xmlns:a16="http://schemas.microsoft.com/office/drawing/2014/main" val="873450627"/>
                    </a:ext>
                  </a:extLst>
                </a:gridCol>
              </a:tblGrid>
              <a:tr h="674912">
                <a:tc>
                  <a:txBody>
                    <a:bodyPr/>
                    <a:lstStyle/>
                    <a:p>
                      <a:pPr algn="r"/>
                      <a:r>
                        <a:rPr lang="ru-RU" sz="1800" b="0" dirty="0">
                          <a:solidFill>
                            <a:schemeClr val="tx1"/>
                          </a:solidFill>
                        </a:rPr>
                        <a:t>Студент:</a:t>
                      </a:r>
                      <a:r>
                        <a:rPr lang="en-US" sz="1800" b="0" dirty="0">
                          <a:solidFill>
                            <a:schemeClr val="tx1"/>
                          </a:solidFill>
                        </a:rPr>
                        <a:t> </a:t>
                      </a:r>
                      <a:endParaRPr lang="ru-RU" b="0" dirty="0">
                        <a:solidFill>
                          <a:schemeClr val="tx1"/>
                        </a:solidFill>
                      </a:endParaRPr>
                    </a:p>
                  </a:txBody>
                  <a:tcPr>
                    <a:noFill/>
                  </a:tcPr>
                </a:tc>
                <a:tc>
                  <a:txBody>
                    <a:bodyPr/>
                    <a:lstStyle/>
                    <a:p>
                      <a:r>
                        <a:rPr lang="ru-RU" b="0" dirty="0">
                          <a:solidFill>
                            <a:schemeClr val="tx1"/>
                          </a:solidFill>
                        </a:rPr>
                        <a:t>____________________</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dirty="0">
                          <a:solidFill>
                            <a:schemeClr val="tx1"/>
                          </a:solidFill>
                        </a:rPr>
                        <a:t>Шаврин Алексей Павлович, группа 1304</a:t>
                      </a:r>
                    </a:p>
                    <a:p>
                      <a:endParaRPr lang="ru-RU" b="0" dirty="0">
                        <a:solidFill>
                          <a:schemeClr val="tx1"/>
                        </a:solidFill>
                      </a:endParaRPr>
                    </a:p>
                  </a:txBody>
                  <a:tcPr>
                    <a:noFill/>
                  </a:tcPr>
                </a:tc>
                <a:extLst>
                  <a:ext uri="{0D108BD9-81ED-4DB2-BD59-A6C34878D82A}">
                    <a16:rowId xmlns:a16="http://schemas.microsoft.com/office/drawing/2014/main" val="2770776354"/>
                  </a:ext>
                </a:extLst>
              </a:tr>
              <a:tr h="719804">
                <a:tc>
                  <a:txBody>
                    <a:bodyPr/>
                    <a:lstStyle/>
                    <a:p>
                      <a:pPr algn="r"/>
                      <a:r>
                        <a:rPr lang="ru-RU" sz="1800" b="0" dirty="0">
                          <a:solidFill>
                            <a:schemeClr val="tx1"/>
                          </a:solidFill>
                        </a:rPr>
                        <a:t>Руководитель:</a:t>
                      </a:r>
                      <a:endParaRPr lang="ru-RU" b="0" dirty="0">
                        <a:solidFill>
                          <a:schemeClr val="tx1"/>
                        </a:solidFill>
                      </a:endParaRPr>
                    </a:p>
                  </a:txBody>
                  <a:tcPr>
                    <a:noFill/>
                  </a:tcPr>
                </a:tc>
                <a:tc>
                  <a:txBody>
                    <a:bodyPr/>
                    <a:lstStyle/>
                    <a:p>
                      <a:r>
                        <a:rPr lang="ru-RU" b="0" dirty="0">
                          <a:solidFill>
                            <a:schemeClr val="tx1"/>
                          </a:solidFill>
                        </a:rPr>
                        <a:t>____________________</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dirty="0">
                          <a:solidFill>
                            <a:schemeClr val="tx1"/>
                          </a:solidFill>
                        </a:rPr>
                        <a:t>Племянников А.К., доцент каф. ИБ</a:t>
                      </a:r>
                    </a:p>
                    <a:p>
                      <a:endParaRPr lang="ru-RU" b="0" dirty="0">
                        <a:solidFill>
                          <a:schemeClr val="tx1"/>
                        </a:solidFill>
                      </a:endParaRPr>
                    </a:p>
                  </a:txBody>
                  <a:tcPr>
                    <a:noFill/>
                  </a:tcPr>
                </a:tc>
                <a:extLst>
                  <a:ext uri="{0D108BD9-81ED-4DB2-BD59-A6C34878D82A}">
                    <a16:rowId xmlns:a16="http://schemas.microsoft.com/office/drawing/2014/main" val="874478945"/>
                  </a:ext>
                </a:extLst>
              </a:tr>
            </a:tbl>
          </a:graphicData>
        </a:graphic>
      </p:graphicFrame>
    </p:spTree>
    <p:extLst>
      <p:ext uri="{BB962C8B-B14F-4D97-AF65-F5344CB8AC3E}">
        <p14:creationId xmlns:p14="http://schemas.microsoft.com/office/powerpoint/2010/main" val="2740067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45F232-97FE-483C-850C-C83DA04845AA}"/>
              </a:ext>
            </a:extLst>
          </p:cNvPr>
          <p:cNvSpPr>
            <a:spLocks noGrp="1"/>
          </p:cNvSpPr>
          <p:nvPr>
            <p:ph type="title"/>
          </p:nvPr>
        </p:nvSpPr>
        <p:spPr/>
        <p:txBody>
          <a:bodyPr/>
          <a:lstStyle/>
          <a:p>
            <a:r>
              <a:rPr lang="ru-RU" dirty="0"/>
              <a:t>Цель работы</a:t>
            </a:r>
            <a:r>
              <a:rPr lang="en-US" dirty="0"/>
              <a:t>.</a:t>
            </a:r>
            <a:endParaRPr lang="ru-RU" dirty="0"/>
          </a:p>
        </p:txBody>
      </p:sp>
      <p:sp>
        <p:nvSpPr>
          <p:cNvPr id="3" name="Объект 2">
            <a:extLst>
              <a:ext uri="{FF2B5EF4-FFF2-40B4-BE49-F238E27FC236}">
                <a16:creationId xmlns:a16="http://schemas.microsoft.com/office/drawing/2014/main" id="{ABFD1A0A-E71E-4AFA-B0B1-63C671E52C22}"/>
              </a:ext>
            </a:extLst>
          </p:cNvPr>
          <p:cNvSpPr>
            <a:spLocks noGrp="1"/>
          </p:cNvSpPr>
          <p:nvPr>
            <p:ph idx="1"/>
          </p:nvPr>
        </p:nvSpPr>
        <p:spPr/>
        <p:txBody>
          <a:bodyPr>
            <a:normAutofit fontScale="85000" lnSpcReduction="10000"/>
          </a:bodyPr>
          <a:lstStyle/>
          <a:p>
            <a:pPr marL="0" indent="0">
              <a:lnSpc>
                <a:spcPct val="120000"/>
              </a:lnSpc>
              <a:buNone/>
            </a:pPr>
            <a:r>
              <a:rPr lang="ru-RU" b="1" dirty="0"/>
              <a:t>Цель: </a:t>
            </a:r>
            <a:r>
              <a:rPr lang="ru-RU" dirty="0"/>
              <a:t>Приобретение практических навыков и знаний в области симметричных блочных шифров DES, 3DES и Магма, в том числе с использованием приложений </a:t>
            </a:r>
            <a:r>
              <a:rPr lang="en-US" dirty="0" err="1"/>
              <a:t>CrypTool</a:t>
            </a:r>
            <a:r>
              <a:rPr lang="en-US" dirty="0"/>
              <a:t> 1</a:t>
            </a:r>
            <a:r>
              <a:rPr lang="ru-RU" dirty="0"/>
              <a:t>,</a:t>
            </a:r>
            <a:r>
              <a:rPr lang="en-US" dirty="0"/>
              <a:t> </a:t>
            </a:r>
            <a:r>
              <a:rPr lang="en-US" dirty="0" err="1"/>
              <a:t>CrypTool</a:t>
            </a:r>
            <a:r>
              <a:rPr lang="en-US" dirty="0"/>
              <a:t> </a:t>
            </a:r>
            <a:r>
              <a:rPr lang="ru-RU" dirty="0"/>
              <a:t>2 и ЛИТОРЕЯ.</a:t>
            </a:r>
          </a:p>
          <a:p>
            <a:pPr marL="0" indent="0">
              <a:buNone/>
            </a:pPr>
            <a:r>
              <a:rPr lang="ru-RU" b="1" dirty="0"/>
              <a:t>Задачи:</a:t>
            </a:r>
          </a:p>
          <a:p>
            <a:pPr marL="514350" indent="-514350">
              <a:buFont typeface="+mj-lt"/>
              <a:buAutoNum type="arabicPeriod"/>
            </a:pPr>
            <a:r>
              <a:rPr lang="ru-RU" dirty="0"/>
              <a:t>Изучить преобразования </a:t>
            </a:r>
            <a:r>
              <a:rPr lang="en-US" dirty="0"/>
              <a:t>DES</a:t>
            </a:r>
          </a:p>
          <a:p>
            <a:pPr marL="514350" indent="-514350">
              <a:buFont typeface="+mj-lt"/>
              <a:buAutoNum type="arabicPeriod"/>
            </a:pPr>
            <a:r>
              <a:rPr lang="ru-RU" dirty="0"/>
              <a:t>Провести исследование DES  в режимах работы ECB и CBC </a:t>
            </a:r>
          </a:p>
          <a:p>
            <a:pPr marL="514350" indent="-514350">
              <a:buFont typeface="+mj-lt"/>
              <a:buAutoNum type="arabicPeriod"/>
            </a:pPr>
            <a:r>
              <a:rPr lang="ru-RU" dirty="0"/>
              <a:t>Разработать схему в </a:t>
            </a:r>
            <a:r>
              <a:rPr lang="ru-RU" dirty="0" err="1"/>
              <a:t>CrypTool</a:t>
            </a:r>
            <a:r>
              <a:rPr lang="ru-RU" dirty="0"/>
              <a:t> 2 для определения версии 3DES</a:t>
            </a:r>
            <a:endParaRPr lang="en-US" dirty="0"/>
          </a:p>
          <a:p>
            <a:pPr marL="514350" indent="-514350">
              <a:buFont typeface="+mj-lt"/>
              <a:buAutoNum type="arabicPeriod"/>
            </a:pPr>
            <a:r>
              <a:rPr lang="ru-RU" dirty="0"/>
              <a:t>Изучить преобразования шифра Магма с помощью приложения ЛИТОРЕЯ </a:t>
            </a:r>
          </a:p>
          <a:p>
            <a:pPr marL="514350" indent="-514350">
              <a:buFont typeface="+mj-lt"/>
              <a:buAutoNum type="arabicPeriod"/>
            </a:pPr>
            <a:r>
              <a:rPr lang="ru-RU" dirty="0"/>
              <a:t>Провести исследование шифра Магма  в режимах работы простой замены и простой замены с зацеплением, используя приложение ЛИТОРЕЯ</a:t>
            </a:r>
          </a:p>
        </p:txBody>
      </p:sp>
    </p:spTree>
    <p:extLst>
      <p:ext uri="{BB962C8B-B14F-4D97-AF65-F5344CB8AC3E}">
        <p14:creationId xmlns:p14="http://schemas.microsoft.com/office/powerpoint/2010/main" val="316678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708AC-B2A6-4161-8C4D-87B23B66C6C4}"/>
              </a:ext>
            </a:extLst>
          </p:cNvPr>
          <p:cNvSpPr>
            <a:spLocks noGrp="1"/>
          </p:cNvSpPr>
          <p:nvPr>
            <p:ph type="title"/>
          </p:nvPr>
        </p:nvSpPr>
        <p:spPr>
          <a:xfrm>
            <a:off x="2790825" y="2766218"/>
            <a:ext cx="6610350" cy="1325563"/>
          </a:xfrm>
        </p:spPr>
        <p:txBody>
          <a:bodyPr/>
          <a:lstStyle/>
          <a:p>
            <a:pPr algn="ctr"/>
            <a:r>
              <a:rPr lang="ru-RU" dirty="0"/>
              <a:t>Изучение преобразования </a:t>
            </a:r>
            <a:r>
              <a:rPr lang="en-US" dirty="0"/>
              <a:t>DES</a:t>
            </a:r>
            <a:endParaRPr lang="ru-RU" dirty="0"/>
          </a:p>
        </p:txBody>
      </p:sp>
    </p:spTree>
    <p:extLst>
      <p:ext uri="{BB962C8B-B14F-4D97-AF65-F5344CB8AC3E}">
        <p14:creationId xmlns:p14="http://schemas.microsoft.com/office/powerpoint/2010/main" val="685835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268DE2-3F27-4F0B-8381-7ADD7C61D558}"/>
              </a:ext>
            </a:extLst>
          </p:cNvPr>
          <p:cNvSpPr>
            <a:spLocks noGrp="1"/>
          </p:cNvSpPr>
          <p:nvPr>
            <p:ph type="title"/>
          </p:nvPr>
        </p:nvSpPr>
        <p:spPr>
          <a:xfrm>
            <a:off x="838201" y="0"/>
            <a:ext cx="10039350" cy="733425"/>
          </a:xfrm>
        </p:spPr>
        <p:txBody>
          <a:bodyPr>
            <a:normAutofit/>
          </a:bodyPr>
          <a:lstStyle/>
          <a:p>
            <a:r>
              <a:rPr lang="ru-RU" sz="4000" dirty="0"/>
              <a:t>DES: Исходные данные и результаты раунда</a:t>
            </a:r>
          </a:p>
        </p:txBody>
      </p:sp>
      <p:pic>
        <p:nvPicPr>
          <p:cNvPr id="6" name="Объект 5">
            <a:extLst>
              <a:ext uri="{FF2B5EF4-FFF2-40B4-BE49-F238E27FC236}">
                <a16:creationId xmlns:a16="http://schemas.microsoft.com/office/drawing/2014/main" id="{568F1537-1EE1-4208-B31C-445A6BADA6DA}"/>
              </a:ext>
            </a:extLst>
          </p:cNvPr>
          <p:cNvPicPr>
            <a:picLocks noGrp="1" noChangeAspect="1"/>
          </p:cNvPicPr>
          <p:nvPr>
            <p:ph idx="1"/>
          </p:nvPr>
        </p:nvPicPr>
        <p:blipFill>
          <a:blip r:embed="rId2"/>
          <a:stretch>
            <a:fillRect/>
          </a:stretch>
        </p:blipFill>
        <p:spPr>
          <a:xfrm>
            <a:off x="838201" y="1119681"/>
            <a:ext cx="10515600" cy="3808492"/>
          </a:xfrm>
        </p:spPr>
      </p:pic>
      <p:pic>
        <p:nvPicPr>
          <p:cNvPr id="8" name="Рисунок 7">
            <a:extLst>
              <a:ext uri="{FF2B5EF4-FFF2-40B4-BE49-F238E27FC236}">
                <a16:creationId xmlns:a16="http://schemas.microsoft.com/office/drawing/2014/main" id="{C2278155-C29B-4D21-9849-56DAE157A94B}"/>
              </a:ext>
            </a:extLst>
          </p:cNvPr>
          <p:cNvPicPr>
            <a:picLocks noChangeAspect="1"/>
          </p:cNvPicPr>
          <p:nvPr/>
        </p:nvPicPr>
        <p:blipFill>
          <a:blip r:embed="rId3"/>
          <a:stretch>
            <a:fillRect/>
          </a:stretch>
        </p:blipFill>
        <p:spPr>
          <a:xfrm>
            <a:off x="838199" y="3293535"/>
            <a:ext cx="4486717" cy="3108268"/>
          </a:xfrm>
          <a:prstGeom prst="rect">
            <a:avLst/>
          </a:prstGeom>
        </p:spPr>
      </p:pic>
    </p:spTree>
    <p:extLst>
      <p:ext uri="{BB962C8B-B14F-4D97-AF65-F5344CB8AC3E}">
        <p14:creationId xmlns:p14="http://schemas.microsoft.com/office/powerpoint/2010/main" val="1671393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p:txBody>
          <a:bodyPr/>
          <a:lstStyle/>
          <a:p>
            <a:r>
              <a:rPr lang="ru-RU" dirty="0"/>
              <a:t>DES: Ручной расчет первого раунда (Раундовый ключ №1)</a:t>
            </a:r>
            <a:r>
              <a:rPr lang="en-US" dirty="0"/>
              <a:t> </a:t>
            </a:r>
            <a:endParaRPr lang="ru-RU" dirty="0"/>
          </a:p>
        </p:txBody>
      </p:sp>
      <p:pic>
        <p:nvPicPr>
          <p:cNvPr id="2054" name="Picture 6">
            <a:extLst>
              <a:ext uri="{FF2B5EF4-FFF2-40B4-BE49-F238E27FC236}">
                <a16:creationId xmlns:a16="http://schemas.microsoft.com/office/drawing/2014/main" id="{35946693-3722-4719-B9CF-005C02CAB33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43" r="8087"/>
          <a:stretch/>
        </p:blipFill>
        <p:spPr bwMode="auto">
          <a:xfrm>
            <a:off x="3380575" y="1690688"/>
            <a:ext cx="4394439" cy="5135513"/>
          </a:xfrm>
          <a:prstGeom prst="rect">
            <a:avLst/>
          </a:prstGeom>
          <a:noFill/>
          <a:extLst>
            <a:ext uri="{909E8E84-426E-40DD-AFC4-6F175D3DCCD1}">
              <a14:hiddenFill xmlns:a14="http://schemas.microsoft.com/office/drawing/2010/main">
                <a:solidFill>
                  <a:srgbClr val="FFFFFF"/>
                </a:solidFill>
              </a14:hiddenFill>
            </a:ext>
          </a:extLst>
        </p:spPr>
      </p:pic>
      <p:pic>
        <p:nvPicPr>
          <p:cNvPr id="21" name="Рисунок 20">
            <a:extLst>
              <a:ext uri="{FF2B5EF4-FFF2-40B4-BE49-F238E27FC236}">
                <a16:creationId xmlns:a16="http://schemas.microsoft.com/office/drawing/2014/main" id="{57B8FD05-2B5E-4D70-A262-016FB6DF4A01}"/>
              </a:ext>
            </a:extLst>
          </p:cNvPr>
          <p:cNvPicPr>
            <a:picLocks noChangeAspect="1"/>
          </p:cNvPicPr>
          <p:nvPr/>
        </p:nvPicPr>
        <p:blipFill rotWithShape="1">
          <a:blip r:embed="rId3">
            <a:extLst>
              <a:ext uri="{28A0092B-C50C-407E-A947-70E740481C1C}">
                <a14:useLocalDpi xmlns:a14="http://schemas.microsoft.com/office/drawing/2010/main" val="0"/>
              </a:ext>
            </a:extLst>
          </a:blip>
          <a:srcRect l="5161" r="2350" b="35697"/>
          <a:stretch/>
        </p:blipFill>
        <p:spPr>
          <a:xfrm>
            <a:off x="7775014" y="1690688"/>
            <a:ext cx="4416986" cy="3070907"/>
          </a:xfrm>
          <a:prstGeom prst="rect">
            <a:avLst/>
          </a:prstGeom>
        </p:spPr>
      </p:pic>
      <p:sp>
        <p:nvSpPr>
          <p:cNvPr id="26" name="TextBox 25">
            <a:extLst>
              <a:ext uri="{FF2B5EF4-FFF2-40B4-BE49-F238E27FC236}">
                <a16:creationId xmlns:a16="http://schemas.microsoft.com/office/drawing/2014/main" id="{BF479A78-1C4A-46E4-8F0A-5C76E1D7AE44}"/>
              </a:ext>
            </a:extLst>
          </p:cNvPr>
          <p:cNvSpPr txBox="1"/>
          <p:nvPr/>
        </p:nvSpPr>
        <p:spPr>
          <a:xfrm>
            <a:off x="222813" y="1940433"/>
            <a:ext cx="3149471" cy="2862322"/>
          </a:xfrm>
          <a:prstGeom prst="rect">
            <a:avLst/>
          </a:prstGeom>
          <a:noFill/>
        </p:spPr>
        <p:txBody>
          <a:bodyPr wrap="square">
            <a:spAutoFit/>
          </a:bodyPr>
          <a:lstStyle/>
          <a:p>
            <a:pPr marL="0" indent="0">
              <a:buNone/>
            </a:pPr>
            <a:r>
              <a:rPr lang="en-US" b="1" dirty="0"/>
              <a:t>Key</a:t>
            </a:r>
            <a:r>
              <a:rPr lang="en-US" dirty="0"/>
              <a:t> = 130427P</a:t>
            </a:r>
          </a:p>
          <a:p>
            <a:r>
              <a:rPr lang="en-US" b="1" dirty="0"/>
              <a:t>HEX Key </a:t>
            </a:r>
            <a:r>
              <a:rPr lang="en-US" dirty="0"/>
              <a:t>= 31 33 30 34 32 37 50</a:t>
            </a:r>
          </a:p>
          <a:p>
            <a:r>
              <a:rPr lang="en-US" b="1" dirty="0"/>
              <a:t>BIN Key </a:t>
            </a:r>
            <a:r>
              <a:rPr lang="en-US" dirty="0"/>
              <a:t>= </a:t>
            </a:r>
          </a:p>
          <a:p>
            <a:r>
              <a:rPr lang="en-US" dirty="0"/>
              <a:t>00110001 00110011 00110000 00110100 00110010 00110111 01010000</a:t>
            </a:r>
            <a:endParaRPr lang="ru-RU" dirty="0"/>
          </a:p>
          <a:p>
            <a:endParaRPr lang="ru-RU" dirty="0"/>
          </a:p>
          <a:p>
            <a:endParaRPr lang="ru-RU" dirty="0"/>
          </a:p>
          <a:p>
            <a:endParaRPr lang="ru-RU" dirty="0"/>
          </a:p>
          <a:p>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7910674" y="4989469"/>
            <a:ext cx="3307465" cy="923330"/>
          </a:xfrm>
          <a:prstGeom prst="rect">
            <a:avLst/>
          </a:prstGeom>
          <a:noFill/>
        </p:spPr>
        <p:txBody>
          <a:bodyPr wrap="square">
            <a:spAutoFit/>
          </a:bodyPr>
          <a:lstStyle/>
          <a:p>
            <a:r>
              <a:rPr lang="en-US" b="1" dirty="0"/>
              <a:t>Round Key </a:t>
            </a:r>
            <a:r>
              <a:rPr lang="en-US" dirty="0"/>
              <a:t>= </a:t>
            </a:r>
          </a:p>
          <a:p>
            <a:r>
              <a:rPr lang="en-US" dirty="0"/>
              <a:t>00101101 01001000 10100011 </a:t>
            </a:r>
          </a:p>
          <a:p>
            <a:r>
              <a:rPr lang="en-US" dirty="0"/>
              <a:t>10110101 01000100 00001001</a:t>
            </a:r>
          </a:p>
        </p:txBody>
      </p:sp>
    </p:spTree>
    <p:extLst>
      <p:ext uri="{BB962C8B-B14F-4D97-AF65-F5344CB8AC3E}">
        <p14:creationId xmlns:p14="http://schemas.microsoft.com/office/powerpoint/2010/main" val="156005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p:txBody>
          <a:bodyPr/>
          <a:lstStyle/>
          <a:p>
            <a:r>
              <a:rPr lang="ru-RU" dirty="0"/>
              <a:t>DES: Ручной расчет первого раунда (Первоначальная перестановка текста)</a:t>
            </a:r>
            <a:r>
              <a:rPr lang="en-US" dirty="0"/>
              <a:t> </a:t>
            </a:r>
            <a:endParaRPr lang="ru-RU" dirty="0"/>
          </a:p>
        </p:txBody>
      </p:sp>
      <p:sp>
        <p:nvSpPr>
          <p:cNvPr id="26" name="TextBox 25">
            <a:extLst>
              <a:ext uri="{FF2B5EF4-FFF2-40B4-BE49-F238E27FC236}">
                <a16:creationId xmlns:a16="http://schemas.microsoft.com/office/drawing/2014/main" id="{BF479A78-1C4A-46E4-8F0A-5C76E1D7AE44}"/>
              </a:ext>
            </a:extLst>
          </p:cNvPr>
          <p:cNvSpPr txBox="1"/>
          <p:nvPr/>
        </p:nvSpPr>
        <p:spPr>
          <a:xfrm>
            <a:off x="222813" y="1940433"/>
            <a:ext cx="5228863" cy="2308324"/>
          </a:xfrm>
          <a:prstGeom prst="rect">
            <a:avLst/>
          </a:prstGeom>
          <a:noFill/>
        </p:spPr>
        <p:txBody>
          <a:bodyPr wrap="square">
            <a:spAutoFit/>
          </a:bodyPr>
          <a:lstStyle/>
          <a:p>
            <a:r>
              <a:rPr lang="en-US" b="1" dirty="0"/>
              <a:t>Plaintext</a:t>
            </a:r>
            <a:r>
              <a:rPr lang="en-US" dirty="0"/>
              <a:t> = SHAVRINA</a:t>
            </a:r>
          </a:p>
          <a:p>
            <a:r>
              <a:rPr lang="en-US" b="1" dirty="0"/>
              <a:t>HEX Plaintext </a:t>
            </a:r>
            <a:r>
              <a:rPr lang="en-US" dirty="0"/>
              <a:t>= 53 48 41 56 52 49 4E 41</a:t>
            </a:r>
          </a:p>
          <a:p>
            <a:r>
              <a:rPr lang="en-US" b="1" dirty="0"/>
              <a:t>BIN Plaintext </a:t>
            </a:r>
            <a:r>
              <a:rPr lang="en-US" dirty="0"/>
              <a:t>= 01010011 01001000 01000001 01010110 01010010 01001001 01001110 01000001</a:t>
            </a:r>
          </a:p>
          <a:p>
            <a:endParaRPr lang="ru-RU" dirty="0"/>
          </a:p>
          <a:p>
            <a:endParaRPr lang="ru-RU" dirty="0"/>
          </a:p>
          <a:p>
            <a:endParaRPr lang="ru-RU" dirty="0"/>
          </a:p>
          <a:p>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222813" y="5263489"/>
            <a:ext cx="5333035" cy="646331"/>
          </a:xfrm>
          <a:prstGeom prst="rect">
            <a:avLst/>
          </a:prstGeom>
          <a:noFill/>
        </p:spPr>
        <p:txBody>
          <a:bodyPr wrap="square">
            <a:spAutoFit/>
          </a:bodyPr>
          <a:lstStyle/>
          <a:p>
            <a:r>
              <a:rPr lang="en-US" b="1" dirty="0"/>
              <a:t>Permuted text </a:t>
            </a:r>
            <a:r>
              <a:rPr lang="en-US" dirty="0"/>
              <a:t>= 11111111 00011001 01001000 10100101 00000000 00000000 01100010 01011001</a:t>
            </a:r>
          </a:p>
        </p:txBody>
      </p:sp>
      <p:pic>
        <p:nvPicPr>
          <p:cNvPr id="4" name="Рисунок 3">
            <a:extLst>
              <a:ext uri="{FF2B5EF4-FFF2-40B4-BE49-F238E27FC236}">
                <a16:creationId xmlns:a16="http://schemas.microsoft.com/office/drawing/2014/main" id="{AD642658-3199-4B31-BE56-5D5A1C562795}"/>
              </a:ext>
            </a:extLst>
          </p:cNvPr>
          <p:cNvPicPr>
            <a:picLocks noChangeAspect="1"/>
          </p:cNvPicPr>
          <p:nvPr/>
        </p:nvPicPr>
        <p:blipFill rotWithShape="1">
          <a:blip r:embed="rId2">
            <a:extLst>
              <a:ext uri="{28A0092B-C50C-407E-A947-70E740481C1C}">
                <a14:useLocalDpi xmlns:a14="http://schemas.microsoft.com/office/drawing/2010/main" val="0"/>
              </a:ext>
            </a:extLst>
          </a:blip>
          <a:srcRect l="3305" b="13418"/>
          <a:stretch/>
        </p:blipFill>
        <p:spPr>
          <a:xfrm>
            <a:off x="6300389" y="1852734"/>
            <a:ext cx="5053411" cy="4524917"/>
          </a:xfrm>
          <a:prstGeom prst="rect">
            <a:avLst/>
          </a:prstGeom>
        </p:spPr>
      </p:pic>
    </p:spTree>
    <p:extLst>
      <p:ext uri="{BB962C8B-B14F-4D97-AF65-F5344CB8AC3E}">
        <p14:creationId xmlns:p14="http://schemas.microsoft.com/office/powerpoint/2010/main" val="1849042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p:txBody>
          <a:bodyPr>
            <a:normAutofit/>
          </a:bodyPr>
          <a:lstStyle/>
          <a:p>
            <a:r>
              <a:rPr lang="ru-RU" dirty="0"/>
              <a:t>DES: Ручной расчет первого раунда  </a:t>
            </a:r>
            <a:r>
              <a:rPr lang="en-US" dirty="0"/>
              <a:t>F(Right half, Round Key )</a:t>
            </a:r>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736115" y="1690688"/>
            <a:ext cx="5333035" cy="2585323"/>
          </a:xfrm>
          <a:prstGeom prst="rect">
            <a:avLst/>
          </a:prstGeom>
          <a:noFill/>
        </p:spPr>
        <p:txBody>
          <a:bodyPr wrap="square">
            <a:spAutoFit/>
          </a:bodyPr>
          <a:lstStyle/>
          <a:p>
            <a:r>
              <a:rPr lang="en-US" b="1" dirty="0"/>
              <a:t>Permuted text </a:t>
            </a:r>
            <a:r>
              <a:rPr lang="en-US" dirty="0"/>
              <a:t>= 11111111 00011001 01001000 10100101 00000000 00000000 01100010 01011001</a:t>
            </a:r>
          </a:p>
          <a:p>
            <a:r>
              <a:rPr lang="en-US" b="1" dirty="0"/>
              <a:t>Left half </a:t>
            </a:r>
            <a:r>
              <a:rPr lang="en-US" dirty="0"/>
              <a:t>= 11111111 00011001 01001000 10100101</a:t>
            </a:r>
            <a:endParaRPr lang="ru-RU" dirty="0"/>
          </a:p>
          <a:p>
            <a:r>
              <a:rPr lang="en-US" b="1" dirty="0"/>
              <a:t>Right half </a:t>
            </a:r>
            <a:r>
              <a:rPr lang="en-US" dirty="0"/>
              <a:t>= 00000000 00000000 01100010 01011001</a:t>
            </a:r>
          </a:p>
          <a:p>
            <a:endParaRPr lang="en-US" b="1" dirty="0"/>
          </a:p>
          <a:p>
            <a:r>
              <a:rPr lang="en-US" b="1" dirty="0"/>
              <a:t>XOR result </a:t>
            </a:r>
            <a:r>
              <a:rPr lang="en-US" dirty="0"/>
              <a:t>= 10101101 01001000 10100011 </a:t>
            </a:r>
          </a:p>
          <a:p>
            <a:r>
              <a:rPr lang="en-US" dirty="0"/>
              <a:t>10000101 00000110 11111011</a:t>
            </a:r>
            <a:endParaRPr lang="ru-RU" dirty="0"/>
          </a:p>
          <a:p>
            <a:endParaRPr lang="ru-RU" dirty="0"/>
          </a:p>
          <a:p>
            <a:endParaRPr lang="en-US" dirty="0"/>
          </a:p>
        </p:txBody>
      </p:sp>
      <p:pic>
        <p:nvPicPr>
          <p:cNvPr id="3074" name="Picture 2">
            <a:extLst>
              <a:ext uri="{FF2B5EF4-FFF2-40B4-BE49-F238E27FC236}">
                <a16:creationId xmlns:a16="http://schemas.microsoft.com/office/drawing/2014/main" id="{F1976CE5-81F9-458C-9A8A-BB330D4210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1" b="19156"/>
          <a:stretch/>
        </p:blipFill>
        <p:spPr bwMode="auto">
          <a:xfrm>
            <a:off x="6069150" y="1500198"/>
            <a:ext cx="5788465" cy="479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855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p:txBody>
          <a:bodyPr>
            <a:normAutofit/>
          </a:bodyPr>
          <a:lstStyle/>
          <a:p>
            <a:r>
              <a:rPr lang="ru-RU" dirty="0"/>
              <a:t>DES: Ручной расчет первого раунда </a:t>
            </a:r>
            <a:r>
              <a:rPr lang="en-US" dirty="0"/>
              <a:t>F(Right half, Round Key )</a:t>
            </a:r>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611528" y="1983557"/>
            <a:ext cx="4321216" cy="2862322"/>
          </a:xfrm>
          <a:prstGeom prst="rect">
            <a:avLst/>
          </a:prstGeom>
          <a:noFill/>
        </p:spPr>
        <p:txBody>
          <a:bodyPr wrap="square">
            <a:spAutoFit/>
          </a:bodyPr>
          <a:lstStyle/>
          <a:p>
            <a:r>
              <a:rPr lang="en-US" b="1" dirty="0"/>
              <a:t>XOR result </a:t>
            </a:r>
            <a:r>
              <a:rPr lang="en-US" dirty="0"/>
              <a:t>= </a:t>
            </a:r>
          </a:p>
          <a:p>
            <a:r>
              <a:rPr lang="en-US" dirty="0"/>
              <a:t>10101101 01001000 10100011 </a:t>
            </a:r>
          </a:p>
          <a:p>
            <a:r>
              <a:rPr lang="en-US" dirty="0"/>
              <a:t>10000101 00000110 11111011</a:t>
            </a:r>
            <a:endParaRPr lang="ru-RU" dirty="0"/>
          </a:p>
          <a:p>
            <a:endParaRPr lang="en-US" b="1" dirty="0"/>
          </a:p>
          <a:p>
            <a:r>
              <a:rPr lang="en-US" b="1" dirty="0"/>
              <a:t>S result </a:t>
            </a:r>
            <a:r>
              <a:rPr lang="en-US" dirty="0"/>
              <a:t>= </a:t>
            </a:r>
          </a:p>
          <a:p>
            <a:r>
              <a:rPr lang="en-US" dirty="0"/>
              <a:t>10010010 01101111 10110000 11110101</a:t>
            </a:r>
          </a:p>
          <a:p>
            <a:endParaRPr lang="en-US" dirty="0"/>
          </a:p>
          <a:p>
            <a:r>
              <a:rPr lang="en-US" b="1" dirty="0"/>
              <a:t>F(Right half, Round Key ) </a:t>
            </a:r>
            <a:r>
              <a:rPr lang="en-US" dirty="0"/>
              <a:t>= </a:t>
            </a:r>
          </a:p>
          <a:p>
            <a:r>
              <a:rPr lang="en-US" dirty="0"/>
              <a:t>11100011 11010001 00011100 11100111</a:t>
            </a:r>
            <a:endParaRPr lang="ru-RU" dirty="0"/>
          </a:p>
          <a:p>
            <a:endParaRPr lang="en-US" dirty="0"/>
          </a:p>
        </p:txBody>
      </p:sp>
      <p:pic>
        <p:nvPicPr>
          <p:cNvPr id="4" name="Рисунок 3">
            <a:extLst>
              <a:ext uri="{FF2B5EF4-FFF2-40B4-BE49-F238E27FC236}">
                <a16:creationId xmlns:a16="http://schemas.microsoft.com/office/drawing/2014/main" id="{F01EBEBD-3C9D-4B89-8223-E16D5605857C}"/>
              </a:ext>
            </a:extLst>
          </p:cNvPr>
          <p:cNvPicPr>
            <a:picLocks noChangeAspect="1"/>
          </p:cNvPicPr>
          <p:nvPr/>
        </p:nvPicPr>
        <p:blipFill rotWithShape="1">
          <a:blip r:embed="rId2">
            <a:extLst>
              <a:ext uri="{28A0092B-C50C-407E-A947-70E740481C1C}">
                <a14:useLocalDpi xmlns:a14="http://schemas.microsoft.com/office/drawing/2010/main" val="0"/>
              </a:ext>
            </a:extLst>
          </a:blip>
          <a:srcRect t="22278" b="36709"/>
          <a:stretch/>
        </p:blipFill>
        <p:spPr>
          <a:xfrm>
            <a:off x="4932744" y="1333057"/>
            <a:ext cx="6858000" cy="2812648"/>
          </a:xfrm>
          <a:prstGeom prst="rect">
            <a:avLst/>
          </a:prstGeom>
        </p:spPr>
      </p:pic>
      <p:pic>
        <p:nvPicPr>
          <p:cNvPr id="5" name="Рисунок 4">
            <a:extLst>
              <a:ext uri="{FF2B5EF4-FFF2-40B4-BE49-F238E27FC236}">
                <a16:creationId xmlns:a16="http://schemas.microsoft.com/office/drawing/2014/main" id="{05E3DF90-0501-4C32-8E07-DE7FBCC607B0}"/>
              </a:ext>
            </a:extLst>
          </p:cNvPr>
          <p:cNvPicPr>
            <a:picLocks noChangeAspect="1"/>
          </p:cNvPicPr>
          <p:nvPr/>
        </p:nvPicPr>
        <p:blipFill rotWithShape="1">
          <a:blip r:embed="rId3">
            <a:extLst>
              <a:ext uri="{28A0092B-C50C-407E-A947-70E740481C1C}">
                <a14:useLocalDpi xmlns:a14="http://schemas.microsoft.com/office/drawing/2010/main" val="0"/>
              </a:ext>
            </a:extLst>
          </a:blip>
          <a:srcRect t="8987" r="1843" b="50756"/>
          <a:stretch/>
        </p:blipFill>
        <p:spPr>
          <a:xfrm>
            <a:off x="4932744" y="4145705"/>
            <a:ext cx="6858000" cy="2712295"/>
          </a:xfrm>
          <a:prstGeom prst="rect">
            <a:avLst/>
          </a:prstGeom>
        </p:spPr>
      </p:pic>
    </p:spTree>
    <p:extLst>
      <p:ext uri="{BB962C8B-B14F-4D97-AF65-F5344CB8AC3E}">
        <p14:creationId xmlns:p14="http://schemas.microsoft.com/office/powerpoint/2010/main" val="362120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a:xfrm>
            <a:off x="838200" y="365125"/>
            <a:ext cx="11118448" cy="1325563"/>
          </a:xfrm>
        </p:spPr>
        <p:txBody>
          <a:bodyPr>
            <a:normAutofit/>
          </a:bodyPr>
          <a:lstStyle/>
          <a:p>
            <a:r>
              <a:rPr lang="ru-RU" dirty="0"/>
              <a:t>DES: Ручной расчет первого раунда </a:t>
            </a:r>
            <a:r>
              <a:rPr lang="en-US" dirty="0"/>
              <a:t>(</a:t>
            </a:r>
            <a:r>
              <a:rPr lang="ru-RU" dirty="0"/>
              <a:t>Конечные расчеты</a:t>
            </a:r>
            <a:r>
              <a:rPr lang="en-US" dirty="0"/>
              <a:t>)</a:t>
            </a:r>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611528" y="1983557"/>
            <a:ext cx="4321216" cy="3693319"/>
          </a:xfrm>
          <a:prstGeom prst="rect">
            <a:avLst/>
          </a:prstGeom>
          <a:noFill/>
        </p:spPr>
        <p:txBody>
          <a:bodyPr wrap="square">
            <a:spAutoFit/>
          </a:bodyPr>
          <a:lstStyle/>
          <a:p>
            <a:r>
              <a:rPr lang="en-US" b="1" dirty="0"/>
              <a:t>Left half </a:t>
            </a:r>
            <a:r>
              <a:rPr lang="en-US" dirty="0"/>
              <a:t>= </a:t>
            </a:r>
          </a:p>
          <a:p>
            <a:r>
              <a:rPr lang="en-US" dirty="0"/>
              <a:t>11111111 00011001 01001000 10100101</a:t>
            </a:r>
            <a:endParaRPr lang="ru-RU" dirty="0"/>
          </a:p>
          <a:p>
            <a:r>
              <a:rPr lang="en-US" b="1" dirty="0"/>
              <a:t>Right half </a:t>
            </a:r>
            <a:r>
              <a:rPr lang="en-US" dirty="0"/>
              <a:t>= </a:t>
            </a:r>
          </a:p>
          <a:p>
            <a:r>
              <a:rPr lang="en-US" dirty="0"/>
              <a:t>00000000 00000000 01100010 01011001</a:t>
            </a:r>
          </a:p>
          <a:p>
            <a:r>
              <a:rPr lang="en-US" b="1" dirty="0"/>
              <a:t>F(</a:t>
            </a:r>
            <a:r>
              <a:rPr lang="en-US" b="1" dirty="0" err="1"/>
              <a:t>Rignt</a:t>
            </a:r>
            <a:r>
              <a:rPr lang="en-US" b="1" dirty="0"/>
              <a:t> half, K1) </a:t>
            </a:r>
            <a:r>
              <a:rPr lang="en-US" dirty="0"/>
              <a:t>= </a:t>
            </a:r>
          </a:p>
          <a:p>
            <a:r>
              <a:rPr lang="en-US" dirty="0"/>
              <a:t>11100011 11010001 00011100 11100111</a:t>
            </a:r>
          </a:p>
          <a:p>
            <a:endParaRPr lang="en-US" dirty="0"/>
          </a:p>
          <a:p>
            <a:r>
              <a:rPr lang="en-US" b="1" dirty="0"/>
              <a:t>XOR result = </a:t>
            </a:r>
          </a:p>
          <a:p>
            <a:r>
              <a:rPr lang="en-US" dirty="0"/>
              <a:t>00011100 11001000 01010100 01000010</a:t>
            </a:r>
          </a:p>
          <a:p>
            <a:endParaRPr lang="en-US" dirty="0"/>
          </a:p>
          <a:p>
            <a:endParaRPr lang="en-US" dirty="0"/>
          </a:p>
          <a:p>
            <a:endParaRPr lang="ru-RU" dirty="0"/>
          </a:p>
          <a:p>
            <a:endParaRPr lang="en-US" dirty="0"/>
          </a:p>
        </p:txBody>
      </p:sp>
      <p:pic>
        <p:nvPicPr>
          <p:cNvPr id="4098" name="Picture 2">
            <a:extLst>
              <a:ext uri="{FF2B5EF4-FFF2-40B4-BE49-F238E27FC236}">
                <a16:creationId xmlns:a16="http://schemas.microsoft.com/office/drawing/2014/main" id="{14199814-D0FD-439B-B9AB-2EB30C785A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814" b="60675"/>
          <a:stretch/>
        </p:blipFill>
        <p:spPr bwMode="auto">
          <a:xfrm>
            <a:off x="4932744" y="1983557"/>
            <a:ext cx="6858000" cy="18866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097A442-098F-4F2A-ACB7-01750513BFA0}"/>
              </a:ext>
            </a:extLst>
          </p:cNvPr>
          <p:cNvSpPr txBox="1"/>
          <p:nvPr/>
        </p:nvSpPr>
        <p:spPr>
          <a:xfrm>
            <a:off x="611528" y="5046415"/>
            <a:ext cx="4653025" cy="923330"/>
          </a:xfrm>
          <a:prstGeom prst="rect">
            <a:avLst/>
          </a:prstGeom>
          <a:noFill/>
        </p:spPr>
        <p:txBody>
          <a:bodyPr wrap="square" rtlCol="0">
            <a:spAutoFit/>
          </a:bodyPr>
          <a:lstStyle/>
          <a:p>
            <a:r>
              <a:rPr lang="en-US" b="1" dirty="0"/>
              <a:t>RESULT</a:t>
            </a:r>
            <a:r>
              <a:rPr lang="en-US" dirty="0"/>
              <a:t> = </a:t>
            </a:r>
            <a:r>
              <a:rPr lang="en-US" b="1" dirty="0"/>
              <a:t>Right half</a:t>
            </a:r>
            <a:r>
              <a:rPr lang="en-US" dirty="0"/>
              <a:t> +</a:t>
            </a:r>
            <a:r>
              <a:rPr lang="en-US" b="1" dirty="0"/>
              <a:t> XOR result </a:t>
            </a:r>
            <a:r>
              <a:rPr lang="en-US" dirty="0"/>
              <a:t>= </a:t>
            </a:r>
          </a:p>
          <a:p>
            <a:r>
              <a:rPr lang="en-US" dirty="0"/>
              <a:t>00000000 00000000 01100010 01011001 </a:t>
            </a:r>
          </a:p>
          <a:p>
            <a:r>
              <a:rPr lang="en-US" dirty="0"/>
              <a:t>00011100 11001000 01010100 01000010</a:t>
            </a:r>
          </a:p>
        </p:txBody>
      </p:sp>
    </p:spTree>
    <p:extLst>
      <p:ext uri="{BB962C8B-B14F-4D97-AF65-F5344CB8AC3E}">
        <p14:creationId xmlns:p14="http://schemas.microsoft.com/office/powerpoint/2010/main" val="2170196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708AC-B2A6-4161-8C4D-87B23B66C6C4}"/>
              </a:ext>
            </a:extLst>
          </p:cNvPr>
          <p:cNvSpPr>
            <a:spLocks noGrp="1"/>
          </p:cNvSpPr>
          <p:nvPr>
            <p:ph type="title"/>
          </p:nvPr>
        </p:nvSpPr>
        <p:spPr>
          <a:xfrm>
            <a:off x="1962151" y="2766218"/>
            <a:ext cx="8143874" cy="1325563"/>
          </a:xfrm>
        </p:spPr>
        <p:txBody>
          <a:bodyPr>
            <a:normAutofit/>
          </a:bodyPr>
          <a:lstStyle/>
          <a:p>
            <a:pPr algn="ctr"/>
            <a:r>
              <a:rPr lang="ru-RU" dirty="0"/>
              <a:t>Исследование DES  в режимах работы ECB и CBC</a:t>
            </a:r>
          </a:p>
        </p:txBody>
      </p:sp>
    </p:spTree>
    <p:extLst>
      <p:ext uri="{BB962C8B-B14F-4D97-AF65-F5344CB8AC3E}">
        <p14:creationId xmlns:p14="http://schemas.microsoft.com/office/powerpoint/2010/main" val="4031078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A6B4DA-F6F9-4911-8CEA-EAFADBB46601}"/>
              </a:ext>
            </a:extLst>
          </p:cNvPr>
          <p:cNvSpPr>
            <a:spLocks noGrp="1"/>
          </p:cNvSpPr>
          <p:nvPr>
            <p:ph type="title"/>
          </p:nvPr>
        </p:nvSpPr>
        <p:spPr/>
        <p:txBody>
          <a:bodyPr/>
          <a:lstStyle/>
          <a:p>
            <a:r>
              <a:rPr lang="ru-RU" dirty="0"/>
              <a:t>Схемы алгоритмов работы DES в режимах ECB и CBC</a:t>
            </a:r>
          </a:p>
        </p:txBody>
      </p:sp>
      <p:pic>
        <p:nvPicPr>
          <p:cNvPr id="7" name="Объект 6">
            <a:extLst>
              <a:ext uri="{FF2B5EF4-FFF2-40B4-BE49-F238E27FC236}">
                <a16:creationId xmlns:a16="http://schemas.microsoft.com/office/drawing/2014/main" id="{6AA42578-DE35-4945-9143-070B20FB12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6677" y="1729995"/>
            <a:ext cx="3435693" cy="4638668"/>
          </a:xfrm>
        </p:spPr>
      </p:pic>
      <p:sp>
        <p:nvSpPr>
          <p:cNvPr id="8" name="TextBox 7">
            <a:extLst>
              <a:ext uri="{FF2B5EF4-FFF2-40B4-BE49-F238E27FC236}">
                <a16:creationId xmlns:a16="http://schemas.microsoft.com/office/drawing/2014/main" id="{7504A715-37D1-4BB8-8FA5-0FDC81D61B8C}"/>
              </a:ext>
            </a:extLst>
          </p:cNvPr>
          <p:cNvSpPr txBox="1"/>
          <p:nvPr/>
        </p:nvSpPr>
        <p:spPr>
          <a:xfrm>
            <a:off x="4186798" y="2156103"/>
            <a:ext cx="2410725" cy="369332"/>
          </a:xfrm>
          <a:prstGeom prst="rect">
            <a:avLst/>
          </a:prstGeom>
          <a:noFill/>
        </p:spPr>
        <p:txBody>
          <a:bodyPr wrap="none" rtlCol="0">
            <a:spAutoFit/>
          </a:bodyPr>
          <a:lstStyle/>
          <a:p>
            <a:r>
              <a:rPr lang="en-US" dirty="0"/>
              <a:t>&lt;- Electronic Code Book</a:t>
            </a:r>
            <a:endParaRPr lang="ru-RU" dirty="0"/>
          </a:p>
        </p:txBody>
      </p:sp>
      <p:sp>
        <p:nvSpPr>
          <p:cNvPr id="9" name="TextBox 8">
            <a:extLst>
              <a:ext uri="{FF2B5EF4-FFF2-40B4-BE49-F238E27FC236}">
                <a16:creationId xmlns:a16="http://schemas.microsoft.com/office/drawing/2014/main" id="{9742C362-A89E-492C-92EF-6B9AC379297B}"/>
              </a:ext>
            </a:extLst>
          </p:cNvPr>
          <p:cNvSpPr txBox="1"/>
          <p:nvPr/>
        </p:nvSpPr>
        <p:spPr>
          <a:xfrm>
            <a:off x="5159821" y="2813177"/>
            <a:ext cx="2460930" cy="369332"/>
          </a:xfrm>
          <a:prstGeom prst="rect">
            <a:avLst/>
          </a:prstGeom>
          <a:noFill/>
        </p:spPr>
        <p:txBody>
          <a:bodyPr wrap="none" rtlCol="0">
            <a:spAutoFit/>
          </a:bodyPr>
          <a:lstStyle/>
          <a:p>
            <a:r>
              <a:rPr lang="en-US" dirty="0"/>
              <a:t>Cipher Block Chaining -&gt;</a:t>
            </a:r>
            <a:endParaRPr lang="ru-RU" dirty="0"/>
          </a:p>
        </p:txBody>
      </p:sp>
      <p:pic>
        <p:nvPicPr>
          <p:cNvPr id="13" name="Рисунок 12">
            <a:extLst>
              <a:ext uri="{FF2B5EF4-FFF2-40B4-BE49-F238E27FC236}">
                <a16:creationId xmlns:a16="http://schemas.microsoft.com/office/drawing/2014/main" id="{72B7E60A-B2EF-4743-94A4-42E9C7E455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751" y="1212335"/>
            <a:ext cx="3305175" cy="5343525"/>
          </a:xfrm>
          <a:prstGeom prst="rect">
            <a:avLst/>
          </a:prstGeom>
        </p:spPr>
      </p:pic>
    </p:spTree>
    <p:extLst>
      <p:ext uri="{BB962C8B-B14F-4D97-AF65-F5344CB8AC3E}">
        <p14:creationId xmlns:p14="http://schemas.microsoft.com/office/powerpoint/2010/main" val="4068215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27E1C0-73C3-4569-84CB-6CB8E277A1E7}"/>
              </a:ext>
            </a:extLst>
          </p:cNvPr>
          <p:cNvSpPr>
            <a:spLocks noGrp="1"/>
          </p:cNvSpPr>
          <p:nvPr>
            <p:ph type="title"/>
          </p:nvPr>
        </p:nvSpPr>
        <p:spPr/>
        <p:txBody>
          <a:bodyPr/>
          <a:lstStyle/>
          <a:p>
            <a:r>
              <a:rPr lang="ru-RU" dirty="0"/>
              <a:t>Результаты  оценки трудоемкости таки "грубой силы"  на DES в режимах  ЕСВ и СВС</a:t>
            </a:r>
          </a:p>
        </p:txBody>
      </p:sp>
      <p:graphicFrame>
        <p:nvGraphicFramePr>
          <p:cNvPr id="5" name="Таблица 5">
            <a:extLst>
              <a:ext uri="{FF2B5EF4-FFF2-40B4-BE49-F238E27FC236}">
                <a16:creationId xmlns:a16="http://schemas.microsoft.com/office/drawing/2014/main" id="{946FE572-41D6-493F-B15A-A6FD55E5E4E6}"/>
              </a:ext>
            </a:extLst>
          </p:cNvPr>
          <p:cNvGraphicFramePr>
            <a:graphicFrameLocks noGrp="1"/>
          </p:cNvGraphicFramePr>
          <p:nvPr>
            <p:ph idx="1"/>
            <p:extLst>
              <p:ext uri="{D42A27DB-BD31-4B8C-83A1-F6EECF244321}">
                <p14:modId xmlns:p14="http://schemas.microsoft.com/office/powerpoint/2010/main" val="1519784635"/>
              </p:ext>
            </p:extLst>
          </p:nvPr>
        </p:nvGraphicFramePr>
        <p:xfrm>
          <a:off x="838200" y="3133563"/>
          <a:ext cx="10515597" cy="29667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261259334"/>
                    </a:ext>
                  </a:extLst>
                </a:gridCol>
                <a:gridCol w="3505199">
                  <a:extLst>
                    <a:ext uri="{9D8B030D-6E8A-4147-A177-3AD203B41FA5}">
                      <a16:colId xmlns:a16="http://schemas.microsoft.com/office/drawing/2014/main" val="247803683"/>
                    </a:ext>
                  </a:extLst>
                </a:gridCol>
                <a:gridCol w="3505199">
                  <a:extLst>
                    <a:ext uri="{9D8B030D-6E8A-4147-A177-3AD203B41FA5}">
                      <a16:colId xmlns:a16="http://schemas.microsoft.com/office/drawing/2014/main" val="3895052157"/>
                    </a:ext>
                  </a:extLst>
                </a:gridCol>
              </a:tblGrid>
              <a:tr h="370840">
                <a:tc>
                  <a:txBody>
                    <a:bodyPr/>
                    <a:lstStyle/>
                    <a:p>
                      <a:r>
                        <a:rPr lang="ru-RU" dirty="0"/>
                        <a:t>Количество известных байт</a:t>
                      </a:r>
                    </a:p>
                  </a:txBody>
                  <a:tcPr/>
                </a:tc>
                <a:tc>
                  <a:txBody>
                    <a:bodyPr/>
                    <a:lstStyle/>
                    <a:p>
                      <a:r>
                        <a:rPr lang="ru-RU" dirty="0"/>
                        <a:t>Время </a:t>
                      </a:r>
                      <a:r>
                        <a:rPr lang="en-US" dirty="0"/>
                        <a:t>ECB</a:t>
                      </a:r>
                      <a:endParaRPr lang="ru-RU" dirty="0"/>
                    </a:p>
                  </a:txBody>
                  <a:tcPr/>
                </a:tc>
                <a:tc>
                  <a:txBody>
                    <a:bodyPr/>
                    <a:lstStyle/>
                    <a:p>
                      <a:r>
                        <a:rPr lang="ru-RU" dirty="0"/>
                        <a:t>Время </a:t>
                      </a:r>
                      <a:r>
                        <a:rPr lang="en-US" dirty="0"/>
                        <a:t>CBC</a:t>
                      </a:r>
                      <a:endParaRPr lang="ru-RU" dirty="0"/>
                    </a:p>
                  </a:txBody>
                  <a:tcPr/>
                </a:tc>
                <a:extLst>
                  <a:ext uri="{0D108BD9-81ED-4DB2-BD59-A6C34878D82A}">
                    <a16:rowId xmlns:a16="http://schemas.microsoft.com/office/drawing/2014/main" val="925765364"/>
                  </a:ext>
                </a:extLst>
              </a:tr>
              <a:tr h="370840">
                <a:tc>
                  <a:txBody>
                    <a:bodyPr/>
                    <a:lstStyle/>
                    <a:p>
                      <a:r>
                        <a:rPr lang="ru-RU" dirty="0"/>
                        <a:t>7</a:t>
                      </a:r>
                    </a:p>
                  </a:txBody>
                  <a:tcPr/>
                </a:tc>
                <a:tc>
                  <a:txBody>
                    <a:bodyPr/>
                    <a:lstStyle/>
                    <a:p>
                      <a:r>
                        <a:rPr lang="en-US" dirty="0"/>
                        <a:t>&lt; 1 </a:t>
                      </a:r>
                      <a:r>
                        <a:rPr lang="ru-RU" dirty="0"/>
                        <a:t>сек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 1 </a:t>
                      </a:r>
                      <a:r>
                        <a:rPr lang="ru-RU" dirty="0"/>
                        <a:t>сек</a:t>
                      </a:r>
                    </a:p>
                  </a:txBody>
                  <a:tcPr/>
                </a:tc>
                <a:extLst>
                  <a:ext uri="{0D108BD9-81ED-4DB2-BD59-A6C34878D82A}">
                    <a16:rowId xmlns:a16="http://schemas.microsoft.com/office/drawing/2014/main" val="3273379345"/>
                  </a:ext>
                </a:extLst>
              </a:tr>
              <a:tr h="370840">
                <a:tc>
                  <a:txBody>
                    <a:bodyPr/>
                    <a:lstStyle/>
                    <a:p>
                      <a:r>
                        <a:rPr lang="ru-RU"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 1 </a:t>
                      </a:r>
                      <a:r>
                        <a:rPr lang="ru-RU" dirty="0"/>
                        <a:t>сек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 1 </a:t>
                      </a:r>
                      <a:r>
                        <a:rPr lang="ru-RU" dirty="0"/>
                        <a:t>сек</a:t>
                      </a:r>
                    </a:p>
                  </a:txBody>
                  <a:tcPr/>
                </a:tc>
                <a:extLst>
                  <a:ext uri="{0D108BD9-81ED-4DB2-BD59-A6C34878D82A}">
                    <a16:rowId xmlns:a16="http://schemas.microsoft.com/office/drawing/2014/main" val="483150281"/>
                  </a:ext>
                </a:extLst>
              </a:tr>
              <a:tr h="370840">
                <a:tc>
                  <a:txBody>
                    <a:bodyPr/>
                    <a:lstStyle/>
                    <a:p>
                      <a:r>
                        <a:rPr lang="ru-RU" dirty="0"/>
                        <a:t>5</a:t>
                      </a:r>
                    </a:p>
                  </a:txBody>
                  <a:tcPr/>
                </a:tc>
                <a:tc>
                  <a:txBody>
                    <a:bodyPr/>
                    <a:lstStyle/>
                    <a:p>
                      <a:r>
                        <a:rPr lang="ru-RU" dirty="0"/>
                        <a:t>14 сек</a:t>
                      </a:r>
                    </a:p>
                  </a:txBody>
                  <a:tcPr/>
                </a:tc>
                <a:tc>
                  <a:txBody>
                    <a:bodyPr/>
                    <a:lstStyle/>
                    <a:p>
                      <a:r>
                        <a:rPr lang="ru-RU" dirty="0"/>
                        <a:t>28 сек</a:t>
                      </a:r>
                    </a:p>
                  </a:txBody>
                  <a:tcPr/>
                </a:tc>
                <a:extLst>
                  <a:ext uri="{0D108BD9-81ED-4DB2-BD59-A6C34878D82A}">
                    <a16:rowId xmlns:a16="http://schemas.microsoft.com/office/drawing/2014/main" val="930991682"/>
                  </a:ext>
                </a:extLst>
              </a:tr>
              <a:tr h="370840">
                <a:tc>
                  <a:txBody>
                    <a:bodyPr/>
                    <a:lstStyle/>
                    <a:p>
                      <a:r>
                        <a:rPr lang="ru-RU" dirty="0"/>
                        <a:t>4</a:t>
                      </a:r>
                    </a:p>
                  </a:txBody>
                  <a:tcPr/>
                </a:tc>
                <a:tc>
                  <a:txBody>
                    <a:bodyPr/>
                    <a:lstStyle/>
                    <a:p>
                      <a:r>
                        <a:rPr lang="ru-RU" dirty="0"/>
                        <a:t>28 мин</a:t>
                      </a:r>
                    </a:p>
                  </a:txBody>
                  <a:tcPr/>
                </a:tc>
                <a:tc>
                  <a:txBody>
                    <a:bodyPr/>
                    <a:lstStyle/>
                    <a:p>
                      <a:r>
                        <a:rPr lang="ru-RU" dirty="0"/>
                        <a:t>44 мин</a:t>
                      </a:r>
                    </a:p>
                  </a:txBody>
                  <a:tcPr/>
                </a:tc>
                <a:extLst>
                  <a:ext uri="{0D108BD9-81ED-4DB2-BD59-A6C34878D82A}">
                    <a16:rowId xmlns:a16="http://schemas.microsoft.com/office/drawing/2014/main" val="1748836954"/>
                  </a:ext>
                </a:extLst>
              </a:tr>
              <a:tr h="370840">
                <a:tc>
                  <a:txBody>
                    <a:bodyPr/>
                    <a:lstStyle/>
                    <a:p>
                      <a:r>
                        <a:rPr lang="ru-RU" dirty="0"/>
                        <a:t>3</a:t>
                      </a:r>
                    </a:p>
                  </a:txBody>
                  <a:tcPr/>
                </a:tc>
                <a:tc>
                  <a:txBody>
                    <a:bodyPr/>
                    <a:lstStyle/>
                    <a:p>
                      <a:r>
                        <a:rPr lang="ru-RU" dirty="0"/>
                        <a:t>2.5 дня</a:t>
                      </a:r>
                    </a:p>
                  </a:txBody>
                  <a:tcPr/>
                </a:tc>
                <a:tc>
                  <a:txBody>
                    <a:bodyPr/>
                    <a:lstStyle/>
                    <a:p>
                      <a:r>
                        <a:rPr lang="ru-RU" dirty="0"/>
                        <a:t>3.8 дней</a:t>
                      </a:r>
                    </a:p>
                  </a:txBody>
                  <a:tcPr/>
                </a:tc>
                <a:extLst>
                  <a:ext uri="{0D108BD9-81ED-4DB2-BD59-A6C34878D82A}">
                    <a16:rowId xmlns:a16="http://schemas.microsoft.com/office/drawing/2014/main" val="4149291059"/>
                  </a:ext>
                </a:extLst>
              </a:tr>
              <a:tr h="370840">
                <a:tc>
                  <a:txBody>
                    <a:bodyPr/>
                    <a:lstStyle/>
                    <a:p>
                      <a:r>
                        <a:rPr lang="ru-RU" dirty="0"/>
                        <a:t>2</a:t>
                      </a:r>
                    </a:p>
                  </a:txBody>
                  <a:tcPr/>
                </a:tc>
                <a:tc>
                  <a:txBody>
                    <a:bodyPr/>
                    <a:lstStyle/>
                    <a:p>
                      <a:r>
                        <a:rPr lang="ru-RU" dirty="0"/>
                        <a:t>308 дней</a:t>
                      </a:r>
                    </a:p>
                  </a:txBody>
                  <a:tcPr/>
                </a:tc>
                <a:tc>
                  <a:txBody>
                    <a:bodyPr/>
                    <a:lstStyle/>
                    <a:p>
                      <a:r>
                        <a:rPr lang="ru-RU" dirty="0"/>
                        <a:t>1.3 года</a:t>
                      </a:r>
                    </a:p>
                  </a:txBody>
                  <a:tcPr/>
                </a:tc>
                <a:extLst>
                  <a:ext uri="{0D108BD9-81ED-4DB2-BD59-A6C34878D82A}">
                    <a16:rowId xmlns:a16="http://schemas.microsoft.com/office/drawing/2014/main" val="4276761452"/>
                  </a:ext>
                </a:extLst>
              </a:tr>
              <a:tr h="370840">
                <a:tc>
                  <a:txBody>
                    <a:bodyPr/>
                    <a:lstStyle/>
                    <a:p>
                      <a:r>
                        <a:rPr lang="ru-RU" dirty="0"/>
                        <a:t>1</a:t>
                      </a:r>
                    </a:p>
                  </a:txBody>
                  <a:tcPr/>
                </a:tc>
                <a:tc>
                  <a:txBody>
                    <a:bodyPr/>
                    <a:lstStyle/>
                    <a:p>
                      <a:r>
                        <a:rPr lang="ru-RU" dirty="0"/>
                        <a:t>110 лет</a:t>
                      </a:r>
                    </a:p>
                  </a:txBody>
                  <a:tcPr/>
                </a:tc>
                <a:tc>
                  <a:txBody>
                    <a:bodyPr/>
                    <a:lstStyle/>
                    <a:p>
                      <a:r>
                        <a:rPr lang="ru-RU" dirty="0"/>
                        <a:t>170 лет</a:t>
                      </a:r>
                    </a:p>
                  </a:txBody>
                  <a:tcPr/>
                </a:tc>
                <a:extLst>
                  <a:ext uri="{0D108BD9-81ED-4DB2-BD59-A6C34878D82A}">
                    <a16:rowId xmlns:a16="http://schemas.microsoft.com/office/drawing/2014/main" val="969134557"/>
                  </a:ext>
                </a:extLst>
              </a:tr>
            </a:tbl>
          </a:graphicData>
        </a:graphic>
      </p:graphicFrame>
      <p:sp>
        <p:nvSpPr>
          <p:cNvPr id="6" name="TextBox 5">
            <a:extLst>
              <a:ext uri="{FF2B5EF4-FFF2-40B4-BE49-F238E27FC236}">
                <a16:creationId xmlns:a16="http://schemas.microsoft.com/office/drawing/2014/main" id="{E7B44907-D273-4388-BEC0-B9BAC27EB197}"/>
              </a:ext>
            </a:extLst>
          </p:cNvPr>
          <p:cNvSpPr txBox="1"/>
          <p:nvPr/>
        </p:nvSpPr>
        <p:spPr>
          <a:xfrm>
            <a:off x="745603" y="2764231"/>
            <a:ext cx="3760581" cy="369332"/>
          </a:xfrm>
          <a:prstGeom prst="rect">
            <a:avLst/>
          </a:prstGeom>
          <a:noFill/>
        </p:spPr>
        <p:txBody>
          <a:bodyPr wrap="none" rtlCol="0">
            <a:spAutoFit/>
          </a:bodyPr>
          <a:lstStyle/>
          <a:p>
            <a:r>
              <a:rPr lang="ru-RU" dirty="0"/>
              <a:t>Размер текста до шифрования: 6304</a:t>
            </a:r>
          </a:p>
        </p:txBody>
      </p:sp>
    </p:spTree>
    <p:extLst>
      <p:ext uri="{BB962C8B-B14F-4D97-AF65-F5344CB8AC3E}">
        <p14:creationId xmlns:p14="http://schemas.microsoft.com/office/powerpoint/2010/main" val="1952878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708AC-B2A6-4161-8C4D-87B23B66C6C4}"/>
              </a:ext>
            </a:extLst>
          </p:cNvPr>
          <p:cNvSpPr>
            <a:spLocks noGrp="1"/>
          </p:cNvSpPr>
          <p:nvPr>
            <p:ph type="title"/>
          </p:nvPr>
        </p:nvSpPr>
        <p:spPr>
          <a:xfrm>
            <a:off x="1490663" y="2766218"/>
            <a:ext cx="9210674" cy="1325563"/>
          </a:xfrm>
        </p:spPr>
        <p:txBody>
          <a:bodyPr>
            <a:normAutofit/>
          </a:bodyPr>
          <a:lstStyle/>
          <a:p>
            <a:pPr algn="ctr"/>
            <a:r>
              <a:rPr lang="ru-RU" dirty="0"/>
              <a:t>Определение всех версий 3-</a:t>
            </a:r>
            <a:r>
              <a:rPr lang="en-US" dirty="0"/>
              <a:t>DES</a:t>
            </a:r>
            <a:endParaRPr lang="ru-RU" dirty="0"/>
          </a:p>
        </p:txBody>
      </p:sp>
    </p:spTree>
    <p:extLst>
      <p:ext uri="{BB962C8B-B14F-4D97-AF65-F5344CB8AC3E}">
        <p14:creationId xmlns:p14="http://schemas.microsoft.com/office/powerpoint/2010/main" val="4138353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2F34-65CB-45B5-BA9A-03443F7D2AFD}"/>
              </a:ext>
            </a:extLst>
          </p:cNvPr>
          <p:cNvSpPr>
            <a:spLocks noGrp="1"/>
          </p:cNvSpPr>
          <p:nvPr>
            <p:ph type="title"/>
          </p:nvPr>
        </p:nvSpPr>
        <p:spPr>
          <a:xfrm>
            <a:off x="838200" y="365125"/>
            <a:ext cx="2867025" cy="1325563"/>
          </a:xfrm>
        </p:spPr>
        <p:txBody>
          <a:bodyPr/>
          <a:lstStyle/>
          <a:p>
            <a:r>
              <a:rPr lang="en-US" dirty="0"/>
              <a:t>3DES-EDE3</a:t>
            </a:r>
            <a:endParaRPr lang="ru-RU" dirty="0"/>
          </a:p>
        </p:txBody>
      </p:sp>
      <p:pic>
        <p:nvPicPr>
          <p:cNvPr id="7" name="Объект 6">
            <a:extLst>
              <a:ext uri="{FF2B5EF4-FFF2-40B4-BE49-F238E27FC236}">
                <a16:creationId xmlns:a16="http://schemas.microsoft.com/office/drawing/2014/main" id="{290733F7-BFD7-452A-A71A-54A0CA229CD4}"/>
              </a:ext>
            </a:extLst>
          </p:cNvPr>
          <p:cNvPicPr>
            <a:picLocks noGrp="1" noChangeAspect="1"/>
          </p:cNvPicPr>
          <p:nvPr>
            <p:ph idx="1"/>
          </p:nvPr>
        </p:nvPicPr>
        <p:blipFill>
          <a:blip r:embed="rId2"/>
          <a:stretch>
            <a:fillRect/>
          </a:stretch>
        </p:blipFill>
        <p:spPr>
          <a:xfrm>
            <a:off x="3995154" y="365125"/>
            <a:ext cx="7531027" cy="1837674"/>
          </a:xfrm>
        </p:spPr>
      </p:pic>
      <p:pic>
        <p:nvPicPr>
          <p:cNvPr id="9" name="Рисунок 8">
            <a:extLst>
              <a:ext uri="{FF2B5EF4-FFF2-40B4-BE49-F238E27FC236}">
                <a16:creationId xmlns:a16="http://schemas.microsoft.com/office/drawing/2014/main" id="{ECC8C947-26A9-4273-8012-BEA18EEA0D35}"/>
              </a:ext>
            </a:extLst>
          </p:cNvPr>
          <p:cNvPicPr>
            <a:picLocks noChangeAspect="1"/>
          </p:cNvPicPr>
          <p:nvPr/>
        </p:nvPicPr>
        <p:blipFill>
          <a:blip r:embed="rId3"/>
          <a:stretch>
            <a:fillRect/>
          </a:stretch>
        </p:blipFill>
        <p:spPr>
          <a:xfrm>
            <a:off x="1257433" y="2202799"/>
            <a:ext cx="10268748" cy="4107499"/>
          </a:xfrm>
          <a:prstGeom prst="rect">
            <a:avLst/>
          </a:prstGeom>
        </p:spPr>
      </p:pic>
    </p:spTree>
    <p:extLst>
      <p:ext uri="{BB962C8B-B14F-4D97-AF65-F5344CB8AC3E}">
        <p14:creationId xmlns:p14="http://schemas.microsoft.com/office/powerpoint/2010/main" val="1220778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2F34-65CB-45B5-BA9A-03443F7D2AFD}"/>
              </a:ext>
            </a:extLst>
          </p:cNvPr>
          <p:cNvSpPr>
            <a:spLocks noGrp="1"/>
          </p:cNvSpPr>
          <p:nvPr>
            <p:ph type="title"/>
          </p:nvPr>
        </p:nvSpPr>
        <p:spPr>
          <a:xfrm>
            <a:off x="838200" y="365125"/>
            <a:ext cx="2867025" cy="1325563"/>
          </a:xfrm>
        </p:spPr>
        <p:txBody>
          <a:bodyPr/>
          <a:lstStyle/>
          <a:p>
            <a:r>
              <a:rPr lang="en-US" dirty="0"/>
              <a:t>3DES-EDE2</a:t>
            </a:r>
            <a:endParaRPr lang="ru-RU" dirty="0"/>
          </a:p>
        </p:txBody>
      </p:sp>
      <p:pic>
        <p:nvPicPr>
          <p:cNvPr id="6" name="Объект 5">
            <a:extLst>
              <a:ext uri="{FF2B5EF4-FFF2-40B4-BE49-F238E27FC236}">
                <a16:creationId xmlns:a16="http://schemas.microsoft.com/office/drawing/2014/main" id="{AA64D65B-F9FD-4A76-8C5D-B6F1256EA342}"/>
              </a:ext>
            </a:extLst>
          </p:cNvPr>
          <p:cNvPicPr>
            <a:picLocks noGrp="1" noChangeAspect="1"/>
          </p:cNvPicPr>
          <p:nvPr>
            <p:ph idx="1"/>
          </p:nvPr>
        </p:nvPicPr>
        <p:blipFill>
          <a:blip r:embed="rId2"/>
          <a:stretch>
            <a:fillRect/>
          </a:stretch>
        </p:blipFill>
        <p:spPr>
          <a:xfrm>
            <a:off x="3705225" y="365125"/>
            <a:ext cx="8087209" cy="1894847"/>
          </a:xfrm>
        </p:spPr>
      </p:pic>
      <p:pic>
        <p:nvPicPr>
          <p:cNvPr id="10" name="Рисунок 9">
            <a:extLst>
              <a:ext uri="{FF2B5EF4-FFF2-40B4-BE49-F238E27FC236}">
                <a16:creationId xmlns:a16="http://schemas.microsoft.com/office/drawing/2014/main" id="{F2E27F81-C749-41E1-96A5-B73ADDD10CE3}"/>
              </a:ext>
            </a:extLst>
          </p:cNvPr>
          <p:cNvPicPr>
            <a:picLocks noChangeAspect="1"/>
          </p:cNvPicPr>
          <p:nvPr/>
        </p:nvPicPr>
        <p:blipFill>
          <a:blip r:embed="rId3"/>
          <a:stretch>
            <a:fillRect/>
          </a:stretch>
        </p:blipFill>
        <p:spPr>
          <a:xfrm>
            <a:off x="219559" y="2259972"/>
            <a:ext cx="11572875" cy="3340934"/>
          </a:xfrm>
          <a:prstGeom prst="rect">
            <a:avLst/>
          </a:prstGeom>
        </p:spPr>
      </p:pic>
    </p:spTree>
    <p:extLst>
      <p:ext uri="{BB962C8B-B14F-4D97-AF65-F5344CB8AC3E}">
        <p14:creationId xmlns:p14="http://schemas.microsoft.com/office/powerpoint/2010/main" val="4133349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430ED7-EFCC-4420-90AF-F7D6FB2D737E}"/>
              </a:ext>
            </a:extLst>
          </p:cNvPr>
          <p:cNvSpPr>
            <a:spLocks noGrp="1"/>
          </p:cNvSpPr>
          <p:nvPr>
            <p:ph type="title"/>
          </p:nvPr>
        </p:nvSpPr>
        <p:spPr>
          <a:xfrm>
            <a:off x="838199" y="365125"/>
            <a:ext cx="10315575" cy="854075"/>
          </a:xfrm>
        </p:spPr>
        <p:txBody>
          <a:bodyPr>
            <a:normAutofit/>
          </a:bodyPr>
          <a:lstStyle/>
          <a:p>
            <a:r>
              <a:rPr lang="ru-RU" dirty="0"/>
              <a:t>Схемы модификаций 3DES</a:t>
            </a:r>
            <a:r>
              <a:rPr lang="en-US" dirty="0"/>
              <a:t>: EDE2 </a:t>
            </a:r>
            <a:r>
              <a:rPr lang="ru-RU" dirty="0"/>
              <a:t>и </a:t>
            </a:r>
            <a:r>
              <a:rPr lang="en-US" dirty="0"/>
              <a:t>EDE3</a:t>
            </a:r>
            <a:endParaRPr lang="ru-RU" dirty="0"/>
          </a:p>
        </p:txBody>
      </p:sp>
      <p:pic>
        <p:nvPicPr>
          <p:cNvPr id="5" name="Объект 4">
            <a:extLst>
              <a:ext uri="{FF2B5EF4-FFF2-40B4-BE49-F238E27FC236}">
                <a16:creationId xmlns:a16="http://schemas.microsoft.com/office/drawing/2014/main" id="{60A21552-A554-452C-9519-556CCAC87D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6809" y="1769666"/>
            <a:ext cx="2803605" cy="4351338"/>
          </a:xfrm>
        </p:spPr>
      </p:pic>
      <p:pic>
        <p:nvPicPr>
          <p:cNvPr id="7" name="Рисунок 6">
            <a:extLst>
              <a:ext uri="{FF2B5EF4-FFF2-40B4-BE49-F238E27FC236}">
                <a16:creationId xmlns:a16="http://schemas.microsoft.com/office/drawing/2014/main" id="{DE867DE8-B57C-487E-8050-F6C2F432F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4762" y="1354535"/>
            <a:ext cx="3019425" cy="4972050"/>
          </a:xfrm>
          <a:prstGeom prst="rect">
            <a:avLst/>
          </a:prstGeom>
        </p:spPr>
      </p:pic>
      <p:sp>
        <p:nvSpPr>
          <p:cNvPr id="8" name="TextBox 7">
            <a:extLst>
              <a:ext uri="{FF2B5EF4-FFF2-40B4-BE49-F238E27FC236}">
                <a16:creationId xmlns:a16="http://schemas.microsoft.com/office/drawing/2014/main" id="{E1181165-A8BC-4A37-BB7A-437E2B372308}"/>
              </a:ext>
            </a:extLst>
          </p:cNvPr>
          <p:cNvSpPr txBox="1"/>
          <p:nvPr/>
        </p:nvSpPr>
        <p:spPr>
          <a:xfrm>
            <a:off x="4420414" y="1933575"/>
            <a:ext cx="1453603" cy="369332"/>
          </a:xfrm>
          <a:prstGeom prst="rect">
            <a:avLst/>
          </a:prstGeom>
          <a:noFill/>
        </p:spPr>
        <p:txBody>
          <a:bodyPr wrap="none" rtlCol="0">
            <a:spAutoFit/>
          </a:bodyPr>
          <a:lstStyle/>
          <a:p>
            <a:r>
              <a:rPr lang="en-US" dirty="0"/>
              <a:t>&lt;- </a:t>
            </a:r>
            <a:r>
              <a:rPr lang="ru-RU" dirty="0"/>
              <a:t>3</a:t>
            </a:r>
            <a:r>
              <a:rPr lang="en-US" dirty="0"/>
              <a:t>DES-EDE2</a:t>
            </a:r>
            <a:endParaRPr lang="ru-RU" dirty="0"/>
          </a:p>
        </p:txBody>
      </p:sp>
      <p:sp>
        <p:nvSpPr>
          <p:cNvPr id="9" name="TextBox 8">
            <a:extLst>
              <a:ext uri="{FF2B5EF4-FFF2-40B4-BE49-F238E27FC236}">
                <a16:creationId xmlns:a16="http://schemas.microsoft.com/office/drawing/2014/main" id="{43F7FF38-3148-4974-A694-A54E90238D8D}"/>
              </a:ext>
            </a:extLst>
          </p:cNvPr>
          <p:cNvSpPr txBox="1"/>
          <p:nvPr/>
        </p:nvSpPr>
        <p:spPr>
          <a:xfrm>
            <a:off x="6497217" y="1933575"/>
            <a:ext cx="1453603" cy="369332"/>
          </a:xfrm>
          <a:prstGeom prst="rect">
            <a:avLst/>
          </a:prstGeom>
          <a:noFill/>
        </p:spPr>
        <p:txBody>
          <a:bodyPr wrap="none" rtlCol="0">
            <a:spAutoFit/>
          </a:bodyPr>
          <a:lstStyle/>
          <a:p>
            <a:r>
              <a:rPr lang="en-US" dirty="0"/>
              <a:t>3DES-EDE3 -&gt;</a:t>
            </a:r>
            <a:endParaRPr lang="ru-RU" dirty="0"/>
          </a:p>
        </p:txBody>
      </p:sp>
    </p:spTree>
    <p:extLst>
      <p:ext uri="{BB962C8B-B14F-4D97-AF65-F5344CB8AC3E}">
        <p14:creationId xmlns:p14="http://schemas.microsoft.com/office/powerpoint/2010/main" val="98400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708AC-B2A6-4161-8C4D-87B23B66C6C4}"/>
              </a:ext>
            </a:extLst>
          </p:cNvPr>
          <p:cNvSpPr>
            <a:spLocks noGrp="1"/>
          </p:cNvSpPr>
          <p:nvPr>
            <p:ph type="title"/>
          </p:nvPr>
        </p:nvSpPr>
        <p:spPr>
          <a:xfrm>
            <a:off x="1490663" y="2766218"/>
            <a:ext cx="9210674" cy="1325563"/>
          </a:xfrm>
        </p:spPr>
        <p:txBody>
          <a:bodyPr>
            <a:normAutofit fontScale="90000"/>
          </a:bodyPr>
          <a:lstStyle/>
          <a:p>
            <a:pPr algn="ctr"/>
            <a:r>
              <a:rPr lang="ru-RU" dirty="0"/>
              <a:t>Изучение преобразования шифра Магма с помощью приложения ЛИТОРЕЯ</a:t>
            </a:r>
          </a:p>
        </p:txBody>
      </p:sp>
    </p:spTree>
    <p:extLst>
      <p:ext uri="{BB962C8B-B14F-4D97-AF65-F5344CB8AC3E}">
        <p14:creationId xmlns:p14="http://schemas.microsoft.com/office/powerpoint/2010/main" val="645747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268DE2-3F27-4F0B-8381-7ADD7C61D558}"/>
              </a:ext>
            </a:extLst>
          </p:cNvPr>
          <p:cNvSpPr>
            <a:spLocks noGrp="1"/>
          </p:cNvSpPr>
          <p:nvPr>
            <p:ph type="title"/>
          </p:nvPr>
        </p:nvSpPr>
        <p:spPr>
          <a:xfrm>
            <a:off x="838201" y="0"/>
            <a:ext cx="10039350" cy="733425"/>
          </a:xfrm>
        </p:spPr>
        <p:txBody>
          <a:bodyPr>
            <a:normAutofit fontScale="90000"/>
          </a:bodyPr>
          <a:lstStyle/>
          <a:p>
            <a:r>
              <a:rPr lang="ru-RU" sz="4000" dirty="0"/>
              <a:t>МАГМА: Исходные данные и результаты раунда</a:t>
            </a:r>
          </a:p>
        </p:txBody>
      </p:sp>
      <p:sp>
        <p:nvSpPr>
          <p:cNvPr id="10" name="Объект 9">
            <a:extLst>
              <a:ext uri="{FF2B5EF4-FFF2-40B4-BE49-F238E27FC236}">
                <a16:creationId xmlns:a16="http://schemas.microsoft.com/office/drawing/2014/main" id="{ABECCD80-4961-4B60-B0AC-3B5F353FF0AA}"/>
              </a:ext>
            </a:extLst>
          </p:cNvPr>
          <p:cNvSpPr>
            <a:spLocks noGrp="1"/>
          </p:cNvSpPr>
          <p:nvPr>
            <p:ph idx="1"/>
          </p:nvPr>
        </p:nvSpPr>
        <p:spPr>
          <a:xfrm>
            <a:off x="853264" y="963875"/>
            <a:ext cx="10515600" cy="4351338"/>
          </a:xfrm>
        </p:spPr>
        <p:txBody>
          <a:bodyPr/>
          <a:lstStyle/>
          <a:p>
            <a:pPr marL="0" indent="0">
              <a:buNone/>
            </a:pPr>
            <a:r>
              <a:rPr lang="en-US" sz="1800" b="1" dirty="0"/>
              <a:t>Key </a:t>
            </a:r>
            <a:r>
              <a:rPr lang="en-US" sz="1800" dirty="0"/>
              <a:t>= 130427P</a:t>
            </a:r>
          </a:p>
          <a:p>
            <a:pPr marL="0" indent="0">
              <a:buNone/>
            </a:pPr>
            <a:r>
              <a:rPr lang="en-US" sz="1800" b="1" dirty="0"/>
              <a:t>HEX Key </a:t>
            </a:r>
            <a:r>
              <a:rPr lang="en-US" sz="1800" dirty="0"/>
              <a:t>= 31 33 30 34 32 37 50</a:t>
            </a:r>
          </a:p>
          <a:p>
            <a:pPr marL="0" indent="0">
              <a:buNone/>
            </a:pPr>
            <a:r>
              <a:rPr lang="en-US" sz="1800" b="1" dirty="0"/>
              <a:t>Plaintext </a:t>
            </a:r>
            <a:r>
              <a:rPr lang="en-US" sz="1800" dirty="0"/>
              <a:t>= SHAVRINA</a:t>
            </a:r>
          </a:p>
          <a:p>
            <a:pPr marL="0" indent="0">
              <a:buNone/>
            </a:pPr>
            <a:r>
              <a:rPr lang="en-US" sz="1800" b="1" dirty="0"/>
              <a:t>HEX Plaintext </a:t>
            </a:r>
            <a:r>
              <a:rPr lang="en-US" sz="1800" dirty="0"/>
              <a:t>= 53 48 41 56 52 49 4E 41</a:t>
            </a:r>
          </a:p>
          <a:p>
            <a:pPr marL="0" indent="0">
              <a:buNone/>
            </a:pPr>
            <a:endParaRPr lang="ru-RU" dirty="0"/>
          </a:p>
        </p:txBody>
      </p:sp>
      <p:pic>
        <p:nvPicPr>
          <p:cNvPr id="12" name="Рисунок 11">
            <a:extLst>
              <a:ext uri="{FF2B5EF4-FFF2-40B4-BE49-F238E27FC236}">
                <a16:creationId xmlns:a16="http://schemas.microsoft.com/office/drawing/2014/main" id="{EC867A34-2045-49B6-A280-BBE571200B01}"/>
              </a:ext>
            </a:extLst>
          </p:cNvPr>
          <p:cNvPicPr>
            <a:picLocks noChangeAspect="1"/>
          </p:cNvPicPr>
          <p:nvPr/>
        </p:nvPicPr>
        <p:blipFill>
          <a:blip r:embed="rId2"/>
          <a:stretch>
            <a:fillRect/>
          </a:stretch>
        </p:blipFill>
        <p:spPr>
          <a:xfrm>
            <a:off x="853264" y="4586824"/>
            <a:ext cx="6944694" cy="1886213"/>
          </a:xfrm>
          <a:prstGeom prst="rect">
            <a:avLst/>
          </a:prstGeom>
        </p:spPr>
      </p:pic>
      <p:pic>
        <p:nvPicPr>
          <p:cNvPr id="18" name="Рисунок 17">
            <a:extLst>
              <a:ext uri="{FF2B5EF4-FFF2-40B4-BE49-F238E27FC236}">
                <a16:creationId xmlns:a16="http://schemas.microsoft.com/office/drawing/2014/main" id="{8FC1CFCC-BC12-40C7-AD60-BD6ADBE86BA5}"/>
              </a:ext>
            </a:extLst>
          </p:cNvPr>
          <p:cNvPicPr>
            <a:picLocks noChangeAspect="1"/>
          </p:cNvPicPr>
          <p:nvPr/>
        </p:nvPicPr>
        <p:blipFill>
          <a:blip r:embed="rId3"/>
          <a:stretch>
            <a:fillRect/>
          </a:stretch>
        </p:blipFill>
        <p:spPr>
          <a:xfrm>
            <a:off x="5232972" y="963875"/>
            <a:ext cx="6105764" cy="4086225"/>
          </a:xfrm>
          <a:prstGeom prst="rect">
            <a:avLst/>
          </a:prstGeom>
        </p:spPr>
      </p:pic>
    </p:spTree>
    <p:extLst>
      <p:ext uri="{BB962C8B-B14F-4D97-AF65-F5344CB8AC3E}">
        <p14:creationId xmlns:p14="http://schemas.microsoft.com/office/powerpoint/2010/main" val="2632048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p:txBody>
          <a:bodyPr/>
          <a:lstStyle/>
          <a:p>
            <a:r>
              <a:rPr lang="ru-RU" dirty="0"/>
              <a:t>DES: Ручной расчет первого раунда (Раундовый ключ №1)</a:t>
            </a:r>
            <a:r>
              <a:rPr lang="en-US" dirty="0"/>
              <a:t> </a:t>
            </a:r>
            <a:endParaRPr lang="ru-RU" dirty="0"/>
          </a:p>
        </p:txBody>
      </p:sp>
      <p:sp>
        <p:nvSpPr>
          <p:cNvPr id="26" name="TextBox 25">
            <a:extLst>
              <a:ext uri="{FF2B5EF4-FFF2-40B4-BE49-F238E27FC236}">
                <a16:creationId xmlns:a16="http://schemas.microsoft.com/office/drawing/2014/main" id="{BF479A78-1C4A-46E4-8F0A-5C76E1D7AE44}"/>
              </a:ext>
            </a:extLst>
          </p:cNvPr>
          <p:cNvSpPr txBox="1"/>
          <p:nvPr/>
        </p:nvSpPr>
        <p:spPr>
          <a:xfrm>
            <a:off x="838200" y="1903512"/>
            <a:ext cx="4196787" cy="5078313"/>
          </a:xfrm>
          <a:prstGeom prst="rect">
            <a:avLst/>
          </a:prstGeom>
          <a:noFill/>
        </p:spPr>
        <p:txBody>
          <a:bodyPr wrap="square">
            <a:spAutoFit/>
          </a:bodyPr>
          <a:lstStyle/>
          <a:p>
            <a:pPr marL="0" indent="0">
              <a:buNone/>
            </a:pPr>
            <a:r>
              <a:rPr lang="en-US" b="1" dirty="0"/>
              <a:t>Key</a:t>
            </a:r>
            <a:r>
              <a:rPr lang="en-US" dirty="0"/>
              <a:t> = 130427_SHAVRINALEXPAVLOVITCH2003</a:t>
            </a:r>
          </a:p>
          <a:p>
            <a:r>
              <a:rPr lang="en-US" b="1" dirty="0"/>
              <a:t>HEX Key </a:t>
            </a:r>
            <a:r>
              <a:rPr lang="en-US" dirty="0"/>
              <a:t>= </a:t>
            </a:r>
          </a:p>
          <a:p>
            <a:r>
              <a:rPr lang="en-US" dirty="0"/>
              <a:t>31 33 30 34 32 37 5F 53 48 41 56 52 49 4E 41 4C 45 58 50 41 56 4C 4F 56 49 54 43 48 32 30 30 33</a:t>
            </a:r>
          </a:p>
          <a:p>
            <a:r>
              <a:rPr lang="en-US" b="1" dirty="0"/>
              <a:t>BIN Key </a:t>
            </a:r>
            <a:r>
              <a:rPr lang="en-US" dirty="0"/>
              <a:t>= </a:t>
            </a:r>
          </a:p>
          <a:p>
            <a:r>
              <a:rPr lang="en-US" dirty="0"/>
              <a:t>00110001 00110011 00110000 00110100 00110010 00110111 01011111 01010011 01001000 01000001 01010110 01010010 01001001 01001110 01000001 01001100 01000101 01011000 01010000 01000001 01010110 01001100 01001111 01010110 01001001 01010100 01000011 01001000 00110010 00110000 00110000 00110011</a:t>
            </a:r>
            <a:endParaRPr lang="ru-RU" dirty="0"/>
          </a:p>
          <a:p>
            <a:endParaRPr lang="ru-RU" dirty="0"/>
          </a:p>
          <a:p>
            <a:endParaRPr lang="ru-RU" dirty="0"/>
          </a:p>
          <a:p>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5953128" y="5275219"/>
            <a:ext cx="4196787" cy="646331"/>
          </a:xfrm>
          <a:prstGeom prst="rect">
            <a:avLst/>
          </a:prstGeom>
          <a:noFill/>
        </p:spPr>
        <p:txBody>
          <a:bodyPr wrap="square">
            <a:spAutoFit/>
          </a:bodyPr>
          <a:lstStyle/>
          <a:p>
            <a:r>
              <a:rPr lang="en-US" b="1" dirty="0"/>
              <a:t>Round Key </a:t>
            </a:r>
            <a:r>
              <a:rPr lang="en-US" dirty="0"/>
              <a:t>= </a:t>
            </a:r>
          </a:p>
          <a:p>
            <a:r>
              <a:rPr lang="en-US" dirty="0"/>
              <a:t>00110001 00110011 00110000 00110100 </a:t>
            </a:r>
            <a:endParaRPr lang="ru-RU" dirty="0"/>
          </a:p>
        </p:txBody>
      </p:sp>
      <p:pic>
        <p:nvPicPr>
          <p:cNvPr id="5" name="Рисунок 4">
            <a:extLst>
              <a:ext uri="{FF2B5EF4-FFF2-40B4-BE49-F238E27FC236}">
                <a16:creationId xmlns:a16="http://schemas.microsoft.com/office/drawing/2014/main" id="{17AA7BA9-06CC-4BC2-9982-96E651E2AA5C}"/>
              </a:ext>
            </a:extLst>
          </p:cNvPr>
          <p:cNvPicPr>
            <a:picLocks noChangeAspect="1"/>
          </p:cNvPicPr>
          <p:nvPr/>
        </p:nvPicPr>
        <p:blipFill>
          <a:blip r:embed="rId2"/>
          <a:stretch>
            <a:fillRect/>
          </a:stretch>
        </p:blipFill>
        <p:spPr>
          <a:xfrm>
            <a:off x="6024562" y="2067660"/>
            <a:ext cx="4505325" cy="3092011"/>
          </a:xfrm>
          <a:prstGeom prst="rect">
            <a:avLst/>
          </a:prstGeom>
        </p:spPr>
      </p:pic>
    </p:spTree>
    <p:extLst>
      <p:ext uri="{BB962C8B-B14F-4D97-AF65-F5344CB8AC3E}">
        <p14:creationId xmlns:p14="http://schemas.microsoft.com/office/powerpoint/2010/main" val="662765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p:txBody>
          <a:bodyPr>
            <a:normAutofit/>
          </a:bodyPr>
          <a:lstStyle/>
          <a:p>
            <a:r>
              <a:rPr lang="ru-RU" dirty="0"/>
              <a:t>DES: Ручной расчет первого раунда  </a:t>
            </a:r>
            <a:r>
              <a:rPr lang="en-US" dirty="0"/>
              <a:t>F(Right half, Round Key )</a:t>
            </a:r>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838200" y="1691561"/>
            <a:ext cx="4778860" cy="4801314"/>
          </a:xfrm>
          <a:prstGeom prst="rect">
            <a:avLst/>
          </a:prstGeom>
          <a:noFill/>
        </p:spPr>
        <p:txBody>
          <a:bodyPr wrap="square">
            <a:spAutoFit/>
          </a:bodyPr>
          <a:lstStyle/>
          <a:p>
            <a:r>
              <a:rPr lang="en-US" b="1" dirty="0"/>
              <a:t>Plaintext</a:t>
            </a:r>
            <a:r>
              <a:rPr lang="en-US" dirty="0"/>
              <a:t> = SHAVRINA</a:t>
            </a:r>
          </a:p>
          <a:p>
            <a:r>
              <a:rPr lang="en-US" b="1" dirty="0"/>
              <a:t>HEX Plaintext </a:t>
            </a:r>
            <a:r>
              <a:rPr lang="en-US" dirty="0"/>
              <a:t>= 53 48 41 56 52 49 4E 41</a:t>
            </a:r>
          </a:p>
          <a:p>
            <a:r>
              <a:rPr lang="en-US" b="1" dirty="0"/>
              <a:t>BIN Plaintext </a:t>
            </a:r>
            <a:r>
              <a:rPr lang="en-US" dirty="0"/>
              <a:t>=</a:t>
            </a:r>
          </a:p>
          <a:p>
            <a:r>
              <a:rPr lang="en-US" dirty="0"/>
              <a:t>01010011 01001000 01000001 01010110 01010010 01001001 01001110 01000001</a:t>
            </a:r>
          </a:p>
          <a:p>
            <a:r>
              <a:rPr lang="en-US" b="1" dirty="0"/>
              <a:t>Left half </a:t>
            </a:r>
            <a:r>
              <a:rPr lang="en-US" dirty="0"/>
              <a:t>=</a:t>
            </a:r>
          </a:p>
          <a:p>
            <a:r>
              <a:rPr lang="en-US" dirty="0"/>
              <a:t>01010011 01001000 01000001 01010110 </a:t>
            </a:r>
            <a:endParaRPr lang="ru-RU" dirty="0"/>
          </a:p>
          <a:p>
            <a:r>
              <a:rPr lang="en-US" b="1" dirty="0"/>
              <a:t>Right half =</a:t>
            </a:r>
          </a:p>
          <a:p>
            <a:r>
              <a:rPr lang="en-US" dirty="0"/>
              <a:t>01010010 01001001 01001110 01000001</a:t>
            </a:r>
          </a:p>
          <a:p>
            <a:r>
              <a:rPr lang="en-US" b="1" dirty="0"/>
              <a:t>Round Key </a:t>
            </a:r>
            <a:r>
              <a:rPr lang="en-US" dirty="0"/>
              <a:t>= </a:t>
            </a:r>
          </a:p>
          <a:p>
            <a:r>
              <a:rPr lang="en-US" dirty="0"/>
              <a:t>00110001 00110011 00110000 00110100 </a:t>
            </a:r>
            <a:endParaRPr lang="ru-RU" dirty="0"/>
          </a:p>
          <a:p>
            <a:endParaRPr lang="en-US" b="1" dirty="0"/>
          </a:p>
          <a:p>
            <a:r>
              <a:rPr lang="en-US" b="1" dirty="0"/>
              <a:t>ADD result </a:t>
            </a:r>
            <a:r>
              <a:rPr lang="en-US" dirty="0"/>
              <a:t>= </a:t>
            </a:r>
          </a:p>
          <a:p>
            <a:r>
              <a:rPr lang="en-US" dirty="0"/>
              <a:t>10000011</a:t>
            </a:r>
            <a:r>
              <a:rPr lang="ru-RU" dirty="0"/>
              <a:t> </a:t>
            </a:r>
            <a:r>
              <a:rPr lang="en-US" dirty="0"/>
              <a:t>01111100</a:t>
            </a:r>
            <a:r>
              <a:rPr lang="ru-RU" dirty="0"/>
              <a:t> </a:t>
            </a:r>
            <a:r>
              <a:rPr lang="en-US" dirty="0"/>
              <a:t>01111110</a:t>
            </a:r>
            <a:r>
              <a:rPr lang="ru-RU" dirty="0"/>
              <a:t> </a:t>
            </a:r>
            <a:r>
              <a:rPr lang="en-US" dirty="0"/>
              <a:t>01110101</a:t>
            </a:r>
          </a:p>
          <a:p>
            <a:endParaRPr lang="en-US" dirty="0"/>
          </a:p>
          <a:p>
            <a:r>
              <a:rPr lang="en-US" b="1" dirty="0"/>
              <a:t>F(</a:t>
            </a:r>
            <a:r>
              <a:rPr lang="en-US" b="1" dirty="0" err="1"/>
              <a:t>Rignt</a:t>
            </a:r>
            <a:r>
              <a:rPr lang="en-US" b="1" dirty="0"/>
              <a:t> half, K1) = </a:t>
            </a:r>
          </a:p>
          <a:p>
            <a:r>
              <a:rPr lang="en-US" dirty="0"/>
              <a:t>10011110 11110110 00101111 00011110</a:t>
            </a:r>
            <a:endParaRPr lang="ru-RU" dirty="0"/>
          </a:p>
        </p:txBody>
      </p:sp>
      <p:pic>
        <p:nvPicPr>
          <p:cNvPr id="4" name="Рисунок 3">
            <a:extLst>
              <a:ext uri="{FF2B5EF4-FFF2-40B4-BE49-F238E27FC236}">
                <a16:creationId xmlns:a16="http://schemas.microsoft.com/office/drawing/2014/main" id="{3DED75ED-BE47-4F60-B91F-D338B718EE02}"/>
              </a:ext>
            </a:extLst>
          </p:cNvPr>
          <p:cNvPicPr>
            <a:picLocks noChangeAspect="1"/>
          </p:cNvPicPr>
          <p:nvPr/>
        </p:nvPicPr>
        <p:blipFill rotWithShape="1">
          <a:blip r:embed="rId2"/>
          <a:srcRect l="1905" t="1550" r="1706" b="33658"/>
          <a:stretch/>
        </p:blipFill>
        <p:spPr>
          <a:xfrm>
            <a:off x="5295900" y="1870512"/>
            <a:ext cx="6610350" cy="4443412"/>
          </a:xfrm>
          <a:prstGeom prst="rect">
            <a:avLst/>
          </a:prstGeom>
        </p:spPr>
      </p:pic>
    </p:spTree>
    <p:extLst>
      <p:ext uri="{BB962C8B-B14F-4D97-AF65-F5344CB8AC3E}">
        <p14:creationId xmlns:p14="http://schemas.microsoft.com/office/powerpoint/2010/main" val="2415591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BFBE38-77DC-4EDB-919D-C59542C87F02}"/>
              </a:ext>
            </a:extLst>
          </p:cNvPr>
          <p:cNvSpPr>
            <a:spLocks noGrp="1"/>
          </p:cNvSpPr>
          <p:nvPr>
            <p:ph type="title"/>
          </p:nvPr>
        </p:nvSpPr>
        <p:spPr>
          <a:xfrm>
            <a:off x="838200" y="365125"/>
            <a:ext cx="11118448" cy="1325563"/>
          </a:xfrm>
        </p:spPr>
        <p:txBody>
          <a:bodyPr>
            <a:normAutofit/>
          </a:bodyPr>
          <a:lstStyle/>
          <a:p>
            <a:r>
              <a:rPr lang="ru-RU" dirty="0"/>
              <a:t>DES: Ручной расчет первого раунда </a:t>
            </a:r>
            <a:r>
              <a:rPr lang="en-US" dirty="0"/>
              <a:t>(</a:t>
            </a:r>
            <a:r>
              <a:rPr lang="ru-RU" dirty="0"/>
              <a:t>Конечные расчеты</a:t>
            </a:r>
            <a:r>
              <a:rPr lang="en-US" dirty="0"/>
              <a:t>)</a:t>
            </a:r>
            <a:endParaRPr lang="ru-RU" dirty="0"/>
          </a:p>
        </p:txBody>
      </p:sp>
      <p:sp>
        <p:nvSpPr>
          <p:cNvPr id="28" name="TextBox 27">
            <a:extLst>
              <a:ext uri="{FF2B5EF4-FFF2-40B4-BE49-F238E27FC236}">
                <a16:creationId xmlns:a16="http://schemas.microsoft.com/office/drawing/2014/main" id="{B6ACC958-F610-4012-82AC-74C4D8B4E332}"/>
              </a:ext>
            </a:extLst>
          </p:cNvPr>
          <p:cNvSpPr txBox="1"/>
          <p:nvPr/>
        </p:nvSpPr>
        <p:spPr>
          <a:xfrm>
            <a:off x="3202328" y="2345899"/>
            <a:ext cx="5960722" cy="1200329"/>
          </a:xfrm>
          <a:prstGeom prst="rect">
            <a:avLst/>
          </a:prstGeom>
          <a:noFill/>
        </p:spPr>
        <p:txBody>
          <a:bodyPr wrap="square">
            <a:spAutoFit/>
          </a:bodyPr>
          <a:lstStyle/>
          <a:p>
            <a:r>
              <a:rPr lang="en-US" b="1" dirty="0"/>
              <a:t>Right half </a:t>
            </a:r>
            <a:r>
              <a:rPr lang="en-US" dirty="0"/>
              <a:t>=            00000000 00000000 01100010 01011001</a:t>
            </a:r>
            <a:endParaRPr lang="en-US" b="1" dirty="0"/>
          </a:p>
          <a:p>
            <a:r>
              <a:rPr lang="en-US" b="1" dirty="0"/>
              <a:t>Left half </a:t>
            </a:r>
            <a:r>
              <a:rPr lang="en-US" dirty="0"/>
              <a:t>=               11111111 00011001 01001000 10100101</a:t>
            </a:r>
            <a:endParaRPr lang="ru-RU" dirty="0"/>
          </a:p>
          <a:p>
            <a:r>
              <a:rPr lang="en-US" b="1" dirty="0"/>
              <a:t>F(</a:t>
            </a:r>
            <a:r>
              <a:rPr lang="en-US" b="1" dirty="0" err="1"/>
              <a:t>Rignt</a:t>
            </a:r>
            <a:r>
              <a:rPr lang="en-US" b="1" dirty="0"/>
              <a:t> half, K1) = </a:t>
            </a:r>
            <a:r>
              <a:rPr lang="en-US" dirty="0"/>
              <a:t>10011110 11110110 00101111 00011110 </a:t>
            </a:r>
          </a:p>
          <a:p>
            <a:r>
              <a:rPr lang="en-US" b="1" dirty="0"/>
              <a:t>XOR result =           </a:t>
            </a:r>
            <a:r>
              <a:rPr lang="en-US" dirty="0"/>
              <a:t>01100001 11101111 01100111 10111011</a:t>
            </a:r>
          </a:p>
        </p:txBody>
      </p:sp>
      <p:sp>
        <p:nvSpPr>
          <p:cNvPr id="3" name="TextBox 2">
            <a:extLst>
              <a:ext uri="{FF2B5EF4-FFF2-40B4-BE49-F238E27FC236}">
                <a16:creationId xmlns:a16="http://schemas.microsoft.com/office/drawing/2014/main" id="{D097A442-098F-4F2A-ACB7-01750513BFA0}"/>
              </a:ext>
            </a:extLst>
          </p:cNvPr>
          <p:cNvSpPr txBox="1"/>
          <p:nvPr/>
        </p:nvSpPr>
        <p:spPr>
          <a:xfrm>
            <a:off x="4336225" y="4093915"/>
            <a:ext cx="4446247" cy="923330"/>
          </a:xfrm>
          <a:prstGeom prst="rect">
            <a:avLst/>
          </a:prstGeom>
          <a:noFill/>
        </p:spPr>
        <p:txBody>
          <a:bodyPr wrap="square" rtlCol="0">
            <a:spAutoFit/>
          </a:bodyPr>
          <a:lstStyle/>
          <a:p>
            <a:r>
              <a:rPr lang="en-US" b="1" dirty="0"/>
              <a:t>RESULT</a:t>
            </a:r>
            <a:r>
              <a:rPr lang="en-US" dirty="0"/>
              <a:t> = </a:t>
            </a:r>
            <a:r>
              <a:rPr lang="en-US" b="1" dirty="0"/>
              <a:t>Right half</a:t>
            </a:r>
            <a:r>
              <a:rPr lang="en-US" dirty="0"/>
              <a:t> +</a:t>
            </a:r>
            <a:r>
              <a:rPr lang="en-US" b="1" dirty="0"/>
              <a:t> XOR result </a:t>
            </a:r>
            <a:r>
              <a:rPr lang="en-US" dirty="0"/>
              <a:t>= </a:t>
            </a:r>
          </a:p>
          <a:p>
            <a:r>
              <a:rPr lang="en-US" dirty="0"/>
              <a:t>00000000 00000000 01100010 01011001</a:t>
            </a:r>
          </a:p>
          <a:p>
            <a:r>
              <a:rPr lang="en-US" dirty="0"/>
              <a:t>01100001 11101111 01100111 10111011</a:t>
            </a:r>
          </a:p>
        </p:txBody>
      </p:sp>
    </p:spTree>
    <p:extLst>
      <p:ext uri="{BB962C8B-B14F-4D97-AF65-F5344CB8AC3E}">
        <p14:creationId xmlns:p14="http://schemas.microsoft.com/office/powerpoint/2010/main" val="3399447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C708AC-B2A6-4161-8C4D-87B23B66C6C4}"/>
              </a:ext>
            </a:extLst>
          </p:cNvPr>
          <p:cNvSpPr>
            <a:spLocks noGrp="1"/>
          </p:cNvSpPr>
          <p:nvPr>
            <p:ph type="title"/>
          </p:nvPr>
        </p:nvSpPr>
        <p:spPr>
          <a:xfrm>
            <a:off x="1490663" y="2766218"/>
            <a:ext cx="9210674" cy="1325563"/>
          </a:xfrm>
        </p:spPr>
        <p:txBody>
          <a:bodyPr>
            <a:normAutofit fontScale="90000"/>
          </a:bodyPr>
          <a:lstStyle/>
          <a:p>
            <a:pPr algn="ctr"/>
            <a:r>
              <a:rPr lang="ru-RU" dirty="0"/>
              <a:t>Исследование шифра Магма в режимах работы простой замены и простой замены с зацеплением</a:t>
            </a:r>
          </a:p>
        </p:txBody>
      </p:sp>
    </p:spTree>
    <p:extLst>
      <p:ext uri="{BB962C8B-B14F-4D97-AF65-F5344CB8AC3E}">
        <p14:creationId xmlns:p14="http://schemas.microsoft.com/office/powerpoint/2010/main" val="3354162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52116D-7D35-42DB-ACF6-7DB237E2E508}"/>
              </a:ext>
            </a:extLst>
          </p:cNvPr>
          <p:cNvSpPr>
            <a:spLocks noGrp="1"/>
          </p:cNvSpPr>
          <p:nvPr>
            <p:ph type="title"/>
          </p:nvPr>
        </p:nvSpPr>
        <p:spPr/>
        <p:txBody>
          <a:bodyPr/>
          <a:lstStyle/>
          <a:p>
            <a:r>
              <a:rPr lang="ru-RU" dirty="0"/>
              <a:t>Магма в режимах работы простой замены и простой замены с зацеплением</a:t>
            </a:r>
          </a:p>
        </p:txBody>
      </p:sp>
      <p:pic>
        <p:nvPicPr>
          <p:cNvPr id="5" name="Объект 4">
            <a:extLst>
              <a:ext uri="{FF2B5EF4-FFF2-40B4-BE49-F238E27FC236}">
                <a16:creationId xmlns:a16="http://schemas.microsoft.com/office/drawing/2014/main" id="{AED5010A-01CD-487A-BE80-E5EE65D6C966}"/>
              </a:ext>
            </a:extLst>
          </p:cNvPr>
          <p:cNvPicPr>
            <a:picLocks noGrp="1" noChangeAspect="1"/>
          </p:cNvPicPr>
          <p:nvPr>
            <p:ph idx="1"/>
          </p:nvPr>
        </p:nvPicPr>
        <p:blipFill>
          <a:blip r:embed="rId2"/>
          <a:stretch>
            <a:fillRect/>
          </a:stretch>
        </p:blipFill>
        <p:spPr>
          <a:xfrm>
            <a:off x="4124659" y="1587282"/>
            <a:ext cx="3572577" cy="2747095"/>
          </a:xfrm>
        </p:spPr>
      </p:pic>
      <p:sp>
        <p:nvSpPr>
          <p:cNvPr id="7" name="TextBox 6">
            <a:extLst>
              <a:ext uri="{FF2B5EF4-FFF2-40B4-BE49-F238E27FC236}">
                <a16:creationId xmlns:a16="http://schemas.microsoft.com/office/drawing/2014/main" id="{DF749754-E0D5-49B4-9687-EEC39943B946}"/>
              </a:ext>
            </a:extLst>
          </p:cNvPr>
          <p:cNvSpPr txBox="1"/>
          <p:nvPr/>
        </p:nvSpPr>
        <p:spPr>
          <a:xfrm>
            <a:off x="771525" y="1903554"/>
            <a:ext cx="3209925" cy="646331"/>
          </a:xfrm>
          <a:prstGeom prst="rect">
            <a:avLst/>
          </a:prstGeom>
          <a:noFill/>
        </p:spPr>
        <p:txBody>
          <a:bodyPr wrap="square">
            <a:spAutoFit/>
          </a:bodyPr>
          <a:lstStyle/>
          <a:p>
            <a:pPr marL="0" indent="0">
              <a:buNone/>
            </a:pPr>
            <a:r>
              <a:rPr lang="en-US" sz="1800" b="1" dirty="0"/>
              <a:t>Key </a:t>
            </a:r>
            <a:r>
              <a:rPr lang="en-US" sz="1800" dirty="0"/>
              <a:t>= 130427P</a:t>
            </a:r>
          </a:p>
          <a:p>
            <a:pPr marL="0" indent="0">
              <a:buNone/>
            </a:pPr>
            <a:r>
              <a:rPr lang="en-US" sz="1800" b="1" dirty="0"/>
              <a:t>HEX Key </a:t>
            </a:r>
            <a:r>
              <a:rPr lang="en-US" sz="1800" dirty="0"/>
              <a:t>= 31 33 30 34 32 37 50</a:t>
            </a:r>
          </a:p>
        </p:txBody>
      </p:sp>
      <p:sp>
        <p:nvSpPr>
          <p:cNvPr id="9" name="TextBox 8">
            <a:extLst>
              <a:ext uri="{FF2B5EF4-FFF2-40B4-BE49-F238E27FC236}">
                <a16:creationId xmlns:a16="http://schemas.microsoft.com/office/drawing/2014/main" id="{F5D57127-2028-4537-8FE4-1975FAEF6375}"/>
              </a:ext>
            </a:extLst>
          </p:cNvPr>
          <p:cNvSpPr txBox="1"/>
          <p:nvPr/>
        </p:nvSpPr>
        <p:spPr>
          <a:xfrm>
            <a:off x="838200" y="4956369"/>
            <a:ext cx="3381375" cy="1200329"/>
          </a:xfrm>
          <a:prstGeom prst="rect">
            <a:avLst/>
          </a:prstGeom>
          <a:noFill/>
        </p:spPr>
        <p:txBody>
          <a:bodyPr wrap="square">
            <a:spAutoFit/>
          </a:bodyPr>
          <a:lstStyle/>
          <a:p>
            <a:pPr marL="0" indent="0">
              <a:buNone/>
            </a:pPr>
            <a:r>
              <a:rPr lang="en-US" sz="1800" b="1" dirty="0"/>
              <a:t>HEX Key </a:t>
            </a:r>
            <a:r>
              <a:rPr lang="en-US" sz="1800" dirty="0"/>
              <a:t>= </a:t>
            </a:r>
          </a:p>
          <a:p>
            <a:pPr marL="0" indent="0">
              <a:buNone/>
            </a:pPr>
            <a:r>
              <a:rPr lang="en-US" sz="1800" dirty="0"/>
              <a:t>88 99 AA BB CC DD EE FF 00 11 22 33 44 55 66 77 FE DC BA 98 76 54 32 10 01 23 45 67 89 AB CD EF</a:t>
            </a:r>
          </a:p>
        </p:txBody>
      </p:sp>
      <p:pic>
        <p:nvPicPr>
          <p:cNvPr id="11" name="Рисунок 10">
            <a:extLst>
              <a:ext uri="{FF2B5EF4-FFF2-40B4-BE49-F238E27FC236}">
                <a16:creationId xmlns:a16="http://schemas.microsoft.com/office/drawing/2014/main" id="{D1463DE0-C913-47AE-96AF-E60A7C08C74C}"/>
              </a:ext>
            </a:extLst>
          </p:cNvPr>
          <p:cNvPicPr>
            <a:picLocks noChangeAspect="1"/>
          </p:cNvPicPr>
          <p:nvPr/>
        </p:nvPicPr>
        <p:blipFill>
          <a:blip r:embed="rId3"/>
          <a:stretch>
            <a:fillRect/>
          </a:stretch>
        </p:blipFill>
        <p:spPr>
          <a:xfrm>
            <a:off x="7686796" y="1587281"/>
            <a:ext cx="3677445" cy="2747095"/>
          </a:xfrm>
          <a:prstGeom prst="rect">
            <a:avLst/>
          </a:prstGeom>
        </p:spPr>
      </p:pic>
      <p:pic>
        <p:nvPicPr>
          <p:cNvPr id="13" name="Рисунок 12">
            <a:extLst>
              <a:ext uri="{FF2B5EF4-FFF2-40B4-BE49-F238E27FC236}">
                <a16:creationId xmlns:a16="http://schemas.microsoft.com/office/drawing/2014/main" id="{77BBEAC5-E1C4-4CB6-9278-C3A747D61A5D}"/>
              </a:ext>
            </a:extLst>
          </p:cNvPr>
          <p:cNvPicPr>
            <a:picLocks noChangeAspect="1"/>
          </p:cNvPicPr>
          <p:nvPr/>
        </p:nvPicPr>
        <p:blipFill>
          <a:blip r:embed="rId4"/>
          <a:stretch>
            <a:fillRect/>
          </a:stretch>
        </p:blipFill>
        <p:spPr>
          <a:xfrm>
            <a:off x="4124659" y="4164776"/>
            <a:ext cx="3634475" cy="2607499"/>
          </a:xfrm>
          <a:prstGeom prst="rect">
            <a:avLst/>
          </a:prstGeom>
        </p:spPr>
      </p:pic>
      <p:pic>
        <p:nvPicPr>
          <p:cNvPr id="15" name="Рисунок 14">
            <a:extLst>
              <a:ext uri="{FF2B5EF4-FFF2-40B4-BE49-F238E27FC236}">
                <a16:creationId xmlns:a16="http://schemas.microsoft.com/office/drawing/2014/main" id="{4C51BD4C-E13F-4195-946A-6258710EC84E}"/>
              </a:ext>
            </a:extLst>
          </p:cNvPr>
          <p:cNvPicPr>
            <a:picLocks noChangeAspect="1"/>
          </p:cNvPicPr>
          <p:nvPr/>
        </p:nvPicPr>
        <p:blipFill>
          <a:blip r:embed="rId5"/>
          <a:stretch>
            <a:fillRect/>
          </a:stretch>
        </p:blipFill>
        <p:spPr>
          <a:xfrm>
            <a:off x="7781712" y="4211341"/>
            <a:ext cx="3634475" cy="2514368"/>
          </a:xfrm>
          <a:prstGeom prst="rect">
            <a:avLst/>
          </a:prstGeom>
        </p:spPr>
      </p:pic>
    </p:spTree>
    <p:extLst>
      <p:ext uri="{BB962C8B-B14F-4D97-AF65-F5344CB8AC3E}">
        <p14:creationId xmlns:p14="http://schemas.microsoft.com/office/powerpoint/2010/main" val="10610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17CDF10-2111-4846-B65F-3C9C513A4A01}"/>
              </a:ext>
            </a:extLst>
          </p:cNvPr>
          <p:cNvSpPr>
            <a:spLocks noGrp="1"/>
          </p:cNvSpPr>
          <p:nvPr>
            <p:ph idx="1"/>
          </p:nvPr>
        </p:nvSpPr>
        <p:spPr>
          <a:xfrm>
            <a:off x="535939" y="1105693"/>
            <a:ext cx="11360785" cy="5534025"/>
          </a:xfrm>
        </p:spPr>
        <p:txBody>
          <a:bodyPr>
            <a:normAutofit fontScale="77500" lnSpcReduction="20000"/>
          </a:bodyPr>
          <a:lstStyle/>
          <a:p>
            <a:pPr marL="0" indent="0">
              <a:lnSpc>
                <a:spcPct val="120000"/>
              </a:lnSpc>
              <a:buNone/>
            </a:pPr>
            <a:r>
              <a:rPr lang="ru-RU" dirty="0"/>
              <a:t>В ходе работы были исследованы симметричные блочные шифры DES, 3DES и Магма, а также приобретены практические навыки по работе с ними с использованием приложений</a:t>
            </a:r>
            <a:r>
              <a:rPr lang="en-US" dirty="0"/>
              <a:t> </a:t>
            </a:r>
            <a:r>
              <a:rPr lang="en-US" dirty="0" err="1"/>
              <a:t>CrypTool</a:t>
            </a:r>
            <a:r>
              <a:rPr lang="en-US" dirty="0"/>
              <a:t> 1</a:t>
            </a:r>
            <a:r>
              <a:rPr lang="ru-RU" dirty="0"/>
              <a:t>, </a:t>
            </a:r>
            <a:r>
              <a:rPr lang="en-US" dirty="0" err="1"/>
              <a:t>CrypTool</a:t>
            </a:r>
            <a:r>
              <a:rPr lang="en-US" dirty="0"/>
              <a:t> </a:t>
            </a:r>
            <a:r>
              <a:rPr lang="ru-RU" dirty="0"/>
              <a:t>2 и ЛИТОРЕЯ.</a:t>
            </a:r>
            <a:endParaRPr lang="en-US" dirty="0"/>
          </a:p>
          <a:p>
            <a:pPr marL="0" indent="0">
              <a:lnSpc>
                <a:spcPct val="120000"/>
              </a:lnSpc>
              <a:buNone/>
            </a:pPr>
            <a:r>
              <a:rPr lang="ru-RU" dirty="0"/>
              <a:t>Изучены основные характеристики шифов:</a:t>
            </a:r>
          </a:p>
          <a:p>
            <a:pPr marL="514350" indent="-514350">
              <a:lnSpc>
                <a:spcPct val="120000"/>
              </a:lnSpc>
              <a:buFont typeface="+mj-lt"/>
              <a:buAutoNum type="arabicPeriod"/>
            </a:pPr>
            <a:r>
              <a:rPr lang="ru-RU" b="1" dirty="0"/>
              <a:t>DES</a:t>
            </a:r>
            <a:r>
              <a:rPr lang="ru-RU" dirty="0"/>
              <a:t> (Блочный симметричный шифр</a:t>
            </a:r>
            <a:r>
              <a:rPr lang="en-US" dirty="0"/>
              <a:t>; </a:t>
            </a:r>
            <a:r>
              <a:rPr lang="ru-RU" dirty="0"/>
              <a:t>Длина блока – 64 бита;</a:t>
            </a:r>
            <a:r>
              <a:rPr lang="en-US" dirty="0"/>
              <a:t> </a:t>
            </a:r>
            <a:r>
              <a:rPr lang="ru-RU" dirty="0"/>
              <a:t>Длина ключа – (56 бит ключа + 8 бит четности), на основе которого генерируются раундовые ключи;</a:t>
            </a:r>
            <a:r>
              <a:rPr lang="en-US" dirty="0"/>
              <a:t> </a:t>
            </a:r>
            <a:r>
              <a:rPr lang="ru-RU" dirty="0"/>
              <a:t>Алгоритм включает 2 перестановки и 16 раундов </a:t>
            </a:r>
            <a:r>
              <a:rPr lang="ru-RU" dirty="0" err="1"/>
              <a:t>Фейстеля</a:t>
            </a:r>
            <a:r>
              <a:rPr lang="en-US" dirty="0"/>
              <a:t>)</a:t>
            </a:r>
          </a:p>
          <a:p>
            <a:pPr marL="514350" indent="-514350">
              <a:lnSpc>
                <a:spcPct val="120000"/>
              </a:lnSpc>
              <a:buFont typeface="+mj-lt"/>
              <a:buAutoNum type="arabicPeriod"/>
            </a:pPr>
            <a:r>
              <a:rPr lang="ru-RU" b="1" dirty="0"/>
              <a:t>ECB и CBC </a:t>
            </a:r>
            <a:r>
              <a:rPr lang="en-US" b="1" dirty="0"/>
              <a:t> </a:t>
            </a:r>
            <a:r>
              <a:rPr lang="ru-RU" b="1" dirty="0"/>
              <a:t>режимы работы DES </a:t>
            </a:r>
            <a:r>
              <a:rPr lang="en-US" dirty="0"/>
              <a:t>(</a:t>
            </a:r>
            <a:r>
              <a:rPr lang="ru-RU" dirty="0"/>
              <a:t>ECB</a:t>
            </a:r>
            <a:r>
              <a:rPr lang="en-US" dirty="0"/>
              <a:t> -</a:t>
            </a:r>
            <a:r>
              <a:rPr lang="ru-RU" dirty="0"/>
              <a:t> каждый блок шифруется независимо;</a:t>
            </a:r>
            <a:r>
              <a:rPr lang="en-US" dirty="0"/>
              <a:t> </a:t>
            </a:r>
            <a:r>
              <a:rPr lang="ru-RU" dirty="0"/>
              <a:t>CBC </a:t>
            </a:r>
            <a:r>
              <a:rPr lang="en-US" dirty="0"/>
              <a:t>- </a:t>
            </a:r>
            <a:r>
              <a:rPr lang="ru-RU" dirty="0"/>
              <a:t>каждый блок шифрования зависит от предыдущего</a:t>
            </a:r>
            <a:r>
              <a:rPr lang="en-US" dirty="0"/>
              <a:t>)</a:t>
            </a:r>
            <a:r>
              <a:rPr lang="ru-RU" dirty="0"/>
              <a:t>.</a:t>
            </a:r>
            <a:r>
              <a:rPr lang="en-US" dirty="0"/>
              <a:t> </a:t>
            </a:r>
            <a:r>
              <a:rPr lang="ru-RU" dirty="0"/>
              <a:t>Оценка атаки </a:t>
            </a:r>
            <a:r>
              <a:rPr lang="en-US" dirty="0"/>
              <a:t>“</a:t>
            </a:r>
            <a:r>
              <a:rPr lang="ru-RU" dirty="0"/>
              <a:t>грубой силы</a:t>
            </a:r>
            <a:r>
              <a:rPr lang="en-US" dirty="0"/>
              <a:t>”</a:t>
            </a:r>
            <a:r>
              <a:rPr lang="ru-RU" dirty="0"/>
              <a:t>на </a:t>
            </a:r>
            <a:r>
              <a:rPr lang="en-US" dirty="0"/>
              <a:t>DES </a:t>
            </a:r>
            <a:r>
              <a:rPr lang="ru-RU" dirty="0"/>
              <a:t>в режиме CBC больше, чем в режиме ECB.</a:t>
            </a:r>
          </a:p>
          <a:p>
            <a:pPr marL="514350" indent="-514350">
              <a:lnSpc>
                <a:spcPct val="120000"/>
              </a:lnSpc>
              <a:buFont typeface="+mj-lt"/>
              <a:buAutoNum type="arabicPeriod"/>
            </a:pPr>
            <a:r>
              <a:rPr lang="ru-RU" b="1" dirty="0"/>
              <a:t>3DES</a:t>
            </a:r>
            <a:r>
              <a:rPr lang="ru-RU" dirty="0"/>
              <a:t> (При длине ключа в 16 байт 3DES работает в режиме EDE2 с использованием двух ключей; При длине ключа в 24 байта– в режиме EDE3 с тремя ключами. </a:t>
            </a:r>
          </a:p>
          <a:p>
            <a:pPr marL="514350" indent="-514350">
              <a:lnSpc>
                <a:spcPct val="120000"/>
              </a:lnSpc>
              <a:buFont typeface="+mj-lt"/>
              <a:buAutoNum type="arabicPeriod"/>
            </a:pPr>
            <a:r>
              <a:rPr lang="ru-RU" b="1" dirty="0"/>
              <a:t>Магма</a:t>
            </a:r>
            <a:r>
              <a:rPr lang="ru-RU" dirty="0"/>
              <a:t> (Блочный симметричный шифр</a:t>
            </a:r>
            <a:r>
              <a:rPr lang="en-US" dirty="0"/>
              <a:t>;</a:t>
            </a:r>
            <a:r>
              <a:rPr lang="ru-RU" dirty="0"/>
              <a:t> Длина блока – 64 бита; Длина ключа – 256 бит, используется 32 раунда </a:t>
            </a:r>
            <a:r>
              <a:rPr lang="ru-RU" dirty="0" err="1"/>
              <a:t>Фейстеля</a:t>
            </a:r>
            <a:r>
              <a:rPr lang="ru-RU" dirty="0"/>
              <a:t>)</a:t>
            </a:r>
          </a:p>
          <a:p>
            <a:pPr marL="0" indent="0">
              <a:lnSpc>
                <a:spcPct val="120000"/>
              </a:lnSpc>
              <a:buNone/>
            </a:pPr>
            <a:endParaRPr lang="ru-RU" dirty="0"/>
          </a:p>
          <a:p>
            <a:pPr marL="0" indent="0">
              <a:lnSpc>
                <a:spcPct val="120000"/>
              </a:lnSpc>
              <a:buNone/>
            </a:pPr>
            <a:endParaRPr lang="ru-RU" dirty="0"/>
          </a:p>
        </p:txBody>
      </p:sp>
      <p:sp>
        <p:nvSpPr>
          <p:cNvPr id="6" name="Заголовок 1">
            <a:extLst>
              <a:ext uri="{FF2B5EF4-FFF2-40B4-BE49-F238E27FC236}">
                <a16:creationId xmlns:a16="http://schemas.microsoft.com/office/drawing/2014/main" id="{4AC7E2FB-D405-4079-A8EB-D55AD43412E5}"/>
              </a:ext>
            </a:extLst>
          </p:cNvPr>
          <p:cNvSpPr>
            <a:spLocks noGrp="1"/>
          </p:cNvSpPr>
          <p:nvPr>
            <p:ph type="title"/>
          </p:nvPr>
        </p:nvSpPr>
        <p:spPr>
          <a:xfrm>
            <a:off x="3102769" y="304800"/>
            <a:ext cx="5986462" cy="800893"/>
          </a:xfrm>
        </p:spPr>
        <p:txBody>
          <a:bodyPr>
            <a:normAutofit/>
          </a:bodyPr>
          <a:lstStyle/>
          <a:p>
            <a:pPr algn="ctr"/>
            <a:r>
              <a:rPr lang="ru-RU" dirty="0"/>
              <a:t>Заключение по работе.</a:t>
            </a:r>
          </a:p>
        </p:txBody>
      </p:sp>
    </p:spTree>
    <p:extLst>
      <p:ext uri="{BB962C8B-B14F-4D97-AF65-F5344CB8AC3E}">
        <p14:creationId xmlns:p14="http://schemas.microsoft.com/office/powerpoint/2010/main" val="364381444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3048</TotalTime>
  <Words>1022</Words>
  <Application>Microsoft Office PowerPoint</Application>
  <PresentationFormat>Широкоэкранный</PresentationFormat>
  <Paragraphs>158</Paragraphs>
  <Slides>24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24</vt:i4>
      </vt:variant>
    </vt:vector>
  </HeadingPairs>
  <TitlesOfParts>
    <vt:vector size="28" baseType="lpstr">
      <vt:lpstr>Arial</vt:lpstr>
      <vt:lpstr>Calibri</vt:lpstr>
      <vt:lpstr>Calibri Light</vt:lpstr>
      <vt:lpstr>Тема Office</vt:lpstr>
      <vt:lpstr>Лабораторная работа № 2 Изучение шифров DES и МАГМА</vt:lpstr>
      <vt:lpstr>Цель работы.</vt:lpstr>
      <vt:lpstr>Изучение преобразования DES</vt:lpstr>
      <vt:lpstr>DES: Исходные данные и результаты раунда</vt:lpstr>
      <vt:lpstr>DES: Ручной расчет первого раунда (Раундовый ключ №1) </vt:lpstr>
      <vt:lpstr>DES: Ручной расчет первого раунда (Первоначальная перестановка текста) </vt:lpstr>
      <vt:lpstr>DES: Ручной расчет первого раунда  F(Right half, Round Key )</vt:lpstr>
      <vt:lpstr>DES: Ручной расчет первого раунда F(Right half, Round Key )</vt:lpstr>
      <vt:lpstr>DES: Ручной расчет первого раунда (Конечные расчеты)</vt:lpstr>
      <vt:lpstr>Исследование DES  в режимах работы ECB и CBC</vt:lpstr>
      <vt:lpstr>Схемы алгоритмов работы DES в режимах ECB и CBC</vt:lpstr>
      <vt:lpstr>Результаты  оценки трудоемкости таки "грубой силы"  на DES в режимах  ЕСВ и СВС</vt:lpstr>
      <vt:lpstr>Определение всех версий 3-DES</vt:lpstr>
      <vt:lpstr>3DES-EDE3</vt:lpstr>
      <vt:lpstr>3DES-EDE2</vt:lpstr>
      <vt:lpstr>Схемы модификаций 3DES: EDE2 и EDE3</vt:lpstr>
      <vt:lpstr>Изучение преобразования шифра Магма с помощью приложения ЛИТОРЕЯ</vt:lpstr>
      <vt:lpstr>МАГМА: Исходные данные и результаты раунда</vt:lpstr>
      <vt:lpstr>DES: Ручной расчет первого раунда (Раундовый ключ №1) </vt:lpstr>
      <vt:lpstr>DES: Ручной расчет первого раунда  F(Right half, Round Key )</vt:lpstr>
      <vt:lpstr>DES: Ручной расчет первого раунда (Конечные расчеты)</vt:lpstr>
      <vt:lpstr>Исследование шифра Магма в режимах работы простой замены и простой замены с зацеплением</vt:lpstr>
      <vt:lpstr>Магма в режимах работы простой замены и простой замены с зацеплением</vt:lpstr>
      <vt:lpstr>Заключение по работе.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Лабораторная работа № 1 Изучение классических шифров</dc:title>
  <dc:creator>Pavel</dc:creator>
  <cp:lastModifiedBy>Pavel</cp:lastModifiedBy>
  <cp:revision>148</cp:revision>
  <dcterms:created xsi:type="dcterms:W3CDTF">2024-09-10T08:56:48Z</dcterms:created>
  <dcterms:modified xsi:type="dcterms:W3CDTF">2024-10-21T17:05:08Z</dcterms:modified>
</cp:coreProperties>
</file>