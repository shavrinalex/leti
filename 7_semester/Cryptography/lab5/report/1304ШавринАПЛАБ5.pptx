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95" r:id="rId6"/>
    <p:sldId id="311" r:id="rId7"/>
    <p:sldId id="263" r:id="rId8"/>
    <p:sldId id="265" r:id="rId9"/>
    <p:sldId id="294" r:id="rId10"/>
    <p:sldId id="272" r:id="rId11"/>
    <p:sldId id="302" r:id="rId12"/>
    <p:sldId id="303" r:id="rId13"/>
    <p:sldId id="301" r:id="rId14"/>
    <p:sldId id="305" r:id="rId15"/>
    <p:sldId id="312" r:id="rId16"/>
    <p:sldId id="276" r:id="rId17"/>
    <p:sldId id="306" r:id="rId18"/>
    <p:sldId id="313" r:id="rId19"/>
    <p:sldId id="29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3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388" autoAdjust="0"/>
  </p:normalViewPr>
  <p:slideViewPr>
    <p:cSldViewPr snapToGrid="0">
      <p:cViewPr varScale="1">
        <p:scale>
          <a:sx n="80" d="100"/>
          <a:sy n="80" d="100"/>
        </p:scale>
        <p:origin x="77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AFBF-CE0F-4FDC-A50F-1E6786B98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9A4974-D12B-4A2E-9FC5-2376FF03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4E3C9-1AB9-4CAD-9721-6A67E73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E009D-33FE-4987-AA70-1977C558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81F69-28F3-426E-B47E-ED850496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55C58-68B3-457A-AD0F-53656060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177E9-8A7E-4F97-8895-BD7EBE9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27836-49EC-4BC7-8521-475E5B68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E70F1-67F1-4E66-86C7-67F652EA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F1A38-EE80-49F0-987E-F0F898D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9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704AE-A581-4481-AF9F-5065EDA0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767F1-6106-41A8-BBA7-2E54357B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2C095-5923-44D9-8375-DF543EB8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9FB6-C7E7-4E98-A248-16B6670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D41D5-D56C-4755-95E5-24556AB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AF86-1AC8-48F3-B64B-8CB3D0D3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4B0D-AED3-497B-88E6-4AB94D937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1B7AC-228E-4A0F-B675-EDEC7702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07ACD-32AF-4641-9931-0CEC5B93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E5BAD-6829-4D02-8E1C-9904C2A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AD800-2FD8-41E0-BFD0-16A66C09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9F620-57CD-438D-B079-979888DB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AC821-384A-4127-BA7F-1A4F779F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D23798-43C8-4184-94F6-69DE603F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61B00-4BC6-4ED1-9404-9FC2DDCD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F6D291-32AE-4D57-8D6F-79ADB64AE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938F56-FC47-42DF-A718-380B78D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828FA-594F-4A3B-9D5E-4BE89B21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F32D0-5958-49DC-B086-64DC3307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1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CFD11-5533-431B-BB9C-DC756EC9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BEC173-B140-4AEF-9B28-59C7527B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96C05-F665-4BFF-9CC1-199F264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9BF359-2EDF-42D8-A1B2-B56FE3F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6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493A31-0FB8-4606-921C-A845D80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268833-4D33-4938-B6EB-9F793607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A733-C82D-4858-8E82-49099BFC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7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6E2F-B152-468F-B133-897EBAA4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2B8-DAFD-4A69-B23C-095DD238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9B3F6F-E07F-4B7D-97A1-BD23E9AE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C5B1BA-1FA8-4E45-B34D-2F2FCD71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ED8DC-E5CC-4C5D-9A4D-0C3CD42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9894B8-E25C-4F99-8298-ABB655D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8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F0EC8-AF8B-411F-9200-F20764C4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415AD3-FF13-4346-9ED1-5D69544F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C68469-7965-4BEB-8216-DEDE633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35D07-A440-4FC8-8FCB-E277721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41E10-D840-4B13-B315-3E1A7444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D57768-CF33-4D2C-9A9F-2403D6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A7A1-B728-424B-ABE6-FBA9C74F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F10F-191D-4512-AAAF-C22B1BDA0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94F16C-EB3D-4389-B986-E894A15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1694-5618-453C-AE98-F6D92EB4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83810-582C-4A3E-94BA-B6D0CCEC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2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0DC7-0688-4047-AA86-CE7B4557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FB343-202F-4593-83F4-A4B3FCCE2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9BA-6EF8-4ED6-961F-1BE53CE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80A3E-28D9-4A30-A795-2867B17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E20E1-BD6B-43BC-9EBA-27526D90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30E19-BB71-42B8-8024-224453E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E83FB-5891-4B25-B092-0D1A10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4FF24-2B92-42A7-A673-791231C02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0517-DC0E-4BAD-8F7F-A522B7E4D527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7697A-BB49-4074-97AB-3CDE9092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E6088-B204-4951-86B3-C730E86D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75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721"/>
            <a:ext cx="9144000" cy="1466850"/>
          </a:xfrm>
        </p:spPr>
        <p:txBody>
          <a:bodyPr>
            <a:normAutofit/>
          </a:bodyPr>
          <a:lstStyle/>
          <a:p>
            <a:r>
              <a:rPr lang="ru-RU" sz="4800" dirty="0"/>
              <a:t>Лабораторная работа № </a:t>
            </a:r>
            <a:r>
              <a:rPr lang="en-US" sz="4800" dirty="0"/>
              <a:t>5</a:t>
            </a:r>
            <a:br>
              <a:rPr lang="ru-RU" sz="4800" dirty="0"/>
            </a:br>
            <a:r>
              <a:rPr lang="ru-RU" sz="4800" dirty="0"/>
              <a:t>Изучение шифров </a:t>
            </a:r>
            <a:r>
              <a:rPr lang="en-US" sz="4800" dirty="0"/>
              <a:t>AES </a:t>
            </a:r>
            <a:r>
              <a:rPr lang="ru-RU" sz="4800" dirty="0"/>
              <a:t>и Кузнечик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dirty="0"/>
              <a:t>Санкт-Петербургский государственный электротехнический</a:t>
            </a:r>
          </a:p>
          <a:p>
            <a:r>
              <a:rPr lang="ru-RU" dirty="0"/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2971800" y="6053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Санкт-Петербург 2024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99C7E9C-E7CA-4D8B-9071-7FC1B19A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7180"/>
              </p:ext>
            </p:extLst>
          </p:nvPr>
        </p:nvGraphicFramePr>
        <p:xfrm>
          <a:off x="2133600" y="4268061"/>
          <a:ext cx="8534399" cy="13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67774290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4293870335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873450627"/>
                    </a:ext>
                  </a:extLst>
                </a:gridCol>
              </a:tblGrid>
              <a:tr h="674912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Студент: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Шаврин Алексей Павлович, группа 1304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76354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Руководитель: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Племянников А.К., доцент каф. ИБ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F232-97FE-483C-850C-C83DA048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1A0A-E71E-4AFA-B0B1-63C671E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Цель: </a:t>
            </a:r>
            <a:r>
              <a:rPr lang="ru-RU" dirty="0"/>
              <a:t>Получить практические навыки работы с шифрами </a:t>
            </a:r>
            <a:r>
              <a:rPr lang="en-US" dirty="0"/>
              <a:t>AES</a:t>
            </a:r>
            <a:r>
              <a:rPr lang="ru-RU" dirty="0"/>
              <a:t>, Кузнечик и алгоритмом проведения атаки предсказанием дополнения, в том числе с использованием приложения </a:t>
            </a:r>
            <a:r>
              <a:rPr lang="ru-RU" dirty="0" err="1"/>
              <a:t>CrypTool</a:t>
            </a:r>
            <a:r>
              <a:rPr lang="ru-RU" dirty="0"/>
              <a:t> 1, 2 и ЛИТОРЕЯ.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преобразования </a:t>
            </a:r>
            <a:r>
              <a:rPr lang="en-US" dirty="0"/>
              <a:t>AES 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Провести исследование криптостойкости </a:t>
            </a:r>
            <a:r>
              <a:rPr lang="en-US" dirty="0"/>
              <a:t>AES 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действия нарушителя  при атаке предсказанием дополнения на  шифр  AES  в режиме CBC 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алгоритм развертывания ключа шифра Кузнечик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Изучить раундовые преобразования шифра Кузнечик</a:t>
            </a:r>
          </a:p>
        </p:txBody>
      </p:sp>
    </p:spTree>
    <p:extLst>
      <p:ext uri="{BB962C8B-B14F-4D97-AF65-F5344CB8AC3E}">
        <p14:creationId xmlns:p14="http://schemas.microsoft.com/office/powerpoint/2010/main" val="31667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5" y="2766218"/>
            <a:ext cx="6610350" cy="1325563"/>
          </a:xfrm>
        </p:spPr>
        <p:txBody>
          <a:bodyPr/>
          <a:lstStyle/>
          <a:p>
            <a:pPr algn="ctr"/>
            <a:r>
              <a:rPr lang="ru-RU" dirty="0"/>
              <a:t>Изучение преобразования </a:t>
            </a:r>
            <a:r>
              <a:rPr lang="en-US" dirty="0"/>
              <a:t>AES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83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10039350" cy="733425"/>
          </a:xfrm>
        </p:spPr>
        <p:txBody>
          <a:bodyPr>
            <a:normAutofit/>
          </a:bodyPr>
          <a:lstStyle/>
          <a:p>
            <a:r>
              <a:rPr lang="en-US" sz="4000" dirty="0"/>
              <a:t>AES</a:t>
            </a:r>
            <a:r>
              <a:rPr lang="ru-RU" sz="4000" dirty="0"/>
              <a:t>: Исходные данные и результаты раунда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1B494C-C2A2-4C93-B1ED-6489EDBB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733425"/>
            <a:ext cx="9201149" cy="46045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A42599F-3A2B-4299-9B87-3A1B59EDB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238500"/>
            <a:ext cx="4114801" cy="304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FBE38-77DC-4EDB-919D-C59542C8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ru-RU" dirty="0"/>
              <a:t>ES: Ручной расчет раундового ключа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E889B3-9280-4351-9470-686E7247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3429000"/>
            <a:ext cx="9211961" cy="2591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3066B0-9AAC-40EE-BD0B-45EC28728712}"/>
              </a:ext>
            </a:extLst>
          </p:cNvPr>
          <p:cNvSpPr txBox="1"/>
          <p:nvPr/>
        </p:nvSpPr>
        <p:spPr>
          <a:xfrm>
            <a:off x="838201" y="1465590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Запись ключа в матрицу 4х4</a:t>
            </a:r>
          </a:p>
          <a:p>
            <a:pPr marL="342900" indent="-342900">
              <a:buAutoNum type="arabicPeriod"/>
            </a:pPr>
            <a:r>
              <a:rPr lang="ru-RU" dirty="0"/>
              <a:t>Сдвиг последнего столбца</a:t>
            </a:r>
          </a:p>
          <a:p>
            <a:pPr marL="342900" indent="-342900">
              <a:buAutoNum type="arabicPeriod"/>
            </a:pPr>
            <a:r>
              <a:rPr lang="ru-RU" dirty="0"/>
              <a:t>Замена сдвинутого столбца по таблице</a:t>
            </a:r>
          </a:p>
          <a:p>
            <a:pPr marL="342900" indent="-342900">
              <a:buAutoNum type="arabicPeriod"/>
            </a:pPr>
            <a:r>
              <a:rPr lang="en-US" dirty="0"/>
              <a:t>XOR </a:t>
            </a:r>
            <a:r>
              <a:rPr lang="ru-RU" dirty="0"/>
              <a:t>столбца из п.3 с раундовой константой</a:t>
            </a:r>
          </a:p>
          <a:p>
            <a:pPr marL="342900" indent="-342900">
              <a:buAutoNum type="arabicPeriod"/>
            </a:pPr>
            <a:r>
              <a:rPr lang="ru-RU" dirty="0"/>
              <a:t>Вычисление таблицы 4х4 раундового ключа посредством </a:t>
            </a:r>
            <a:r>
              <a:rPr lang="en-US" dirty="0"/>
              <a:t>XOR </a:t>
            </a:r>
            <a:r>
              <a:rPr lang="ru-RU" dirty="0"/>
              <a:t>столбцов исходной матрицы с предыдущим столбцом (на 1 шаге столбец из п.4)</a:t>
            </a:r>
          </a:p>
        </p:txBody>
      </p:sp>
    </p:spTree>
    <p:extLst>
      <p:ext uri="{BB962C8B-B14F-4D97-AF65-F5344CB8AC3E}">
        <p14:creationId xmlns:p14="http://schemas.microsoft.com/office/powerpoint/2010/main" val="156005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FBE38-77DC-4EDB-919D-C59542C8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643"/>
            <a:ext cx="10515600" cy="1325563"/>
          </a:xfrm>
        </p:spPr>
        <p:txBody>
          <a:bodyPr/>
          <a:lstStyle/>
          <a:p>
            <a:r>
              <a:rPr lang="en-US" dirty="0"/>
              <a:t>A</a:t>
            </a:r>
            <a:r>
              <a:rPr lang="ru-RU" dirty="0"/>
              <a:t>ES: Ручной расчет первого раунда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066B0-9AAC-40EE-BD0B-45EC28728712}"/>
              </a:ext>
            </a:extLst>
          </p:cNvPr>
          <p:cNvSpPr txBox="1"/>
          <p:nvPr/>
        </p:nvSpPr>
        <p:spPr>
          <a:xfrm>
            <a:off x="838200" y="1065898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Вычисление предварительного раунда </a:t>
            </a:r>
            <a:r>
              <a:rPr lang="en-US" dirty="0"/>
              <a:t>XOR </a:t>
            </a:r>
            <a:r>
              <a:rPr lang="ru-RU" dirty="0"/>
              <a:t>ячеек исходного ключа с открытым текстом</a:t>
            </a:r>
          </a:p>
          <a:p>
            <a:pPr marL="342900" indent="-342900">
              <a:buAutoNum type="arabicPeriod"/>
            </a:pPr>
            <a:r>
              <a:rPr lang="ru-RU" dirty="0"/>
              <a:t>Замена каждой ячейки по таблице</a:t>
            </a:r>
          </a:p>
          <a:p>
            <a:pPr marL="342900" indent="-342900">
              <a:buAutoNum type="arabicPeriod"/>
            </a:pPr>
            <a:r>
              <a:rPr lang="ru-RU" dirty="0"/>
              <a:t>Каждая строка сдвигается влево на величину равную ее индексу</a:t>
            </a:r>
          </a:p>
          <a:p>
            <a:pPr marL="342900" indent="-342900">
              <a:buAutoNum type="arabicPeriod"/>
            </a:pPr>
            <a:r>
              <a:rPr lang="ru-RU" dirty="0"/>
              <a:t>Умножение матрицы состояний на матрицу констант</a:t>
            </a:r>
          </a:p>
          <a:p>
            <a:pPr marL="342900" indent="-342900">
              <a:buAutoNum type="arabicPeriod"/>
            </a:pPr>
            <a:r>
              <a:rPr lang="en-US" dirty="0"/>
              <a:t>XOR </a:t>
            </a:r>
            <a:r>
              <a:rPr lang="ru-RU" dirty="0"/>
              <a:t>с раундовым </a:t>
            </a:r>
            <a:r>
              <a:rPr lang="ru-RU" dirty="0" err="1"/>
              <a:t>ключем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B28AF7-EEE3-4AEA-8D6F-97F8D601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3226"/>
            <a:ext cx="9116697" cy="10288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F6D8A6-66A4-47DA-B9C5-A3CA2C7C1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3" y="3572070"/>
            <a:ext cx="9126224" cy="110505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9FC1BD8-0336-4B1D-A129-581C68277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81689"/>
            <a:ext cx="9126224" cy="218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5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51" y="2766218"/>
            <a:ext cx="81438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Исследование криптостойкости </a:t>
            </a:r>
            <a:r>
              <a:rPr lang="en-US" dirty="0"/>
              <a:t>AES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07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атаки грубой силы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B14828-75C3-4D00-AB0A-C61C5B4A5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77" y="2043162"/>
            <a:ext cx="10927446" cy="366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1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7E1C0-73C3-4569-84CB-6CB8E277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Результаты  оценки трудоемкости атаки на </a:t>
            </a:r>
            <a:r>
              <a:rPr lang="en-US" dirty="0"/>
              <a:t>AE</a:t>
            </a:r>
            <a:r>
              <a:rPr lang="ru-RU" dirty="0"/>
              <a:t>S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14AFF0C3-B98D-4E01-940C-F3B0DA6C9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282294"/>
              </p:ext>
            </p:extLst>
          </p:nvPr>
        </p:nvGraphicFramePr>
        <p:xfrm>
          <a:off x="2590800" y="1952625"/>
          <a:ext cx="71628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62">
                  <a:extLst>
                    <a:ext uri="{9D8B030D-6E8A-4147-A177-3AD203B41FA5}">
                      <a16:colId xmlns:a16="http://schemas.microsoft.com/office/drawing/2014/main" val="1642371319"/>
                    </a:ext>
                  </a:extLst>
                </a:gridCol>
                <a:gridCol w="1625363">
                  <a:extLst>
                    <a:ext uri="{9D8B030D-6E8A-4147-A177-3AD203B41FA5}">
                      <a16:colId xmlns:a16="http://schemas.microsoft.com/office/drawing/2014/main" val="530763369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36802888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452243352"/>
                    </a:ext>
                  </a:extLst>
                </a:gridCol>
              </a:tblGrid>
              <a:tr h="41910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неизвестных байт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Ожидаемое время атаки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11247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ядро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ядер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 ядер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1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992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3.6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30 мин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 мин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64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17.8 лет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лет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2.7 лет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858350"/>
                  </a:ext>
                </a:extLst>
              </a:tr>
            </a:tbl>
          </a:graphicData>
        </a:graphic>
      </p:graphicFrame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A854810C-D9BD-4B4B-9175-D4228B536A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977471"/>
              </p:ext>
            </p:extLst>
          </p:nvPr>
        </p:nvGraphicFramePr>
        <p:xfrm>
          <a:off x="2590800" y="4465955"/>
          <a:ext cx="71628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62">
                  <a:extLst>
                    <a:ext uri="{9D8B030D-6E8A-4147-A177-3AD203B41FA5}">
                      <a16:colId xmlns:a16="http://schemas.microsoft.com/office/drawing/2014/main" val="1642371319"/>
                    </a:ext>
                  </a:extLst>
                </a:gridCol>
                <a:gridCol w="1625363">
                  <a:extLst>
                    <a:ext uri="{9D8B030D-6E8A-4147-A177-3AD203B41FA5}">
                      <a16:colId xmlns:a16="http://schemas.microsoft.com/office/drawing/2014/main" val="530763369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36802888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45224335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неизвестных байт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Ожидаемое время атаки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11247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ядро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ядер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 ядер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1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992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1.3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 мин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 </a:t>
                      </a:r>
                      <a:r>
                        <a:rPr lang="ru-RU" dirty="0"/>
                        <a:t>мин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64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9.7 лет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2.3 лет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 </a:t>
                      </a:r>
                      <a:r>
                        <a:rPr lang="ru-RU" dirty="0"/>
                        <a:t>лет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8583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BC71A1-4C85-4698-8D07-BBCDD6EE6CC0}"/>
              </a:ext>
            </a:extLst>
          </p:cNvPr>
          <p:cNvSpPr txBox="1"/>
          <p:nvPr/>
        </p:nvSpPr>
        <p:spPr>
          <a:xfrm>
            <a:off x="325459" y="1952625"/>
            <a:ext cx="226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Атака "грубой силы" </a:t>
            </a:r>
          </a:p>
          <a:p>
            <a:r>
              <a:rPr lang="ru-RU" dirty="0"/>
              <a:t>с оценкой по энтропии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24360D-AE32-464E-8526-00BCE7C94739}"/>
              </a:ext>
            </a:extLst>
          </p:cNvPr>
          <p:cNvSpPr txBox="1"/>
          <p:nvPr/>
        </p:nvSpPr>
        <p:spPr>
          <a:xfrm>
            <a:off x="325458" y="4465955"/>
            <a:ext cx="226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Атака "грубой силы" </a:t>
            </a:r>
          </a:p>
          <a:p>
            <a:r>
              <a:rPr lang="ru-RU" dirty="0"/>
              <a:t>с оценкой по словосочетанию </a:t>
            </a:r>
          </a:p>
        </p:txBody>
      </p:sp>
    </p:spTree>
    <p:extLst>
      <p:ext uri="{BB962C8B-B14F-4D97-AF65-F5344CB8AC3E}">
        <p14:creationId xmlns:p14="http://schemas.microsoft.com/office/powerpoint/2010/main" val="195287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Изучение действия нарушителя  при атаке предсказанием дополнения на  шифр  AES  в режиме CBC  </a:t>
            </a:r>
          </a:p>
        </p:txBody>
      </p:sp>
    </p:spTree>
    <p:extLst>
      <p:ext uri="{BB962C8B-B14F-4D97-AF65-F5344CB8AC3E}">
        <p14:creationId xmlns:p14="http://schemas.microsoft.com/office/powerpoint/2010/main" val="413835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F2F34-65CB-45B5-BA9A-03443F7D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24680" cy="1325563"/>
          </a:xfrm>
        </p:spPr>
        <p:txBody>
          <a:bodyPr/>
          <a:lstStyle/>
          <a:p>
            <a:r>
              <a:rPr lang="ru-RU" dirty="0"/>
              <a:t>Шаблон атаки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AAC79C-5BF2-44E5-8DB8-5FE20000F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15" y="1690688"/>
            <a:ext cx="9629775" cy="24285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DD78C9-B739-4A65-83FA-FACC1B42A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94" r="29891"/>
          <a:stretch/>
        </p:blipFill>
        <p:spPr>
          <a:xfrm>
            <a:off x="2000351" y="4119224"/>
            <a:ext cx="3648076" cy="24362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6DC614-AADE-4DA3-A593-4B28EF9D2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363" y="4119224"/>
            <a:ext cx="3153178" cy="25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7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F2F34-65CB-45B5-BA9A-03443F7D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20280" cy="1325563"/>
          </a:xfrm>
        </p:spPr>
        <p:txBody>
          <a:bodyPr>
            <a:normAutofit/>
          </a:bodyPr>
          <a:lstStyle/>
          <a:p>
            <a:r>
              <a:rPr lang="ru-RU" dirty="0"/>
              <a:t>Схема действия нарушителя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F97632-6346-4889-B2A2-942ABBE22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2" y="1797050"/>
            <a:ext cx="103536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4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Изучение алгоритма развертывания ключа шифра Кузнечик </a:t>
            </a:r>
          </a:p>
        </p:txBody>
      </p:sp>
    </p:spTree>
    <p:extLst>
      <p:ext uri="{BB962C8B-B14F-4D97-AF65-F5344CB8AC3E}">
        <p14:creationId xmlns:p14="http://schemas.microsoft.com/office/powerpoint/2010/main" val="645747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28320"/>
            <a:ext cx="10039350" cy="733425"/>
          </a:xfrm>
        </p:spPr>
        <p:txBody>
          <a:bodyPr>
            <a:normAutofit/>
          </a:bodyPr>
          <a:lstStyle/>
          <a:p>
            <a:r>
              <a:rPr lang="ru-RU" sz="4000" dirty="0"/>
              <a:t>Кузнечик: Эталонный итерационный ключ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DE7AF5F-2E83-4CF3-8129-6D19784D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24015"/>
            <a:ext cx="6777941" cy="50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48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28320"/>
            <a:ext cx="10039350" cy="733425"/>
          </a:xfrm>
        </p:spPr>
        <p:txBody>
          <a:bodyPr>
            <a:normAutofit/>
          </a:bodyPr>
          <a:lstStyle/>
          <a:p>
            <a:r>
              <a:rPr lang="ru-RU" sz="4000" dirty="0"/>
              <a:t>Кузнечик: Ручной расчет ключа</a:t>
            </a:r>
            <a:r>
              <a:rPr lang="en-US" sz="4000" dirty="0"/>
              <a:t> </a:t>
            </a:r>
            <a:r>
              <a:rPr lang="ru-RU" sz="4000" dirty="0"/>
              <a:t>итерации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69DA0-6ED6-4EC1-8293-2A491663A7E7}"/>
              </a:ext>
            </a:extLst>
          </p:cNvPr>
          <p:cNvSpPr txBox="1"/>
          <p:nvPr/>
        </p:nvSpPr>
        <p:spPr>
          <a:xfrm>
            <a:off x="2771665" y="1556861"/>
            <a:ext cx="224933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= 9</a:t>
            </a:r>
          </a:p>
          <a:p>
            <a:r>
              <a:rPr lang="en-US" dirty="0"/>
              <a:t>8 * (9 – 1) + 1 = 65 =&gt; </a:t>
            </a:r>
          </a:p>
          <a:p>
            <a:r>
              <a:rPr lang="en-US" dirty="0"/>
              <a:t>00 00 00 00</a:t>
            </a:r>
          </a:p>
          <a:p>
            <a:r>
              <a:rPr lang="en-US" dirty="0"/>
              <a:t>00 00 00 00</a:t>
            </a:r>
          </a:p>
          <a:p>
            <a:r>
              <a:rPr lang="en-US" dirty="0"/>
              <a:t>00 00 00 00 </a:t>
            </a:r>
          </a:p>
          <a:p>
            <a:r>
              <a:rPr lang="en-US" dirty="0"/>
              <a:t>00 00 00 41</a:t>
            </a:r>
          </a:p>
          <a:p>
            <a:endParaRPr lang="en-US" dirty="0"/>
          </a:p>
          <a:p>
            <a:r>
              <a:rPr lang="ru-RU" b="1" dirty="0"/>
              <a:t>Ключ итерации</a:t>
            </a:r>
            <a:r>
              <a:rPr lang="en-US" b="1" dirty="0"/>
              <a:t> </a:t>
            </a:r>
            <a:r>
              <a:rPr lang="en-US" dirty="0"/>
              <a:t>= </a:t>
            </a:r>
          </a:p>
          <a:p>
            <a:r>
              <a:rPr lang="it-IT" dirty="0"/>
              <a:t>98 FB 40 64</a:t>
            </a:r>
          </a:p>
          <a:p>
            <a:r>
              <a:rPr lang="it-IT" dirty="0"/>
              <a:t>8A 4D 2C 31 </a:t>
            </a:r>
          </a:p>
          <a:p>
            <a:r>
              <a:rPr lang="it-IT" dirty="0"/>
              <a:t>F0 DC 1C 90 </a:t>
            </a:r>
          </a:p>
          <a:p>
            <a:r>
              <a:rPr lang="it-IT" dirty="0"/>
              <a:t>FA 2E BE 09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764C9-A330-4CE5-B771-7D8DF7D05DB9}"/>
              </a:ext>
            </a:extLst>
          </p:cNvPr>
          <p:cNvSpPr txBox="1"/>
          <p:nvPr/>
        </p:nvSpPr>
        <p:spPr>
          <a:xfrm>
            <a:off x="623316" y="3316377"/>
            <a:ext cx="13676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Right</a:t>
            </a:r>
            <a:r>
              <a:rPr lang="en-US" dirty="0"/>
              <a:t> = </a:t>
            </a:r>
          </a:p>
          <a:p>
            <a:r>
              <a:rPr lang="pt-BR" dirty="0"/>
              <a:t>9A 06 6F 82 </a:t>
            </a:r>
          </a:p>
          <a:p>
            <a:r>
              <a:rPr lang="pt-BR" dirty="0"/>
              <a:t>4F B7 AB FD </a:t>
            </a:r>
          </a:p>
          <a:p>
            <a:r>
              <a:rPr lang="pt-BR" dirty="0"/>
              <a:t>56 E0 88 0E </a:t>
            </a:r>
          </a:p>
          <a:p>
            <a:r>
              <a:rPr lang="pt-BR" dirty="0"/>
              <a:t>71 1C 99 86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7E3BE-C6F1-438E-A139-0B6A05F4148A}"/>
              </a:ext>
            </a:extLst>
          </p:cNvPr>
          <p:cNvSpPr txBox="1"/>
          <p:nvPr/>
        </p:nvSpPr>
        <p:spPr>
          <a:xfrm>
            <a:off x="623316" y="1556861"/>
            <a:ext cx="13853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Left</a:t>
            </a:r>
            <a:r>
              <a:rPr lang="en-US" dirty="0"/>
              <a:t> = </a:t>
            </a:r>
          </a:p>
          <a:p>
            <a:r>
              <a:rPr lang="pt-BR" dirty="0"/>
              <a:t>DC 76 6C BC </a:t>
            </a:r>
          </a:p>
          <a:p>
            <a:r>
              <a:rPr lang="pt-BR" dirty="0"/>
              <a:t>2C E6 97 CB </a:t>
            </a:r>
          </a:p>
          <a:p>
            <a:r>
              <a:rPr lang="pt-BR" dirty="0"/>
              <a:t>BB 27 B5 BA </a:t>
            </a:r>
          </a:p>
          <a:p>
            <a:r>
              <a:rPr lang="pt-BR" dirty="0"/>
              <a:t>02 A6 52 75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EC10F-5B89-4FC0-833C-BB984968479B}"/>
              </a:ext>
            </a:extLst>
          </p:cNvPr>
          <p:cNvSpPr txBox="1"/>
          <p:nvPr/>
        </p:nvSpPr>
        <p:spPr>
          <a:xfrm>
            <a:off x="5784032" y="1592059"/>
            <a:ext cx="28035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- L XOR </a:t>
            </a:r>
            <a:r>
              <a:rPr lang="ru-RU" dirty="0"/>
              <a:t>Ключ итерации</a:t>
            </a:r>
            <a:r>
              <a:rPr lang="en-US" dirty="0"/>
              <a:t> = </a:t>
            </a:r>
          </a:p>
          <a:p>
            <a:r>
              <a:rPr lang="it-IT" dirty="0"/>
              <a:t>44 8D 2C D8 </a:t>
            </a:r>
          </a:p>
          <a:p>
            <a:r>
              <a:rPr lang="it-IT" dirty="0"/>
              <a:t>A6 AB BB FA </a:t>
            </a:r>
          </a:p>
          <a:p>
            <a:r>
              <a:rPr lang="it-IT" dirty="0"/>
              <a:t>4B FB A9 2A </a:t>
            </a:r>
          </a:p>
          <a:p>
            <a:r>
              <a:rPr lang="it-IT" dirty="0"/>
              <a:t>F8 88 EC 7C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E2013-6AB9-4E98-8D58-A4FC9530C2A0}"/>
              </a:ext>
            </a:extLst>
          </p:cNvPr>
          <p:cNvSpPr txBox="1"/>
          <p:nvPr/>
        </p:nvSpPr>
        <p:spPr>
          <a:xfrm>
            <a:off x="5801666" y="3099782"/>
            <a:ext cx="21362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 </a:t>
            </a:r>
            <a:r>
              <a:rPr lang="en-US" dirty="0"/>
              <a:t>–</a:t>
            </a:r>
            <a:r>
              <a:rPr lang="ru-RU" dirty="0"/>
              <a:t> подстановка </a:t>
            </a:r>
            <a:r>
              <a:rPr lang="en-US" dirty="0"/>
              <a:t>X</a:t>
            </a:r>
            <a:r>
              <a:rPr lang="ru-RU" dirty="0"/>
              <a:t> = </a:t>
            </a:r>
          </a:p>
          <a:p>
            <a:r>
              <a:rPr lang="ru-RU" dirty="0"/>
              <a:t>EA 22 8B 8D </a:t>
            </a:r>
          </a:p>
          <a:p>
            <a:r>
              <a:rPr lang="ru-RU" dirty="0"/>
              <a:t>62 82 7D AF </a:t>
            </a:r>
          </a:p>
          <a:p>
            <a:r>
              <a:rPr lang="ru-RU" dirty="0"/>
              <a:t>A2 C2 B8 3C </a:t>
            </a:r>
          </a:p>
          <a:p>
            <a:r>
              <a:rPr lang="ru-RU" dirty="0"/>
              <a:t>D1 D7 BE C3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31485-5469-4179-AC55-B9E7FCFD0747}"/>
              </a:ext>
            </a:extLst>
          </p:cNvPr>
          <p:cNvSpPr txBox="1"/>
          <p:nvPr/>
        </p:nvSpPr>
        <p:spPr>
          <a:xfrm>
            <a:off x="5857876" y="4684554"/>
            <a:ext cx="14253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</a:t>
            </a:r>
            <a:r>
              <a:rPr lang="en-US" dirty="0"/>
              <a:t> – </a:t>
            </a:r>
            <a:r>
              <a:rPr lang="ru-RU" dirty="0"/>
              <a:t>сдвиг </a:t>
            </a:r>
            <a:r>
              <a:rPr lang="en-US" dirty="0"/>
              <a:t>S = </a:t>
            </a:r>
          </a:p>
          <a:p>
            <a:r>
              <a:rPr lang="en-US" dirty="0"/>
              <a:t>EC 32 3C 61</a:t>
            </a:r>
          </a:p>
          <a:p>
            <a:r>
              <a:rPr lang="en-US" dirty="0"/>
              <a:t>B2 A3 4A D7</a:t>
            </a:r>
          </a:p>
          <a:p>
            <a:r>
              <a:rPr lang="en-US" dirty="0"/>
              <a:t>D3 A6 20 24</a:t>
            </a:r>
          </a:p>
          <a:p>
            <a:r>
              <a:rPr lang="en-US" dirty="0"/>
              <a:t>EE 9B 5C 9C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9DA072-B3C4-4922-888E-1CF70155E01F}"/>
              </a:ext>
            </a:extLst>
          </p:cNvPr>
          <p:cNvSpPr txBox="1"/>
          <p:nvPr/>
        </p:nvSpPr>
        <p:spPr>
          <a:xfrm>
            <a:off x="9422330" y="1527114"/>
            <a:ext cx="13853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Right’ </a:t>
            </a:r>
            <a:r>
              <a:rPr lang="en-US" dirty="0"/>
              <a:t>= </a:t>
            </a:r>
          </a:p>
          <a:p>
            <a:r>
              <a:rPr lang="pt-BR" dirty="0"/>
              <a:t>DC 76 6C BC </a:t>
            </a:r>
          </a:p>
          <a:p>
            <a:r>
              <a:rPr lang="pt-BR" dirty="0"/>
              <a:t>2C E6 97 CB </a:t>
            </a:r>
          </a:p>
          <a:p>
            <a:r>
              <a:rPr lang="pt-BR" dirty="0"/>
              <a:t>BB 27 B5 BA </a:t>
            </a:r>
          </a:p>
          <a:p>
            <a:r>
              <a:rPr lang="pt-BR" dirty="0"/>
              <a:t>02 A6 52 75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BABE5-1314-465B-BF4C-23A2DAFFB2F6}"/>
              </a:ext>
            </a:extLst>
          </p:cNvPr>
          <p:cNvSpPr txBox="1"/>
          <p:nvPr/>
        </p:nvSpPr>
        <p:spPr>
          <a:xfrm>
            <a:off x="9422330" y="3668892"/>
            <a:ext cx="21363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Left’</a:t>
            </a:r>
            <a:r>
              <a:rPr lang="en-US" dirty="0"/>
              <a:t> = L XOR Right = </a:t>
            </a:r>
          </a:p>
          <a:p>
            <a:r>
              <a:rPr lang="en-US" dirty="0"/>
              <a:t>76 34 53 E3 </a:t>
            </a:r>
          </a:p>
          <a:p>
            <a:r>
              <a:rPr lang="en-US" dirty="0"/>
              <a:t>FD 14 E1 2A </a:t>
            </a:r>
          </a:p>
          <a:p>
            <a:r>
              <a:rPr lang="en-US" dirty="0"/>
              <a:t>85 46 A8 2A </a:t>
            </a:r>
          </a:p>
          <a:p>
            <a:r>
              <a:rPr lang="en-US" dirty="0"/>
              <a:t>9F 87 C5 1A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17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Изучение раундового преобразования шифра Кузнечик</a:t>
            </a:r>
          </a:p>
        </p:txBody>
      </p:sp>
    </p:spTree>
    <p:extLst>
      <p:ext uri="{BB962C8B-B14F-4D97-AF65-F5344CB8AC3E}">
        <p14:creationId xmlns:p14="http://schemas.microsoft.com/office/powerpoint/2010/main" val="3354162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FBE38-77DC-4EDB-919D-C59542C8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9552" cy="935355"/>
          </a:xfrm>
        </p:spPr>
        <p:txBody>
          <a:bodyPr>
            <a:normAutofit fontScale="90000"/>
          </a:bodyPr>
          <a:lstStyle/>
          <a:p>
            <a:r>
              <a:rPr lang="ru-RU" dirty="0"/>
              <a:t>Кузнечик: </a:t>
            </a:r>
            <a:r>
              <a:rPr lang="ru-RU" sz="4400" dirty="0"/>
              <a:t>Эталонные раундовые преобразования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541F63-8212-43EA-B905-14D9FCA6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29" y="1300480"/>
            <a:ext cx="6763882" cy="49378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8C4F4D-B22D-4CC3-8BE0-FE352B5F65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169"/>
          <a:stretch/>
        </p:blipFill>
        <p:spPr>
          <a:xfrm>
            <a:off x="7856970" y="1171074"/>
            <a:ext cx="3584005" cy="532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6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FBE38-77DC-4EDB-919D-C59542C8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9552" cy="935355"/>
          </a:xfrm>
        </p:spPr>
        <p:txBody>
          <a:bodyPr>
            <a:normAutofit fontScale="90000"/>
          </a:bodyPr>
          <a:lstStyle/>
          <a:p>
            <a:r>
              <a:rPr lang="ru-RU" dirty="0"/>
              <a:t>Кузнечик: </a:t>
            </a:r>
            <a:r>
              <a:rPr lang="ru-RU" sz="4400" dirty="0"/>
              <a:t>Ручной расчет раундового преобразования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7B01E-4F02-4169-A2D1-1F322DC401A8}"/>
              </a:ext>
            </a:extLst>
          </p:cNvPr>
          <p:cNvSpPr txBox="1"/>
          <p:nvPr/>
        </p:nvSpPr>
        <p:spPr>
          <a:xfrm>
            <a:off x="838200" y="1747777"/>
            <a:ext cx="211307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Блок данных </a:t>
            </a:r>
            <a:r>
              <a:rPr lang="ru-RU" dirty="0"/>
              <a:t>= </a:t>
            </a:r>
          </a:p>
          <a:p>
            <a:r>
              <a:rPr lang="en-US" dirty="0"/>
              <a:t>15 15 AE 11 </a:t>
            </a:r>
            <a:endParaRPr lang="ru-RU" dirty="0"/>
          </a:p>
          <a:p>
            <a:r>
              <a:rPr lang="en-US" dirty="0"/>
              <a:t>CA 56 24 1F </a:t>
            </a:r>
            <a:endParaRPr lang="ru-RU" dirty="0"/>
          </a:p>
          <a:p>
            <a:r>
              <a:rPr lang="en-US" dirty="0"/>
              <a:t>AC C3 14 63 </a:t>
            </a:r>
            <a:endParaRPr lang="ru-RU" dirty="0"/>
          </a:p>
          <a:p>
            <a:r>
              <a:rPr lang="en-US" dirty="0"/>
              <a:t>A6 74 BC 39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Раундовый ключ </a:t>
            </a:r>
            <a:r>
              <a:rPr lang="ru-RU" dirty="0"/>
              <a:t>= </a:t>
            </a:r>
          </a:p>
          <a:p>
            <a:r>
              <a:rPr lang="en-US" dirty="0"/>
              <a:t>28 2A E3 02 </a:t>
            </a:r>
            <a:endParaRPr lang="ru-RU" dirty="0"/>
          </a:p>
          <a:p>
            <a:r>
              <a:rPr lang="en-US" dirty="0"/>
              <a:t>2F 76 42 2E </a:t>
            </a:r>
            <a:endParaRPr lang="ru-RU" dirty="0"/>
          </a:p>
          <a:p>
            <a:r>
              <a:rPr lang="en-US" dirty="0"/>
              <a:t>0C 3D E6 1A </a:t>
            </a:r>
            <a:endParaRPr lang="ru-RU" dirty="0"/>
          </a:p>
          <a:p>
            <a:r>
              <a:rPr lang="en-US" dirty="0"/>
              <a:t>EC C2 C6 42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9F82D-FC54-4E48-9451-C60F74727FF5}"/>
              </a:ext>
            </a:extLst>
          </p:cNvPr>
          <p:cNvSpPr txBox="1"/>
          <p:nvPr/>
        </p:nvSpPr>
        <p:spPr>
          <a:xfrm>
            <a:off x="3541853" y="1736202"/>
            <a:ext cx="415812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– </a:t>
            </a:r>
            <a:r>
              <a:rPr lang="ru-RU" dirty="0"/>
              <a:t>Блок данных </a:t>
            </a:r>
            <a:r>
              <a:rPr lang="en-US" dirty="0"/>
              <a:t>XOR </a:t>
            </a:r>
            <a:r>
              <a:rPr lang="ru-RU" dirty="0"/>
              <a:t>Раундовый ключ = </a:t>
            </a:r>
          </a:p>
          <a:p>
            <a:r>
              <a:rPr lang="pt-BR" dirty="0"/>
              <a:t>3D 3F 4D 13 </a:t>
            </a:r>
            <a:endParaRPr lang="ru-RU" dirty="0"/>
          </a:p>
          <a:p>
            <a:r>
              <a:rPr lang="pt-BR" dirty="0"/>
              <a:t>E5 20 66 31 </a:t>
            </a:r>
            <a:endParaRPr lang="ru-RU" dirty="0"/>
          </a:p>
          <a:p>
            <a:r>
              <a:rPr lang="pt-BR" dirty="0"/>
              <a:t>A0 FE F2 79 </a:t>
            </a:r>
            <a:endParaRPr lang="ru-RU" dirty="0"/>
          </a:p>
          <a:p>
            <a:r>
              <a:rPr lang="pt-BR" dirty="0"/>
              <a:t>4A B6 7A 7B</a:t>
            </a:r>
            <a:endParaRPr lang="ru-RU" dirty="0"/>
          </a:p>
          <a:p>
            <a:endParaRPr lang="ru-RU" dirty="0"/>
          </a:p>
          <a:p>
            <a:r>
              <a:rPr lang="en-US" b="1" dirty="0"/>
              <a:t>S</a:t>
            </a:r>
            <a:r>
              <a:rPr lang="en-US" dirty="0"/>
              <a:t> – </a:t>
            </a:r>
            <a:r>
              <a:rPr lang="ru-RU" dirty="0"/>
              <a:t>подстановка </a:t>
            </a:r>
            <a:r>
              <a:rPr lang="en-US" dirty="0"/>
              <a:t>X = </a:t>
            </a:r>
          </a:p>
          <a:p>
            <a:r>
              <a:rPr lang="en-US" dirty="0"/>
              <a:t>D4 1F 3A DB </a:t>
            </a:r>
          </a:p>
          <a:p>
            <a:r>
              <a:rPr lang="en-US" dirty="0"/>
              <a:t>2B F9 9A 84 </a:t>
            </a:r>
          </a:p>
          <a:p>
            <a:r>
              <a:rPr lang="en-US" dirty="0"/>
              <a:t>A7 63 74 54 </a:t>
            </a:r>
          </a:p>
          <a:p>
            <a:r>
              <a:rPr lang="en-US" dirty="0"/>
              <a:t>68 55 C6 80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BB3B1-FE28-4D88-B107-FDF60C93A182}"/>
              </a:ext>
            </a:extLst>
          </p:cNvPr>
          <p:cNvSpPr txBox="1"/>
          <p:nvPr/>
        </p:nvSpPr>
        <p:spPr>
          <a:xfrm>
            <a:off x="8290553" y="1736202"/>
            <a:ext cx="14253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</a:t>
            </a:r>
            <a:r>
              <a:rPr lang="en-US" dirty="0"/>
              <a:t> – </a:t>
            </a:r>
            <a:r>
              <a:rPr lang="ru-RU" dirty="0"/>
              <a:t>сдвиг </a:t>
            </a:r>
            <a:r>
              <a:rPr lang="en-US" dirty="0"/>
              <a:t>S = </a:t>
            </a:r>
          </a:p>
          <a:p>
            <a:r>
              <a:rPr lang="pt-BR" dirty="0"/>
              <a:t>E5 90 FC AE </a:t>
            </a:r>
          </a:p>
          <a:p>
            <a:r>
              <a:rPr lang="pt-BR" dirty="0"/>
              <a:t>B5 D4 25 1D </a:t>
            </a:r>
          </a:p>
          <a:p>
            <a:r>
              <a:rPr lang="pt-BR" dirty="0"/>
              <a:t>A0 16 8D 6F </a:t>
            </a:r>
          </a:p>
          <a:p>
            <a:r>
              <a:rPr lang="pt-BR" dirty="0"/>
              <a:t>EF 54 BB 30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333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CDF10-2111-4846-B65F-3C9C513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939" y="1105693"/>
            <a:ext cx="11360785" cy="553402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В ходе работы были исследованы симметричные блочные шифры </a:t>
            </a:r>
            <a:r>
              <a:rPr lang="en-US" dirty="0"/>
              <a:t>A</a:t>
            </a:r>
            <a:r>
              <a:rPr lang="ru-RU" dirty="0"/>
              <a:t>ES, Кузнечик и алгоритм проведения атаки предсказанием дополнения, а также приобретены практические навыки по работе с ними с использованием приложений</a:t>
            </a:r>
            <a:r>
              <a:rPr lang="en-US" dirty="0"/>
              <a:t> </a:t>
            </a:r>
            <a:r>
              <a:rPr lang="en-US" dirty="0" err="1"/>
              <a:t>CrypTool</a:t>
            </a:r>
            <a:r>
              <a:rPr lang="en-US" dirty="0"/>
              <a:t> 1</a:t>
            </a:r>
            <a:r>
              <a:rPr lang="ru-RU" dirty="0"/>
              <a:t>,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 и ЛИТОРЕЯ.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Изучены основные характеристики шифов: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A</a:t>
            </a:r>
            <a:r>
              <a:rPr lang="ru-RU" b="1" dirty="0"/>
              <a:t>ES</a:t>
            </a:r>
            <a:r>
              <a:rPr lang="ru-RU" dirty="0"/>
              <a:t> (Блочный симметричный шифр</a:t>
            </a:r>
            <a:r>
              <a:rPr lang="en-US" dirty="0"/>
              <a:t>; </a:t>
            </a:r>
            <a:r>
              <a:rPr lang="ru-RU" dirty="0"/>
              <a:t>Длина блока – </a:t>
            </a:r>
            <a:r>
              <a:rPr lang="en-US" dirty="0"/>
              <a:t>128</a:t>
            </a:r>
            <a:r>
              <a:rPr lang="ru-RU" dirty="0"/>
              <a:t> бит;</a:t>
            </a:r>
            <a:r>
              <a:rPr lang="en-US" dirty="0"/>
              <a:t> </a:t>
            </a:r>
            <a:r>
              <a:rPr lang="ru-RU" dirty="0"/>
              <a:t>Длина ключа – </a:t>
            </a:r>
            <a:r>
              <a:rPr lang="en-US" dirty="0"/>
              <a:t>128/196/256 </a:t>
            </a:r>
            <a:r>
              <a:rPr lang="ru-RU" dirty="0"/>
              <a:t>бит, на основе которого генерируются раундовые ключи;</a:t>
            </a:r>
            <a:r>
              <a:rPr lang="en-US" dirty="0"/>
              <a:t> </a:t>
            </a:r>
            <a:r>
              <a:rPr lang="ru-RU" dirty="0"/>
              <a:t>Алгоритм включает 10/12/14 раундов на основе </a:t>
            </a:r>
            <a:r>
              <a:rPr lang="en-US" dirty="0"/>
              <a:t>SP </a:t>
            </a:r>
            <a:r>
              <a:rPr lang="ru-RU" dirty="0"/>
              <a:t>сети в зависимости от длины ключа</a:t>
            </a:r>
            <a:r>
              <a:rPr lang="en-US" dirty="0"/>
              <a:t>; </a:t>
            </a:r>
            <a:r>
              <a:rPr lang="ru-RU" dirty="0"/>
              <a:t>В последнем раунде нет </a:t>
            </a:r>
            <a:r>
              <a:rPr lang="ru-RU" dirty="0" err="1"/>
              <a:t>MixColumns</a:t>
            </a:r>
            <a:r>
              <a:rPr lang="en-US" dirty="0"/>
              <a:t>.)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b="1" dirty="0"/>
              <a:t>Криптостойкость </a:t>
            </a:r>
            <a:r>
              <a:rPr lang="en-US" b="1" dirty="0"/>
              <a:t>AES </a:t>
            </a:r>
            <a:r>
              <a:rPr lang="en-US" dirty="0"/>
              <a:t>(</a:t>
            </a:r>
            <a:r>
              <a:rPr lang="ru-RU" dirty="0"/>
              <a:t>В результате эксперимента было выявлено что при размере текста ~1000 символов грубая атака с энтропией работает дольше, чем атака с регулярным выражением.)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b="1" dirty="0"/>
              <a:t>Кузнечик</a:t>
            </a:r>
            <a:r>
              <a:rPr lang="ru-RU" dirty="0"/>
              <a:t> (Блочный симметричный шифр</a:t>
            </a:r>
            <a:r>
              <a:rPr lang="en-US" dirty="0"/>
              <a:t>;</a:t>
            </a:r>
            <a:r>
              <a:rPr lang="ru-RU" dirty="0"/>
              <a:t> Длина блока – 128 бит; Длина ключа – 256 бит, для зашифрования используется 9 раундов (на основе SP сети), для развертывания ключа используется 32 итерации сети </a:t>
            </a:r>
            <a:r>
              <a:rPr lang="ru-RU" dirty="0" err="1"/>
              <a:t>Фейстеля</a:t>
            </a:r>
            <a:r>
              <a:rPr lang="ru-RU" dirty="0"/>
              <a:t> (по 8 на каждую пару ключей))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7E2FB-D405-4079-A8EB-D55AD434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69" y="304800"/>
            <a:ext cx="5986462" cy="80089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Заключение по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643814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3758</TotalTime>
  <Words>833</Words>
  <Application>Microsoft Office PowerPoint</Application>
  <PresentationFormat>Широкоэкранный</PresentationFormat>
  <Paragraphs>162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Лабораторная работа № 5 Изучение шифров AES и Кузнечик</vt:lpstr>
      <vt:lpstr>Цель работы.</vt:lpstr>
      <vt:lpstr>Изучение преобразования AES </vt:lpstr>
      <vt:lpstr>AES: Исходные данные и результаты раунда</vt:lpstr>
      <vt:lpstr>AES: Ручной расчет раундового ключа</vt:lpstr>
      <vt:lpstr>AES: Ручной расчет первого раунда</vt:lpstr>
      <vt:lpstr>Исследование криптостойкости AES </vt:lpstr>
      <vt:lpstr>Шаблон атаки грубой силы</vt:lpstr>
      <vt:lpstr>Результаты  оценки трудоемкости атаки на AES</vt:lpstr>
      <vt:lpstr>Изучение действия нарушителя  при атаке предсказанием дополнения на  шифр  AES  в режиме CBC  </vt:lpstr>
      <vt:lpstr>Шаблон атаки</vt:lpstr>
      <vt:lpstr>Схема действия нарушителя</vt:lpstr>
      <vt:lpstr>Изучение алгоритма развертывания ключа шифра Кузнечик </vt:lpstr>
      <vt:lpstr>Кузнечик: Эталонный итерационный ключ</vt:lpstr>
      <vt:lpstr>Кузнечик: Ручной расчет ключа итерации</vt:lpstr>
      <vt:lpstr>Изучение раундового преобразования шифра Кузнечик</vt:lpstr>
      <vt:lpstr>Кузнечик: Эталонные раундовые преобразования</vt:lpstr>
      <vt:lpstr>Кузнечик: Ручной расчет раундового преобразования</vt:lpstr>
      <vt:lpstr>Заключение по работе.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Изучение классических шифров</dc:title>
  <dc:creator>Pavel</dc:creator>
  <cp:lastModifiedBy>Pavel</cp:lastModifiedBy>
  <cp:revision>187</cp:revision>
  <dcterms:created xsi:type="dcterms:W3CDTF">2024-09-10T08:56:48Z</dcterms:created>
  <dcterms:modified xsi:type="dcterms:W3CDTF">2024-11-10T14:48:32Z</dcterms:modified>
</cp:coreProperties>
</file>