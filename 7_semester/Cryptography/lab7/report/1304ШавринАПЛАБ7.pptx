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08" r:id="rId5"/>
    <p:sldId id="309" r:id="rId6"/>
    <p:sldId id="304" r:id="rId7"/>
    <p:sldId id="310" r:id="rId8"/>
    <p:sldId id="311" r:id="rId9"/>
    <p:sldId id="305" r:id="rId10"/>
    <p:sldId id="312" r:id="rId11"/>
    <p:sldId id="313" r:id="rId12"/>
    <p:sldId id="306" r:id="rId13"/>
    <p:sldId id="314" r:id="rId14"/>
    <p:sldId id="307" r:id="rId15"/>
    <p:sldId id="315" r:id="rId16"/>
    <p:sldId id="292" r:id="rId17"/>
    <p:sldId id="303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" initials="P" lastIdx="3" clrIdx="0">
    <p:extLst>
      <p:ext uri="{19B8F6BF-5375-455C-9EA6-DF929625EA0E}">
        <p15:presenceInfo xmlns:p15="http://schemas.microsoft.com/office/powerpoint/2012/main" userId="Pav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80" d="100"/>
          <a:sy n="80" d="100"/>
        </p:scale>
        <p:origin x="77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3AFBF-CE0F-4FDC-A50F-1E6786B98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F9A4974-D12B-4A2E-9FC5-2376FF034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04E3C9-1AB9-4CAD-9721-6A67E731D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BE009D-33FE-4987-AA70-1977C558C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F81F69-28F3-426E-B47E-ED850496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535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355C58-68B3-457A-AD0F-536560605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B177E9-8A7E-4F97-8895-BD7EBE9B8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A27836-49EC-4BC7-8521-475E5B683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5E70F1-67F1-4E66-86C7-67F652EAC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6F1A38-EE80-49F0-987E-F0F898D6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693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4704AE-A581-4481-AF9F-5065EDA0D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C767F1-6106-41A8-BBA7-2E54357B1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B2C095-5923-44D9-8375-DF543EB8D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849FB6-C7E7-4E98-A248-16B66709B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AD41D5-D56C-4755-95E5-24556AB0D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085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9AF86-1AC8-48F3-B64B-8CB3D0D3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E34B0D-AED3-497B-88E6-4AB94D937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B51B7AC-228E-4A0F-B675-EDEC77026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507ACD-32AF-4641-9931-0CEC5B939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0E5BAD-6829-4D02-8E1C-9904C2A45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FAD800-2FD8-41E0-BFD0-16A66C09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27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D9F620-57CD-438D-B079-979888DB5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4AC821-384A-4127-BA7F-1A4F779F6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D23798-43C8-4184-94F6-69DE603F2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4261B00-4BC6-4ED1-9404-9FC2DDCD41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F6D291-32AE-4D57-8D6F-79ADB64AE6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1938F56-FC47-42DF-A718-380B78D2A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E7828FA-594F-4A3B-9D5E-4BE89B21F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99F32D0-5958-49DC-B086-64DC33070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412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CFD11-5533-431B-BB9C-DC756EC98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BBEC173-B140-4AEF-9B28-59C7527B7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F96C05-F665-4BFF-9CC1-199F264E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49BF359-2EDF-42D8-A1B2-B56FE3F9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76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F493A31-0FB8-4606-921C-A845D807B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6268833-4D33-4938-B6EB-9F793607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8BA733-C82D-4858-8E82-49099BFCE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676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FA6E2F-B152-468F-B133-897EBAA4D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1C32B8-DAFD-4A69-B23C-095DD238D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9B3F6F-E07F-4B7D-97A1-BD23E9AEF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C5B1BA-1FA8-4E45-B34D-2F2FCD71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CED8DC-E5CC-4C5D-9A4D-0C3CD426B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9894B8-E25C-4F99-8298-ABB655D0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189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F0EC8-AF8B-411F-9200-F20764C43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9415AD3-FF13-4346-9ED1-5D69544F4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C68469-7965-4BEB-8216-DEDE633F2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D35D07-A440-4FC8-8FCB-E277721A1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741E10-D840-4B13-B315-3E1A74442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D57768-CF33-4D2C-9A9F-2403D656F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18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8A7A1-B728-424B-ABE6-FBA9C74F4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23F10F-191D-4512-AAAF-C22B1BDA0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94F16C-EB3D-4389-B986-E894A1596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621694-5618-453C-AE98-F6D92EB47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783810-582C-4A3E-94BA-B6D0CCEC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522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F10DC7-0688-4047-AA86-CE7B45578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74FB343-202F-4593-83F4-A4B3FCCE2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B289BA-6EF8-4ED6-961F-1BE53CEE1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F80A3E-28D9-4A30-A795-2867B173F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5E20E1-BD6B-43BC-9EBA-27526D901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639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930E19-BB71-42B8-8024-224453EFD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7E83FB-5891-4B25-B092-0D1A10513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54FF24-2B92-42A7-A673-791231C02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40517-DC0E-4BAD-8F7F-A522B7E4D527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B7697A-BB49-4074-97AB-3CDE90922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AE6088-B204-4951-86B3-C730E86D6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752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78001-CFCF-44AF-8433-C8B589518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750" y="2109721"/>
            <a:ext cx="9239249" cy="1466850"/>
          </a:xfrm>
        </p:spPr>
        <p:txBody>
          <a:bodyPr>
            <a:normAutofit fontScale="90000"/>
          </a:bodyPr>
          <a:lstStyle/>
          <a:p>
            <a:r>
              <a:rPr lang="ru-RU" sz="4800" dirty="0"/>
              <a:t>Лабораторная работа № </a:t>
            </a:r>
            <a:r>
              <a:rPr lang="en-US" sz="4800" dirty="0"/>
              <a:t>7</a:t>
            </a:r>
            <a:br>
              <a:rPr lang="ru-RU" sz="4800" dirty="0"/>
            </a:br>
            <a:r>
              <a:rPr lang="ru-RU" sz="4800" dirty="0"/>
              <a:t>Изучение ассиметричных протоколов и шифров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704093-D235-4F3F-A286-87160F482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57794"/>
            <a:ext cx="9144000" cy="960437"/>
          </a:xfrm>
        </p:spPr>
        <p:txBody>
          <a:bodyPr/>
          <a:lstStyle/>
          <a:p>
            <a:r>
              <a:rPr lang="ru-RU" dirty="0"/>
              <a:t>Санкт-Петербургский государственный электротехнический</a:t>
            </a:r>
          </a:p>
          <a:p>
            <a:r>
              <a:rPr lang="ru-RU" dirty="0"/>
              <a:t>университет «ЛЭТИ» им. В.И. Ульянова (Ленина)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E0D34-0FC3-4E42-8F7E-0F0D642E0F4D}"/>
              </a:ext>
            </a:extLst>
          </p:cNvPr>
          <p:cNvSpPr txBox="1"/>
          <p:nvPr/>
        </p:nvSpPr>
        <p:spPr>
          <a:xfrm>
            <a:off x="2971800" y="605369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Санкт-Петербург 2024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199C7E9C-E7CA-4D8B-9071-7FC1B19A7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817180"/>
              </p:ext>
            </p:extLst>
          </p:nvPr>
        </p:nvGraphicFramePr>
        <p:xfrm>
          <a:off x="2133600" y="4268061"/>
          <a:ext cx="8534399" cy="1394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99">
                  <a:extLst>
                    <a:ext uri="{9D8B030D-6E8A-4147-A177-3AD203B41FA5}">
                      <a16:colId xmlns:a16="http://schemas.microsoft.com/office/drawing/2014/main" val="267774290"/>
                    </a:ext>
                  </a:extLst>
                </a:gridCol>
                <a:gridCol w="2570480">
                  <a:extLst>
                    <a:ext uri="{9D8B030D-6E8A-4147-A177-3AD203B41FA5}">
                      <a16:colId xmlns:a16="http://schemas.microsoft.com/office/drawing/2014/main" val="4293870335"/>
                    </a:ext>
                  </a:extLst>
                </a:gridCol>
                <a:gridCol w="4135120">
                  <a:extLst>
                    <a:ext uri="{9D8B030D-6E8A-4147-A177-3AD203B41FA5}">
                      <a16:colId xmlns:a16="http://schemas.microsoft.com/office/drawing/2014/main" val="873450627"/>
                    </a:ext>
                  </a:extLst>
                </a:gridCol>
              </a:tblGrid>
              <a:tr h="674912">
                <a:tc>
                  <a:txBody>
                    <a:bodyPr/>
                    <a:lstStyle/>
                    <a:p>
                      <a:pPr algn="r"/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Студент: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____________________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Шаврин Алексей Павлович, группа 1304</a:t>
                      </a:r>
                    </a:p>
                    <a:p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76354"/>
                  </a:ext>
                </a:extLst>
              </a:tr>
              <a:tr h="719804">
                <a:tc>
                  <a:txBody>
                    <a:bodyPr/>
                    <a:lstStyle/>
                    <a:p>
                      <a:pPr algn="r"/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Руководитель: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____________________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Племянников А.К., доцент каф. ИБ</a:t>
                      </a:r>
                    </a:p>
                    <a:p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478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067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45F232-97FE-483C-850C-C83DA0484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FD1A0A-E71E-4AFA-B0B1-63C671E52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b="1" dirty="0"/>
              <a:t>Цель: </a:t>
            </a:r>
            <a:r>
              <a:rPr lang="ru-RU" dirty="0"/>
              <a:t>Повышение своей компетенции при работе с </a:t>
            </a:r>
            <a:r>
              <a:rPr lang="ru-RU" dirty="0" err="1"/>
              <a:t>ассмиетричными</a:t>
            </a:r>
            <a:r>
              <a:rPr lang="ru-RU" dirty="0"/>
              <a:t> протоколами и шифами</a:t>
            </a:r>
            <a:r>
              <a:rPr lang="en-US" dirty="0"/>
              <a:t>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/>
              <a:t>Задачи: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Изучить протокол согласования ключей по шаблонной схеме</a:t>
            </a:r>
            <a:r>
              <a:rPr lang="ru-RU" b="1" dirty="0"/>
              <a:t> </a:t>
            </a:r>
            <a:r>
              <a:rPr lang="ru-RU" dirty="0" err="1"/>
              <a:t>Diffie-Hellman</a:t>
            </a:r>
            <a:r>
              <a:rPr lang="ru-RU" dirty="0"/>
              <a:t> Key Exchange из </a:t>
            </a:r>
            <a:r>
              <a:rPr lang="ru-RU" dirty="0" err="1"/>
              <a:t>CrypTool</a:t>
            </a:r>
            <a:r>
              <a:rPr lang="ru-RU" dirty="0"/>
              <a:t> 2.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effectLst/>
              </a:rPr>
              <a:t>Изучить алгоритм  асимметричного шифрования </a:t>
            </a:r>
            <a:r>
              <a:rPr lang="en-US" dirty="0">
                <a:effectLst/>
              </a:rPr>
              <a:t>RSA  </a:t>
            </a:r>
            <a:r>
              <a:rPr lang="ru-RU" dirty="0">
                <a:effectLst/>
              </a:rPr>
              <a:t>по шаблонной схеме</a:t>
            </a:r>
            <a:r>
              <a:rPr lang="ru-RU" b="1" dirty="0">
                <a:effectLst/>
              </a:rPr>
              <a:t> </a:t>
            </a:r>
            <a:r>
              <a:rPr lang="en-US" dirty="0">
                <a:effectLst/>
              </a:rPr>
              <a:t>RSA Encryption  </a:t>
            </a:r>
            <a:r>
              <a:rPr lang="ru-RU" dirty="0">
                <a:effectLst/>
              </a:rPr>
              <a:t>из </a:t>
            </a:r>
            <a:r>
              <a:rPr lang="en-US" dirty="0" err="1">
                <a:effectLst/>
              </a:rPr>
              <a:t>CrypTool</a:t>
            </a:r>
            <a:r>
              <a:rPr lang="en-US" dirty="0">
                <a:effectLst/>
              </a:rPr>
              <a:t> 2</a:t>
            </a:r>
            <a:r>
              <a:rPr lang="ru-RU" dirty="0">
                <a:effectLst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effectLst/>
              </a:rPr>
              <a:t>Изучить протокол асимметричного шифрования RSA  по шаблонной схеме</a:t>
            </a:r>
            <a:r>
              <a:rPr lang="ru-RU" b="1" dirty="0">
                <a:effectLst/>
              </a:rPr>
              <a:t> </a:t>
            </a:r>
            <a:r>
              <a:rPr lang="ru-RU" dirty="0">
                <a:effectLst/>
              </a:rPr>
              <a:t>RSA </a:t>
            </a:r>
            <a:r>
              <a:rPr lang="ru-RU" dirty="0" err="1">
                <a:effectLst/>
              </a:rPr>
              <a:t>Cipher</a:t>
            </a:r>
            <a:r>
              <a:rPr lang="ru-RU" dirty="0">
                <a:effectLst/>
              </a:rPr>
              <a:t> из </a:t>
            </a:r>
            <a:r>
              <a:rPr lang="ru-RU" dirty="0" err="1">
                <a:effectLst/>
              </a:rPr>
              <a:t>CrypTool</a:t>
            </a:r>
            <a:r>
              <a:rPr lang="ru-RU" dirty="0">
                <a:effectLst/>
              </a:rPr>
              <a:t> 2. 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effectLst/>
              </a:rPr>
              <a:t>Выполнить атаку  на  шифр </a:t>
            </a:r>
            <a:r>
              <a:rPr lang="ru-RU" b="1" dirty="0">
                <a:effectLst/>
              </a:rPr>
              <a:t> </a:t>
            </a:r>
            <a:r>
              <a:rPr lang="ru-RU" dirty="0">
                <a:effectLst/>
              </a:rPr>
              <a:t>RSA  факторизацией модуля, используя </a:t>
            </a:r>
            <a:r>
              <a:rPr lang="ru-RU" dirty="0" err="1">
                <a:effectLst/>
              </a:rPr>
              <a:t>CrypTool</a:t>
            </a:r>
            <a:r>
              <a:rPr lang="ru-RU" dirty="0">
                <a:effectLst/>
              </a:rPr>
              <a:t> 1.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Изучить и выполнить имитацию атаки на гибридный протокол  шифрования , используя</a:t>
            </a:r>
            <a:r>
              <a:rPr lang="ru-RU" b="1" dirty="0"/>
              <a:t> </a:t>
            </a:r>
            <a:r>
              <a:rPr lang="ru-RU" dirty="0" err="1"/>
              <a:t>CrypTool</a:t>
            </a:r>
            <a:r>
              <a:rPr lang="ru-RU" dirty="0"/>
              <a:t> 1.</a:t>
            </a:r>
          </a:p>
        </p:txBody>
      </p:sp>
    </p:spTree>
    <p:extLst>
      <p:ext uri="{BB962C8B-B14F-4D97-AF65-F5344CB8AC3E}">
        <p14:creationId xmlns:p14="http://schemas.microsoft.com/office/powerpoint/2010/main" val="316678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2766218"/>
            <a:ext cx="9915525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Изучение протокола согласования ключей по шаблонной схеме</a:t>
            </a:r>
            <a:r>
              <a:rPr lang="ru-RU" b="1" dirty="0"/>
              <a:t> </a:t>
            </a:r>
            <a:r>
              <a:rPr lang="ru-RU" dirty="0" err="1"/>
              <a:t>Diffie-Hellman</a:t>
            </a:r>
            <a:r>
              <a:rPr lang="ru-RU" dirty="0"/>
              <a:t> Key Exchange из </a:t>
            </a:r>
            <a:r>
              <a:rPr lang="ru-RU" dirty="0" err="1"/>
              <a:t>CrypTool</a:t>
            </a:r>
            <a:r>
              <a:rPr lang="ru-RU" dirty="0"/>
              <a:t> 2.</a:t>
            </a:r>
          </a:p>
        </p:txBody>
      </p:sp>
    </p:spTree>
    <p:extLst>
      <p:ext uri="{BB962C8B-B14F-4D97-AF65-F5344CB8AC3E}">
        <p14:creationId xmlns:p14="http://schemas.microsoft.com/office/powerpoint/2010/main" val="685835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382356-402D-45E3-8277-7ADE737A0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Шаблонная схема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82A617-461E-4171-A6B8-3C39920EE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133" y="1447388"/>
            <a:ext cx="7277733" cy="504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435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5BAEFC-2BE4-4F47-ADA0-98972E57A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3A75AC-FDB0-4D10-ACD7-6D8C9125E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87" y="519112"/>
            <a:ext cx="4010025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035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2766218"/>
            <a:ext cx="9915525" cy="1325563"/>
          </a:xfrm>
        </p:spPr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Изучение алгоритма асимметричного шифрования </a:t>
            </a:r>
            <a:r>
              <a:rPr lang="en-US" dirty="0">
                <a:effectLst/>
              </a:rPr>
              <a:t>RSA  </a:t>
            </a:r>
            <a:r>
              <a:rPr lang="ru-RU" dirty="0">
                <a:effectLst/>
              </a:rPr>
              <a:t>по шаблонной схеме</a:t>
            </a:r>
            <a:r>
              <a:rPr lang="ru-RU" b="1" dirty="0">
                <a:effectLst/>
              </a:rPr>
              <a:t> </a:t>
            </a:r>
            <a:r>
              <a:rPr lang="en-US" dirty="0">
                <a:effectLst/>
              </a:rPr>
              <a:t>RSA Encryption  </a:t>
            </a:r>
            <a:r>
              <a:rPr lang="ru-RU" dirty="0">
                <a:effectLst/>
              </a:rPr>
              <a:t>из </a:t>
            </a:r>
            <a:r>
              <a:rPr lang="en-US" dirty="0" err="1">
                <a:effectLst/>
              </a:rPr>
              <a:t>CrypTool</a:t>
            </a:r>
            <a:r>
              <a:rPr lang="en-US" dirty="0">
                <a:effectLst/>
              </a:rPr>
              <a:t> 2</a:t>
            </a:r>
            <a:r>
              <a:rPr lang="ru-RU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0261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72A21-9C76-4E3E-AC82-251AFC5C3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Шаблонная схема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2D2328-8A90-46AD-9552-059D9225D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28" y="1857375"/>
            <a:ext cx="9848944" cy="427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457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72A21-9C76-4E3E-AC82-251AFC5C3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атаки коротким сообщением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D4F174-07D4-4EF7-B270-492C0BBBF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91" y="1505158"/>
            <a:ext cx="10608217" cy="487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579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2766218"/>
            <a:ext cx="9915525" cy="1325563"/>
          </a:xfrm>
        </p:spPr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Изучение протокола асимметричного шифрования RSA  по шаблонной схеме</a:t>
            </a:r>
            <a:r>
              <a:rPr lang="ru-RU" b="1" dirty="0">
                <a:effectLst/>
              </a:rPr>
              <a:t> </a:t>
            </a:r>
            <a:r>
              <a:rPr lang="ru-RU" dirty="0">
                <a:effectLst/>
              </a:rPr>
              <a:t>RSA </a:t>
            </a:r>
            <a:r>
              <a:rPr lang="ru-RU" dirty="0" err="1">
                <a:effectLst/>
              </a:rPr>
              <a:t>Cipher</a:t>
            </a:r>
            <a:r>
              <a:rPr lang="ru-RU" dirty="0">
                <a:effectLst/>
              </a:rPr>
              <a:t> из </a:t>
            </a:r>
            <a:r>
              <a:rPr lang="ru-RU" dirty="0" err="1">
                <a:effectLst/>
              </a:rPr>
              <a:t>CrypTool</a:t>
            </a:r>
            <a:r>
              <a:rPr lang="ru-RU" dirty="0">
                <a:effectLst/>
              </a:rPr>
              <a:t> 2. </a:t>
            </a:r>
          </a:p>
        </p:txBody>
      </p:sp>
    </p:spTree>
    <p:extLst>
      <p:ext uri="{BB962C8B-B14F-4D97-AF65-F5344CB8AC3E}">
        <p14:creationId xmlns:p14="http://schemas.microsoft.com/office/powerpoint/2010/main" val="4112717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C0AF78-50C7-4479-901B-933A8DF6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Шаблонная схема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6B485B-BD45-4C0B-9F07-7CB220112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385" y="1690688"/>
            <a:ext cx="9699229" cy="466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39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127EF7-46EB-471E-A36A-33667B422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5" y="936625"/>
            <a:ext cx="5191125" cy="1325563"/>
          </a:xfrm>
        </p:spPr>
        <p:txBody>
          <a:bodyPr/>
          <a:lstStyle/>
          <a:p>
            <a:r>
              <a:rPr lang="ru-RU" dirty="0"/>
              <a:t>Схема атаки посредником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48B028-7F90-4454-8160-EE4DF8216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04" y="3133725"/>
            <a:ext cx="9153054" cy="3429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E68391B-FF12-4A45-830F-06ACBFD411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362" y="20019"/>
            <a:ext cx="6053138" cy="311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29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2766218"/>
            <a:ext cx="9915525" cy="1325563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Атака на шифр RSA факторизацией модуля, используя </a:t>
            </a:r>
            <a:r>
              <a:rPr lang="ru-RU" dirty="0" err="1">
                <a:effectLst/>
              </a:rPr>
              <a:t>CrypTool</a:t>
            </a:r>
            <a:r>
              <a:rPr lang="ru-RU" dirty="0">
                <a:effectLst/>
              </a:rPr>
              <a:t> 1.</a:t>
            </a:r>
          </a:p>
        </p:txBody>
      </p:sp>
    </p:spTree>
    <p:extLst>
      <p:ext uri="{BB962C8B-B14F-4D97-AF65-F5344CB8AC3E}">
        <p14:creationId xmlns:p14="http://schemas.microsoft.com/office/powerpoint/2010/main" val="2256983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42D04-39DE-49E6-BAAC-DB47DD12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Атака на шифр RSA факторизацией модуля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C29C8E-1057-4E71-9FCE-C1580EE63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35" y="1328738"/>
            <a:ext cx="4185518" cy="48482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88C75E4-0A92-40D0-9E33-01027950E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812" y="1328738"/>
            <a:ext cx="4280949" cy="498157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BD6DFDD-498C-4494-9713-BD2D83A379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328" y="1328738"/>
            <a:ext cx="3585484" cy="370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68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6" y="2766218"/>
            <a:ext cx="10172700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Изучение имитации атаки на гибридный протокол  шифрования , используя</a:t>
            </a:r>
            <a:r>
              <a:rPr lang="ru-RU" b="1" dirty="0"/>
              <a:t> </a:t>
            </a:r>
            <a:r>
              <a:rPr lang="ru-RU" dirty="0" err="1"/>
              <a:t>CrypTool</a:t>
            </a:r>
            <a:r>
              <a:rPr lang="ru-RU" dirty="0"/>
              <a:t> 1.</a:t>
            </a:r>
          </a:p>
        </p:txBody>
      </p:sp>
    </p:spTree>
    <p:extLst>
      <p:ext uri="{BB962C8B-B14F-4D97-AF65-F5344CB8AC3E}">
        <p14:creationId xmlns:p14="http://schemas.microsoft.com/office/powerpoint/2010/main" val="2440801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64A8E2-5DE6-4DC5-B696-1EB3C7448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Атака на гибридный протокол  шифрования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C33D110-A04F-469A-A332-43F356DB2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80" y="1438275"/>
            <a:ext cx="5122147" cy="491399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625450D-D9B7-48AD-96ED-41E7D73ACE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00"/>
          <a:stretch/>
        </p:blipFill>
        <p:spPr>
          <a:xfrm>
            <a:off x="6651974" y="1343025"/>
            <a:ext cx="4177043" cy="392347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5EF66CD-320B-4E06-9569-17AF5D0AF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740" y="4328699"/>
            <a:ext cx="5345060" cy="237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375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17CDF10-2111-4846-B65F-3C9C513A4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44" y="1429543"/>
            <a:ext cx="11370311" cy="4961732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>
                <a:effectLst/>
                <a:latin typeface="Arial" panose="020B0604020202020204" pitchFamily="34" charset="0"/>
              </a:rPr>
              <a:t>В ходе работы было выполнено: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</a:rPr>
              <a:t>Изучен протокол согласования ключей по шаблонной схеме </a:t>
            </a:r>
            <a:r>
              <a:rPr lang="ru-RU" dirty="0" err="1">
                <a:latin typeface="Arial" panose="020B0604020202020204" pitchFamily="34" charset="0"/>
              </a:rPr>
              <a:t>Diffie-Hellman</a:t>
            </a:r>
            <a:r>
              <a:rPr lang="ru-RU" dirty="0">
                <a:latin typeface="Arial" panose="020B0604020202020204" pitchFamily="34" charset="0"/>
              </a:rPr>
              <a:t> Key Exchange, который был модифицирован для преобразования полученного ключевого материала в симметричный ключ длиной 256 бит. Рассмотрена атака посредником в случае нарушения протокола путем создания схемы атаки.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</a:rPr>
              <a:t>Изучен алгоритм  асимметричного шифрования </a:t>
            </a:r>
            <a:r>
              <a:rPr lang="en-US" dirty="0">
                <a:latin typeface="Arial" panose="020B0604020202020204" pitchFamily="34" charset="0"/>
              </a:rPr>
              <a:t>RSA  </a:t>
            </a:r>
            <a:r>
              <a:rPr lang="ru-RU" dirty="0">
                <a:latin typeface="Arial" panose="020B0604020202020204" pitchFamily="34" charset="0"/>
              </a:rPr>
              <a:t>по шаблонной схеме </a:t>
            </a:r>
            <a:r>
              <a:rPr lang="en-US" dirty="0">
                <a:latin typeface="Arial" panose="020B0604020202020204" pitchFamily="34" charset="0"/>
              </a:rPr>
              <a:t>RSA Encryption</a:t>
            </a:r>
            <a:r>
              <a:rPr lang="ru-RU" dirty="0">
                <a:latin typeface="Arial" panose="020B0604020202020204" pitchFamily="34" charset="0"/>
              </a:rPr>
              <a:t> рассмотрена атака коротким сообщением путем создания схемы атаки.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</a:rPr>
              <a:t>Изучен протокол асимметричного шифрования RSA  по шаблонной схеме RSA </a:t>
            </a:r>
            <a:r>
              <a:rPr lang="ru-RU" dirty="0" err="1">
                <a:latin typeface="Arial" panose="020B0604020202020204" pitchFamily="34" charset="0"/>
              </a:rPr>
              <a:t>Cipher</a:t>
            </a:r>
            <a:r>
              <a:rPr lang="ru-RU" dirty="0">
                <a:latin typeface="Arial" panose="020B0604020202020204" pitchFamily="34" charset="0"/>
              </a:rPr>
              <a:t>, который был модифицирован для зашифрования и расшифрования симметричного ключа размером 128 бит. Рассмотрена атака «посредником» путем создания схемы атаки.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</a:rPr>
              <a:t>Выполнена атака на шифр RSA факторизацией модуля.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</a:rPr>
              <a:t>Изучены и выполнена имитация атаки на гибридный протокол шифрования.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>
                <a:effectLst/>
                <a:latin typeface="Arial" panose="020B0604020202020204" pitchFamily="34" charset="0"/>
              </a:rPr>
              <a:t>Получены практические навыки работы с ассиметричными шифрами, протоколами и атаками на них, в том числе с использованием приложения </a:t>
            </a:r>
            <a:r>
              <a:rPr lang="ru-RU" dirty="0" err="1">
                <a:effectLst/>
                <a:latin typeface="Arial" panose="020B0604020202020204" pitchFamily="34" charset="0"/>
              </a:rPr>
              <a:t>CrypTool</a:t>
            </a:r>
            <a:r>
              <a:rPr lang="ru-RU" dirty="0">
                <a:effectLst/>
                <a:latin typeface="Arial" panose="020B0604020202020204" pitchFamily="34" charset="0"/>
              </a:rPr>
              <a:t> 1 и 2.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AC7E2FB-D405-4079-A8EB-D55AD4341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769" y="304800"/>
            <a:ext cx="5986462" cy="80089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Заключение по работе.</a:t>
            </a:r>
          </a:p>
        </p:txBody>
      </p:sp>
    </p:spTree>
    <p:extLst>
      <p:ext uri="{BB962C8B-B14F-4D97-AF65-F5344CB8AC3E}">
        <p14:creationId xmlns:p14="http://schemas.microsoft.com/office/powerpoint/2010/main" val="3643814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0F9ECA-BC1A-4C77-B033-4F50EB4C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6825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  <a:br>
              <a:rPr lang="ru-RU" dirty="0"/>
            </a:br>
            <a:r>
              <a:rPr lang="ru-RU" dirty="0"/>
              <a:t>Готов ответить на Ваши вопросы.</a:t>
            </a:r>
          </a:p>
        </p:txBody>
      </p:sp>
    </p:spTree>
    <p:extLst>
      <p:ext uri="{BB962C8B-B14F-4D97-AF65-F5344CB8AC3E}">
        <p14:creationId xmlns:p14="http://schemas.microsoft.com/office/powerpoint/2010/main" val="34704655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3768</TotalTime>
  <Words>381</Words>
  <Application>Microsoft Office PowerPoint</Application>
  <PresentationFormat>Широкоэкранный</PresentationFormat>
  <Paragraphs>40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Тема Office</vt:lpstr>
      <vt:lpstr>Лабораторная работа № 7 Изучение ассиметричных протоколов и шифров</vt:lpstr>
      <vt:lpstr>Цель работы.</vt:lpstr>
      <vt:lpstr>Изучение протокола согласования ключей по шаблонной схеме Diffie-Hellman Key Exchange из CrypTool 2.</vt:lpstr>
      <vt:lpstr>Шаблонная схема</vt:lpstr>
      <vt:lpstr>Схема</vt:lpstr>
      <vt:lpstr>Изучение алгоритма асимметричного шифрования RSA  по шаблонной схеме RSA Encryption  из CrypTool 2.</vt:lpstr>
      <vt:lpstr>Шаблонная схема</vt:lpstr>
      <vt:lpstr>Схема атаки коротким сообщением</vt:lpstr>
      <vt:lpstr>Изучение протокола асимметричного шифрования RSA  по шаблонной схеме RSA Cipher из CrypTool 2. </vt:lpstr>
      <vt:lpstr>Шаблонная схема</vt:lpstr>
      <vt:lpstr>Схема атаки посредником</vt:lpstr>
      <vt:lpstr>Атака на шифр RSA факторизацией модуля, используя CrypTool 1.</vt:lpstr>
      <vt:lpstr>Атака на шифр RSA факторизацией модуля</vt:lpstr>
      <vt:lpstr>Изучение имитации атаки на гибридный протокол  шифрования , используя CrypTool 1.</vt:lpstr>
      <vt:lpstr>Атака на гибридный протокол  шифрования</vt:lpstr>
      <vt:lpstr>Заключение по работе.</vt:lpstr>
      <vt:lpstr>Спасибо за внимание! Готов ответить на Ваши вопросы.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 1 Изучение классических шифров</dc:title>
  <dc:creator>Pavel</dc:creator>
  <cp:lastModifiedBy>Pavel</cp:lastModifiedBy>
  <cp:revision>186</cp:revision>
  <dcterms:created xsi:type="dcterms:W3CDTF">2024-09-10T08:56:48Z</dcterms:created>
  <dcterms:modified xsi:type="dcterms:W3CDTF">2024-11-30T19:03:57Z</dcterms:modified>
</cp:coreProperties>
</file>