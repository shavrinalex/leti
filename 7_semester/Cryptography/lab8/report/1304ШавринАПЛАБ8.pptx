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4" r:id="rId4"/>
    <p:sldId id="305" r:id="rId5"/>
    <p:sldId id="310" r:id="rId6"/>
    <p:sldId id="311" r:id="rId7"/>
    <p:sldId id="312" r:id="rId8"/>
    <p:sldId id="306" r:id="rId9"/>
    <p:sldId id="313" r:id="rId10"/>
    <p:sldId id="314" r:id="rId11"/>
    <p:sldId id="315" r:id="rId12"/>
    <p:sldId id="316" r:id="rId13"/>
    <p:sldId id="307" r:id="rId14"/>
    <p:sldId id="317" r:id="rId15"/>
    <p:sldId id="318" r:id="rId16"/>
    <p:sldId id="319" r:id="rId17"/>
    <p:sldId id="320" r:id="rId18"/>
    <p:sldId id="321" r:id="rId19"/>
    <p:sldId id="327" r:id="rId20"/>
    <p:sldId id="328" r:id="rId21"/>
    <p:sldId id="329" r:id="rId22"/>
    <p:sldId id="308" r:id="rId23"/>
    <p:sldId id="322" r:id="rId24"/>
    <p:sldId id="323" r:id="rId25"/>
    <p:sldId id="309" r:id="rId26"/>
    <p:sldId id="324" r:id="rId27"/>
    <p:sldId id="325" r:id="rId28"/>
    <p:sldId id="326" r:id="rId29"/>
    <p:sldId id="292" r:id="rId30"/>
    <p:sldId id="303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" initials="P" lastIdx="3" clrIdx="0">
    <p:extLst>
      <p:ext uri="{19B8F6BF-5375-455C-9EA6-DF929625EA0E}">
        <p15:presenceInfo xmlns:p15="http://schemas.microsoft.com/office/powerpoint/2012/main" userId="Pav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60" d="100"/>
          <a:sy n="60" d="100"/>
        </p:scale>
        <p:origin x="7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3AFBF-CE0F-4FDC-A50F-1E6786B98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9A4974-D12B-4A2E-9FC5-2376FF034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4E3C9-1AB9-4CAD-9721-6A67E731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BE009D-33FE-4987-AA70-1977C558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81F69-28F3-426E-B47E-ED850496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53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55C58-68B3-457A-AD0F-53656060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B177E9-8A7E-4F97-8895-BD7EBE9B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A27836-49EC-4BC7-8521-475E5B68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E70F1-67F1-4E66-86C7-67F652EA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F1A38-EE80-49F0-987E-F0F898D6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69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704AE-A581-4481-AF9F-5065EDA0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C767F1-6106-41A8-BBA7-2E54357B1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B2C095-5923-44D9-8375-DF543EB8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49FB6-C7E7-4E98-A248-16B6670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AD41D5-D56C-4755-95E5-24556AB0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08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9AF86-1AC8-48F3-B64B-8CB3D0D3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34B0D-AED3-497B-88E6-4AB94D937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51B7AC-228E-4A0F-B675-EDEC77026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507ACD-32AF-4641-9931-0CEC5B93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0E5BAD-6829-4D02-8E1C-9904C2A4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AD800-2FD8-41E0-BFD0-16A66C09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2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9F620-57CD-438D-B079-979888DB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4AC821-384A-4127-BA7F-1A4F779F6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D23798-43C8-4184-94F6-69DE603F2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261B00-4BC6-4ED1-9404-9FC2DDCD4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F6D291-32AE-4D57-8D6F-79ADB64AE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938F56-FC47-42DF-A718-380B78D2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7828FA-594F-4A3B-9D5E-4BE89B21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9F32D0-5958-49DC-B086-64DC3307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41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CFD11-5533-431B-BB9C-DC756EC9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BEC173-B140-4AEF-9B28-59C7527B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F96C05-F665-4BFF-9CC1-199F264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9BF359-2EDF-42D8-A1B2-B56FE3F9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76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493A31-0FB8-4606-921C-A845D807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268833-4D33-4938-B6EB-9F793607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BA733-C82D-4858-8E82-49099BFC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67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A6E2F-B152-468F-B133-897EBAA4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C32B8-DAFD-4A69-B23C-095DD238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9B3F6F-E07F-4B7D-97A1-BD23E9AEF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C5B1BA-1FA8-4E45-B34D-2F2FCD71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CED8DC-E5CC-4C5D-9A4D-0C3CD426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9894B8-E25C-4F99-8298-ABB655D0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8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F0EC8-AF8B-411F-9200-F20764C4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415AD3-FF13-4346-9ED1-5D69544F4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C68469-7965-4BEB-8216-DEDE633F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D35D07-A440-4FC8-8FCB-E277721A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741E10-D840-4B13-B315-3E1A7444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D57768-CF33-4D2C-9A9F-2403D656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18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8A7A1-B728-424B-ABE6-FBA9C74F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23F10F-191D-4512-AAAF-C22B1BDA0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94F16C-EB3D-4389-B986-E894A159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21694-5618-453C-AE98-F6D92EB4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83810-582C-4A3E-94BA-B6D0CCEC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52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F10DC7-0688-4047-AA86-CE7B45578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4FB343-202F-4593-83F4-A4B3FCCE2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289BA-6EF8-4ED6-961F-1BE53CEE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80A3E-28D9-4A30-A795-2867B173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5E20E1-BD6B-43BC-9EBA-27526D90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63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30E19-BB71-42B8-8024-224453EF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7E83FB-5891-4B25-B092-0D1A10513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4FF24-2B92-42A7-A673-791231C02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40517-DC0E-4BAD-8F7F-A522B7E4D527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B7697A-BB49-4074-97AB-3CDE90922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E6088-B204-4951-86B3-C730E86D6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75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78001-CFCF-44AF-8433-C8B589518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0" y="2109721"/>
            <a:ext cx="9239249" cy="1466850"/>
          </a:xfrm>
        </p:spPr>
        <p:txBody>
          <a:bodyPr>
            <a:normAutofit fontScale="90000"/>
          </a:bodyPr>
          <a:lstStyle/>
          <a:p>
            <a:r>
              <a:rPr lang="ru-RU" sz="4800" dirty="0"/>
              <a:t>Лабораторная работа № 8</a:t>
            </a:r>
            <a:br>
              <a:rPr lang="ru-RU" sz="4800" dirty="0"/>
            </a:br>
            <a:r>
              <a:rPr lang="ru-RU" sz="4800" dirty="0"/>
              <a:t>ИЗУЧЕНИЕ ЭЛЕКТРОННОЙ ПОДПИСИ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704093-D235-4F3F-A286-87160F482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7794"/>
            <a:ext cx="9144000" cy="960437"/>
          </a:xfrm>
        </p:spPr>
        <p:txBody>
          <a:bodyPr/>
          <a:lstStyle/>
          <a:p>
            <a:r>
              <a:rPr lang="ru-RU" dirty="0"/>
              <a:t>Санкт-Петербургский государственный электротехнический</a:t>
            </a:r>
          </a:p>
          <a:p>
            <a:r>
              <a:rPr lang="ru-RU" dirty="0"/>
              <a:t>университет «ЛЭТИ» им. В.И. Ульянова (Ленина)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E0D34-0FC3-4E42-8F7E-0F0D642E0F4D}"/>
              </a:ext>
            </a:extLst>
          </p:cNvPr>
          <p:cNvSpPr txBox="1"/>
          <p:nvPr/>
        </p:nvSpPr>
        <p:spPr>
          <a:xfrm>
            <a:off x="2971800" y="60536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Санкт-Петербург 2024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99C7E9C-E7CA-4D8B-9071-7FC1B19A7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17180"/>
              </p:ext>
            </p:extLst>
          </p:nvPr>
        </p:nvGraphicFramePr>
        <p:xfrm>
          <a:off x="2133600" y="4268061"/>
          <a:ext cx="8534399" cy="139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267774290"/>
                    </a:ext>
                  </a:extLst>
                </a:gridCol>
                <a:gridCol w="2570480">
                  <a:extLst>
                    <a:ext uri="{9D8B030D-6E8A-4147-A177-3AD203B41FA5}">
                      <a16:colId xmlns:a16="http://schemas.microsoft.com/office/drawing/2014/main" val="4293870335"/>
                    </a:ext>
                  </a:extLst>
                </a:gridCol>
                <a:gridCol w="4135120">
                  <a:extLst>
                    <a:ext uri="{9D8B030D-6E8A-4147-A177-3AD203B41FA5}">
                      <a16:colId xmlns:a16="http://schemas.microsoft.com/office/drawing/2014/main" val="873450627"/>
                    </a:ext>
                  </a:extLst>
                </a:gridCol>
              </a:tblGrid>
              <a:tr h="674912">
                <a:tc>
                  <a:txBody>
                    <a:bodyPr/>
                    <a:lstStyle/>
                    <a:p>
                      <a:pPr algn="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Студент: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____________________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Шаврин Алексей Павлович, группа 1304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76354"/>
                  </a:ext>
                </a:extLst>
              </a:tr>
              <a:tr h="719804">
                <a:tc>
                  <a:txBody>
                    <a:bodyPr/>
                    <a:lstStyle/>
                    <a:p>
                      <a:pPr algn="r"/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Руководитель: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____________________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Племянников А.К., доцент каф. ИБ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78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06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5F232-97FE-483C-850C-C83DA048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D1A0A-E71E-4AFA-B0B1-63C671E52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Цель: </a:t>
            </a:r>
            <a:r>
              <a:rPr lang="ru-RU" dirty="0"/>
              <a:t>Повышение своей компетенции при работе с алгоритмами создания и проверки электронной подписи</a:t>
            </a:r>
            <a:r>
              <a:rPr lang="en-US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Задачи: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Изучить генерацию ключевых пар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Изучить процессы создания и проверки электронной подписи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Изучить создание и проверку электронной подписи на основе эллиптических кривых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Продемонстрировать процесс подписи в среде PKI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Подписать свой отчет</a:t>
            </a:r>
          </a:p>
        </p:txBody>
      </p:sp>
    </p:spTree>
    <p:extLst>
      <p:ext uri="{BB962C8B-B14F-4D97-AF65-F5344CB8AC3E}">
        <p14:creationId xmlns:p14="http://schemas.microsoft.com/office/powerpoint/2010/main" val="316678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2EA85-8F23-42B9-83DD-9F6701DF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Генерация ключевых пар</a:t>
            </a:r>
          </a:p>
        </p:txBody>
      </p:sp>
    </p:spTree>
    <p:extLst>
      <p:ext uri="{BB962C8B-B14F-4D97-AF65-F5344CB8AC3E}">
        <p14:creationId xmlns:p14="http://schemas.microsoft.com/office/powerpoint/2010/main" val="369696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94B4D-4EB4-463C-A2B3-77528118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DBFB80-C3A8-4480-B792-A2FDF040B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332" y="1027906"/>
            <a:ext cx="4191585" cy="22196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F09406-4D36-4394-BE4F-6BABC59D6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858" y="3247541"/>
            <a:ext cx="5620534" cy="3305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0C4D3E-C1EB-480E-B575-4F932E61A5D3}"/>
              </a:ext>
            </a:extLst>
          </p:cNvPr>
          <p:cNvSpPr txBox="1"/>
          <p:nvPr/>
        </p:nvSpPr>
        <p:spPr>
          <a:xfrm>
            <a:off x="633571" y="1690688"/>
            <a:ext cx="397422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Выбор простых </a:t>
            </a:r>
            <a:r>
              <a:rPr lang="en-US" dirty="0"/>
              <a:t>p </a:t>
            </a:r>
            <a:r>
              <a:rPr lang="ru-RU" dirty="0"/>
              <a:t>и </a:t>
            </a:r>
            <a:r>
              <a:rPr lang="en-US" dirty="0"/>
              <a:t>q</a:t>
            </a:r>
          </a:p>
          <a:p>
            <a:pPr marL="342900" indent="-342900">
              <a:buAutoNum type="arabicParenR"/>
            </a:pPr>
            <a:r>
              <a:rPr lang="ru-RU" dirty="0"/>
              <a:t>Вычисление </a:t>
            </a:r>
            <a:r>
              <a:rPr lang="en-US" dirty="0"/>
              <a:t>n = p*q</a:t>
            </a:r>
          </a:p>
          <a:p>
            <a:pPr marL="342900" indent="-342900">
              <a:buAutoNum type="arabicParenR"/>
            </a:pPr>
            <a:r>
              <a:rPr lang="ru-RU" dirty="0"/>
              <a:t>Вычисление </a:t>
            </a:r>
            <a:r>
              <a:rPr lang="en-US" dirty="0"/>
              <a:t>e (e&lt;n), </a:t>
            </a:r>
            <a:r>
              <a:rPr lang="ru-RU" dirty="0"/>
              <a:t>взаимно </a:t>
            </a:r>
            <a:endParaRPr lang="en-US" dirty="0"/>
          </a:p>
          <a:p>
            <a:r>
              <a:rPr lang="ru-RU" dirty="0"/>
              <a:t>простое с </a:t>
            </a:r>
            <a:r>
              <a:rPr lang="en-US" dirty="0"/>
              <a:t>fi(n) = (p-1) * (q-1)</a:t>
            </a:r>
          </a:p>
          <a:p>
            <a:r>
              <a:rPr lang="en-US" dirty="0"/>
              <a:t>4) </a:t>
            </a:r>
            <a:r>
              <a:rPr lang="ru-RU" dirty="0"/>
              <a:t>Вычисление </a:t>
            </a:r>
            <a:r>
              <a:rPr lang="en-US" dirty="0"/>
              <a:t>d, </a:t>
            </a:r>
            <a:r>
              <a:rPr lang="ru-RU" dirty="0"/>
              <a:t>т.ч. </a:t>
            </a:r>
            <a:r>
              <a:rPr lang="en-US" dirty="0"/>
              <a:t>e*d = 1 mod(fi(n))</a:t>
            </a:r>
          </a:p>
          <a:p>
            <a:r>
              <a:rPr lang="en-US" dirty="0"/>
              <a:t>5) (e, n) – </a:t>
            </a:r>
            <a:r>
              <a:rPr lang="ru-RU" dirty="0"/>
              <a:t>открытый ключ</a:t>
            </a:r>
          </a:p>
          <a:p>
            <a:r>
              <a:rPr lang="en-US" dirty="0"/>
              <a:t>d – </a:t>
            </a:r>
            <a:r>
              <a:rPr lang="ru-RU" dirty="0"/>
              <a:t>закрытый ключ</a:t>
            </a:r>
          </a:p>
        </p:txBody>
      </p:sp>
    </p:spTree>
    <p:extLst>
      <p:ext uri="{BB962C8B-B14F-4D97-AF65-F5344CB8AC3E}">
        <p14:creationId xmlns:p14="http://schemas.microsoft.com/office/powerpoint/2010/main" val="235823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94B4D-4EB4-463C-A2B3-77528118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DSA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FBA373-6462-4D79-A9D4-5C0B39640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5263"/>
            <a:ext cx="4201111" cy="22386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203CCA-554E-4555-BF3A-8065FD1D5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36" y="2433950"/>
            <a:ext cx="6649378" cy="42677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84F71E-61BD-4DF0-ADF9-40F6AE097DC4}"/>
              </a:ext>
            </a:extLst>
          </p:cNvPr>
          <p:cNvSpPr txBox="1"/>
          <p:nvPr/>
        </p:nvSpPr>
        <p:spPr>
          <a:xfrm>
            <a:off x="371475" y="1491218"/>
            <a:ext cx="43816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Выбор</a:t>
            </a:r>
            <a:r>
              <a:rPr lang="en-US" dirty="0"/>
              <a:t> p </a:t>
            </a:r>
            <a:r>
              <a:rPr lang="ru-RU" dirty="0"/>
              <a:t>т.ч </a:t>
            </a:r>
            <a:r>
              <a:rPr lang="en-US" dirty="0"/>
              <a:t>|p| </a:t>
            </a:r>
            <a:r>
              <a:rPr lang="ru-RU" dirty="0"/>
              <a:t>от 512 до 1024 и кратен 64 бит</a:t>
            </a:r>
          </a:p>
          <a:p>
            <a:pPr marL="342900" indent="-342900">
              <a:buAutoNum type="arabicParenR"/>
            </a:pPr>
            <a:r>
              <a:rPr lang="ru-RU" dirty="0"/>
              <a:t>Выбор </a:t>
            </a:r>
            <a:r>
              <a:rPr lang="en-US" dirty="0"/>
              <a:t>q </a:t>
            </a:r>
            <a:r>
              <a:rPr lang="ru-RU" dirty="0"/>
              <a:t>т.ч. </a:t>
            </a:r>
            <a:r>
              <a:rPr lang="en-US" dirty="0"/>
              <a:t>|q| = </a:t>
            </a:r>
            <a:r>
              <a:rPr lang="ru-RU" dirty="0"/>
              <a:t>дайджесту хеш-функции и выполняется</a:t>
            </a:r>
            <a:r>
              <a:rPr lang="en-US" dirty="0"/>
              <a:t>: (p-1) = 0 mod q</a:t>
            </a:r>
            <a:endParaRPr lang="ru-RU" dirty="0"/>
          </a:p>
          <a:p>
            <a:r>
              <a:rPr lang="en-US" dirty="0"/>
              <a:t>3) </a:t>
            </a:r>
            <a:r>
              <a:rPr lang="ru-RU" dirty="0"/>
              <a:t>Выбирается </a:t>
            </a:r>
            <a:r>
              <a:rPr lang="en-US" dirty="0"/>
              <a:t>e1 </a:t>
            </a:r>
            <a:r>
              <a:rPr lang="ru-RU" dirty="0"/>
              <a:t>т.ч. </a:t>
            </a:r>
            <a:r>
              <a:rPr lang="en-US" dirty="0"/>
              <a:t>e1^q = 1 mod p</a:t>
            </a:r>
          </a:p>
          <a:p>
            <a:r>
              <a:rPr lang="en-US" dirty="0"/>
              <a:t>4) </a:t>
            </a:r>
            <a:r>
              <a:rPr lang="ru-RU" dirty="0"/>
              <a:t>Выбирается целое </a:t>
            </a:r>
            <a:r>
              <a:rPr lang="en-US" dirty="0"/>
              <a:t>d &lt; q </a:t>
            </a:r>
            <a:r>
              <a:rPr lang="ru-RU" dirty="0"/>
              <a:t>и вычисляется </a:t>
            </a:r>
            <a:r>
              <a:rPr lang="en-US" dirty="0"/>
              <a:t>e2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/>
              <a:t>e1^d</a:t>
            </a:r>
            <a:r>
              <a:rPr lang="ru-RU" dirty="0"/>
              <a:t> </a:t>
            </a:r>
            <a:r>
              <a:rPr lang="en-US" dirty="0"/>
              <a:t>= 1 mod p</a:t>
            </a:r>
          </a:p>
          <a:p>
            <a:r>
              <a:rPr lang="en-US" dirty="0"/>
              <a:t>5) (e1, e2, p, q) – </a:t>
            </a:r>
            <a:r>
              <a:rPr lang="ru-RU" dirty="0"/>
              <a:t>открытый ключ</a:t>
            </a:r>
          </a:p>
          <a:p>
            <a:r>
              <a:rPr lang="en-US" dirty="0"/>
              <a:t>d – </a:t>
            </a:r>
            <a:r>
              <a:rPr lang="ru-RU" dirty="0"/>
              <a:t>закрытый ключ</a:t>
            </a:r>
          </a:p>
        </p:txBody>
      </p:sp>
    </p:spTree>
    <p:extLst>
      <p:ext uri="{BB962C8B-B14F-4D97-AF65-F5344CB8AC3E}">
        <p14:creationId xmlns:p14="http://schemas.microsoft.com/office/powerpoint/2010/main" val="63627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94B4D-4EB4-463C-A2B3-77528118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ECDSA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45AA12-114A-4F31-98DD-37B3EEBA2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263" y="26688"/>
            <a:ext cx="4191585" cy="21529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811532-2D30-4D71-BCF1-F0E0F921C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538" y="2179638"/>
            <a:ext cx="5515667" cy="45094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EBFFA5-3FC3-4642-8B2E-54E29BC8874C}"/>
              </a:ext>
            </a:extLst>
          </p:cNvPr>
          <p:cNvSpPr txBox="1"/>
          <p:nvPr/>
        </p:nvSpPr>
        <p:spPr>
          <a:xfrm>
            <a:off x="462427" y="1652925"/>
            <a:ext cx="50571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1) Выбирается эллиптическая кривая</a:t>
            </a:r>
            <a:r>
              <a:rPr lang="en-US" dirty="0"/>
              <a:t> Ep</a:t>
            </a:r>
            <a:r>
              <a:rPr lang="ru-RU" dirty="0"/>
              <a:t>(</a:t>
            </a:r>
            <a:r>
              <a:rPr lang="en-US" dirty="0"/>
              <a:t>a</a:t>
            </a:r>
            <a:r>
              <a:rPr lang="ru-RU" dirty="0"/>
              <a:t>, </a:t>
            </a:r>
            <a:r>
              <a:rPr lang="en-US" dirty="0"/>
              <a:t>b</a:t>
            </a:r>
            <a:r>
              <a:rPr lang="ru-RU" dirty="0"/>
              <a:t>),</a:t>
            </a:r>
            <a:r>
              <a:rPr lang="en-US" dirty="0"/>
              <a:t> </a:t>
            </a:r>
            <a:r>
              <a:rPr lang="ru-RU" dirty="0"/>
              <a:t>p – простое число.</a:t>
            </a:r>
          </a:p>
          <a:p>
            <a:r>
              <a:rPr lang="ru-RU" dirty="0"/>
              <a:t>2. Выбирается точка на кривой</a:t>
            </a:r>
            <a:r>
              <a:rPr lang="en-US" dirty="0"/>
              <a:t> e1=</a:t>
            </a:r>
            <a:r>
              <a:rPr lang="ru-RU" dirty="0"/>
              <a:t>(</a:t>
            </a:r>
            <a:r>
              <a:rPr lang="en-US" dirty="0"/>
              <a:t>x1</a:t>
            </a:r>
            <a:r>
              <a:rPr lang="ru-RU" dirty="0"/>
              <a:t>, </a:t>
            </a:r>
            <a:r>
              <a:rPr lang="en-US" dirty="0"/>
              <a:t>y1</a:t>
            </a:r>
            <a:r>
              <a:rPr lang="ru-RU" dirty="0"/>
              <a:t>)</a:t>
            </a:r>
          </a:p>
          <a:p>
            <a:r>
              <a:rPr lang="ru-RU" dirty="0"/>
              <a:t>3. Выбирается простое число q – порядок одной из циклических подгрупп группы точек эллиптической кривой:</a:t>
            </a:r>
            <a:r>
              <a:rPr lang="en-US" dirty="0"/>
              <a:t> q*(x1, y1) = 0</a:t>
            </a:r>
            <a:endParaRPr lang="ru-RU" dirty="0"/>
          </a:p>
          <a:p>
            <a:r>
              <a:rPr lang="ru-RU" dirty="0"/>
              <a:t>4. Выбирается закрытый ключ d.</a:t>
            </a:r>
          </a:p>
          <a:p>
            <a:r>
              <a:rPr lang="ru-RU" dirty="0"/>
              <a:t>5. Вычисляется точка на кривой</a:t>
            </a:r>
            <a:r>
              <a:rPr lang="en-US" dirty="0"/>
              <a:t> e2 = d*e1</a:t>
            </a:r>
            <a:endParaRPr lang="ru-RU" dirty="0"/>
          </a:p>
          <a:p>
            <a:r>
              <a:rPr lang="ru-RU" dirty="0"/>
              <a:t>6. Открытый ключ – (a, b, q, p, e1, e2).</a:t>
            </a:r>
            <a:endParaRPr lang="en-US" dirty="0"/>
          </a:p>
          <a:p>
            <a:r>
              <a:rPr lang="en-US" dirty="0"/>
              <a:t>d – </a:t>
            </a:r>
            <a:r>
              <a:rPr lang="ru-RU" dirty="0"/>
              <a:t>закрытый ключ</a:t>
            </a:r>
          </a:p>
        </p:txBody>
      </p:sp>
    </p:spTree>
    <p:extLst>
      <p:ext uri="{BB962C8B-B14F-4D97-AF65-F5344CB8AC3E}">
        <p14:creationId xmlns:p14="http://schemas.microsoft.com/office/powerpoint/2010/main" val="232343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C0889-DA4B-416A-BDDC-52913878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Таблица с фактическими временем генерации ключевых пар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2E36E91-786C-4981-9D42-DB3415B0F3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144060"/>
              </p:ext>
            </p:extLst>
          </p:nvPr>
        </p:nvGraphicFramePr>
        <p:xfrm>
          <a:off x="838200" y="279717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461226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12615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Алгоритм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Время, 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1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2,222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60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DSA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3,412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3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ECDSA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0,012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880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42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2EA85-8F23-42B9-83DD-9F6701DF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Процессы создания и проверки электронной подписи</a:t>
            </a:r>
          </a:p>
        </p:txBody>
      </p:sp>
    </p:spTree>
    <p:extLst>
      <p:ext uri="{BB962C8B-B14F-4D97-AF65-F5344CB8AC3E}">
        <p14:creationId xmlns:p14="http://schemas.microsoft.com/office/powerpoint/2010/main" val="181515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DFDA0-26D4-4C90-A6CD-EEFE6558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9434CCA-725E-471E-99F2-3656F5F81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0864" y="2005528"/>
            <a:ext cx="6430272" cy="3991532"/>
          </a:xfrm>
        </p:spPr>
      </p:pic>
    </p:spTree>
    <p:extLst>
      <p:ext uri="{BB962C8B-B14F-4D97-AF65-F5344CB8AC3E}">
        <p14:creationId xmlns:p14="http://schemas.microsoft.com/office/powerpoint/2010/main" val="392175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A6255-0E4A-443E-825C-218F6478C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Таблица с фактическими временами создания электронной подписи различными алгоритмами.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012D35DA-4322-4DC7-8DBB-31F90CDF8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7313853"/>
              </p:ext>
            </p:extLst>
          </p:nvPr>
        </p:nvGraphicFramePr>
        <p:xfrm>
          <a:off x="838200" y="279717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461226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12615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Алгоритм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Время, 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1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  <a:r>
                        <a:rPr lang="en-US" dirty="0"/>
                        <a:t>,00</a:t>
                      </a:r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60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DSA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0,002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3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ECDSA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  <a:r>
                        <a:rPr lang="en-US" dirty="0"/>
                        <a:t>,000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880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576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4D553-5501-4E35-BD68-0CAFE840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</a:t>
            </a:r>
            <a:r>
              <a:rPr lang="ru-RU" sz="4400" dirty="0"/>
              <a:t>начения электронной подписи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0DFF767-200B-48BD-97FF-2C6F79969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8250" r="1"/>
          <a:stretch/>
        </p:blipFill>
        <p:spPr>
          <a:xfrm>
            <a:off x="1" y="1452457"/>
            <a:ext cx="4629150" cy="397052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3AA257-1C34-4977-8BE4-3942B104F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643" y="1452457"/>
            <a:ext cx="4453476" cy="395308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C8ED767-6CAD-45D5-96EE-B3F60721E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331" y="1454141"/>
            <a:ext cx="4276669" cy="395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28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4D553-5501-4E35-BD68-0CAFE840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</a:t>
            </a:r>
            <a:r>
              <a:rPr lang="ru-RU" sz="4400" dirty="0"/>
              <a:t>роверка электронной подписи</a:t>
            </a:r>
            <a:r>
              <a:rPr lang="en-US" sz="4400" dirty="0"/>
              <a:t> </a:t>
            </a:r>
            <a:r>
              <a:rPr lang="en-US" dirty="0"/>
              <a:t>RSA</a:t>
            </a:r>
            <a:endParaRPr lang="ru-RU" sz="44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AAD846-C6AE-4022-B4BB-85E164542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80" y="1781039"/>
            <a:ext cx="7811590" cy="194337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4C6F936-8856-4780-AB6B-962C4B773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280" y="3724410"/>
            <a:ext cx="7934870" cy="205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35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2EA85-8F23-42B9-83DD-9F6701DF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Создание и проверка электронной подписи</a:t>
            </a:r>
            <a:br>
              <a:rPr lang="ru-RU" dirty="0"/>
            </a:br>
            <a:r>
              <a:rPr lang="ru-RU" dirty="0"/>
              <a:t>на основе эллиптических кривых</a:t>
            </a:r>
          </a:p>
        </p:txBody>
      </p:sp>
    </p:spTree>
    <p:extLst>
      <p:ext uri="{BB962C8B-B14F-4D97-AF65-F5344CB8AC3E}">
        <p14:creationId xmlns:p14="http://schemas.microsoft.com/office/powerpoint/2010/main" val="3282909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51752-1102-467E-93A4-BD5C4A0B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алгоритма формирования и проверки подписи ECDSA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371BD6-2A33-4E02-86DF-06D0F93F6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822449"/>
            <a:ext cx="4629153" cy="37782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Алгоритм создания электронной подписи ECDSA состоит из следующих</a:t>
            </a:r>
            <a:r>
              <a:rPr lang="en-US" b="1" dirty="0"/>
              <a:t> </a:t>
            </a:r>
            <a:r>
              <a:rPr lang="ru-RU" b="1" dirty="0"/>
              <a:t>операций:</a:t>
            </a:r>
            <a:endParaRPr lang="en-US" b="1" dirty="0"/>
          </a:p>
          <a:p>
            <a:pPr marL="514350" indent="-514350">
              <a:buAutoNum type="arabicParenR"/>
            </a:pPr>
            <a:r>
              <a:rPr lang="ru-RU" dirty="0"/>
              <a:t>Выбирается секретное случайное число</a:t>
            </a:r>
            <a:r>
              <a:rPr lang="en-US" dirty="0"/>
              <a:t> r</a:t>
            </a:r>
            <a:r>
              <a:rPr lang="ru-RU" dirty="0"/>
              <a:t>: </a:t>
            </a:r>
            <a:r>
              <a:rPr lang="en-US" dirty="0"/>
              <a:t>r </a:t>
            </a:r>
            <a:r>
              <a:rPr lang="ru-RU" dirty="0"/>
              <a:t>принадлежит </a:t>
            </a:r>
            <a:r>
              <a:rPr lang="en-US" dirty="0"/>
              <a:t>(1, q-1)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/>
              <a:t>Выбирается третья точка на кривой</a:t>
            </a:r>
            <a:r>
              <a:rPr lang="en-US" dirty="0"/>
              <a:t> P(u, v) = r*e1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/>
              <a:t>Вычисляется первая часть подписи по формуле</a:t>
            </a:r>
            <a:r>
              <a:rPr lang="en-US" dirty="0"/>
              <a:t> S1 = u mod q, u - </a:t>
            </a:r>
            <a:r>
              <a:rPr lang="ru-RU" dirty="0"/>
              <a:t>абсцисса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ru-RU" dirty="0"/>
              <a:t>Вычисляется вторая часть подписи по формуле</a:t>
            </a:r>
            <a:r>
              <a:rPr lang="en-US" dirty="0"/>
              <a:t> S2 = (h(M)+d*S1)*r^-1 mod q, </a:t>
            </a:r>
            <a:r>
              <a:rPr lang="ru-RU" dirty="0"/>
              <a:t>где h(M) – хеш-код сообщения; d – закрытый ключ.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D8D59-2D6B-4446-855C-33322DE6F89F}"/>
              </a:ext>
            </a:extLst>
          </p:cNvPr>
          <p:cNvSpPr txBox="1"/>
          <p:nvPr/>
        </p:nvSpPr>
        <p:spPr>
          <a:xfrm>
            <a:off x="6096000" y="1822449"/>
            <a:ext cx="4819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Алгоритм проверки электронной подписи ECDSA включает следующие</a:t>
            </a:r>
          </a:p>
          <a:p>
            <a:r>
              <a:rPr lang="ru-RU" b="1" dirty="0"/>
              <a:t>операции:</a:t>
            </a:r>
          </a:p>
          <a:p>
            <a:pPr marL="342900" indent="-342900">
              <a:buAutoNum type="arabicParenR"/>
            </a:pPr>
            <a:r>
              <a:rPr lang="ru-RU" dirty="0"/>
              <a:t>Вычисляются промежуточные результаты A и B:</a:t>
            </a:r>
          </a:p>
          <a:p>
            <a:r>
              <a:rPr lang="en-US" dirty="0"/>
              <a:t>A = h(M`)*S2^-1 mod q</a:t>
            </a:r>
          </a:p>
          <a:p>
            <a:r>
              <a:rPr lang="en-US" dirty="0"/>
              <a:t>B = S2^-1 * S1 mod q</a:t>
            </a:r>
            <a:endParaRPr lang="ru-RU" dirty="0"/>
          </a:p>
          <a:p>
            <a:r>
              <a:rPr lang="en-US" dirty="0"/>
              <a:t>2) </a:t>
            </a:r>
            <a:r>
              <a:rPr lang="ru-RU" dirty="0"/>
              <a:t>Восстанавливается третья точка:</a:t>
            </a:r>
          </a:p>
          <a:p>
            <a:r>
              <a:rPr lang="en-US" dirty="0"/>
              <a:t>T(x, y) = A*e1 + B*e2</a:t>
            </a:r>
            <a:endParaRPr lang="ru-RU" dirty="0"/>
          </a:p>
          <a:p>
            <a:r>
              <a:rPr lang="ru-RU" dirty="0"/>
              <a:t>Верификатор V = x </a:t>
            </a:r>
            <a:r>
              <a:rPr lang="ru-RU" dirty="0" err="1"/>
              <a:t>mod</a:t>
            </a:r>
            <a:r>
              <a:rPr lang="ru-RU" dirty="0"/>
              <a:t> q сравнивается с первой частью электронной</a:t>
            </a:r>
          </a:p>
          <a:p>
            <a:r>
              <a:rPr lang="ru-RU" dirty="0"/>
              <a:t>подписи S1.</a:t>
            </a:r>
          </a:p>
        </p:txBody>
      </p:sp>
    </p:spTree>
    <p:extLst>
      <p:ext uri="{BB962C8B-B14F-4D97-AF65-F5344CB8AC3E}">
        <p14:creationId xmlns:p14="http://schemas.microsoft.com/office/powerpoint/2010/main" val="318817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A99B2-AF2F-4DE7-9610-1C859EC5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алгоритма формирования и проверки подписи ECDSA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7543A7-BAAD-480C-B4BC-2DD85255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268" y="1804988"/>
            <a:ext cx="6573167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F5D79-5093-4BC8-82D3-25C1E665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29550" cy="1325563"/>
          </a:xfrm>
        </p:spPr>
        <p:txBody>
          <a:bodyPr/>
          <a:lstStyle/>
          <a:p>
            <a:r>
              <a:rPr lang="ru-RU" dirty="0"/>
              <a:t>Пошаговое выполнение </a:t>
            </a:r>
            <a:r>
              <a:rPr lang="en-US" dirty="0"/>
              <a:t>ECDSA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D39F73-BEC3-4BFC-BB05-0B53B4F05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01" y="947738"/>
            <a:ext cx="5086822" cy="37542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0413C5-5080-4EBF-B42A-0E97DFE3B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293" b="20957"/>
          <a:stretch/>
        </p:blipFill>
        <p:spPr>
          <a:xfrm>
            <a:off x="80725" y="4495799"/>
            <a:ext cx="5153497" cy="11690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43A16C-2C53-4478-9A94-9C0B585AB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01" y="5649694"/>
            <a:ext cx="5086822" cy="81906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A0DDC1A-C0A1-4B1B-BD1E-D5E10ED70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899" y="1089269"/>
            <a:ext cx="6811326" cy="6382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5659289-BD19-49E5-A92F-1EED00D10E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2326" y="1727533"/>
            <a:ext cx="6792273" cy="64779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94C67D7-EB45-4FCF-A24C-B2C1B2B2B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2794" y="2298981"/>
            <a:ext cx="6849431" cy="75258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4FECF73-FE4D-44C2-B2F2-71A1B4B2DF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1848" y="3429000"/>
            <a:ext cx="3572374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4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2B918-594F-41D7-A41B-C3EBDDD3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Проверка подписи ECSP-DSA для случаев со-</a:t>
            </a:r>
            <a:br>
              <a:rPr lang="ru-RU" dirty="0"/>
            </a:br>
            <a:r>
              <a:rPr lang="ru-RU" dirty="0"/>
              <a:t>хранения и нарушения целостности исходного текста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73558F-6558-4EA7-9D04-E39E4E1A2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29" y="2152485"/>
            <a:ext cx="7287642" cy="23625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4D52F9-07A3-47CD-AE9F-5DD05787C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053" y="4515015"/>
            <a:ext cx="7168594" cy="187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07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6C0E0-A4A4-4661-8704-798424BB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720"/>
            <a:ext cx="10515600" cy="1325563"/>
          </a:xfrm>
        </p:spPr>
        <p:txBody>
          <a:bodyPr/>
          <a:lstStyle/>
          <a:p>
            <a:r>
              <a:rPr lang="ru-RU" dirty="0"/>
              <a:t>Проверка лекционного материала по ECDSA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5B1D16EF-2C40-4FCC-9108-9B71C7077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518280"/>
              </p:ext>
            </p:extLst>
          </p:nvPr>
        </p:nvGraphicFramePr>
        <p:xfrm>
          <a:off x="1259840" y="1891983"/>
          <a:ext cx="9672320" cy="4342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6160">
                  <a:extLst>
                    <a:ext uri="{9D8B030D-6E8A-4147-A177-3AD203B41FA5}">
                      <a16:colId xmlns:a16="http://schemas.microsoft.com/office/drawing/2014/main" val="11096413"/>
                    </a:ext>
                  </a:extLst>
                </a:gridCol>
                <a:gridCol w="4836160">
                  <a:extLst>
                    <a:ext uri="{9D8B030D-6E8A-4147-A177-3AD203B41FA5}">
                      <a16:colId xmlns:a16="http://schemas.microsoft.com/office/drawing/2014/main" val="2962758384"/>
                    </a:ext>
                  </a:extLst>
                </a:gridCol>
              </a:tblGrid>
              <a:tr h="652780"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Генерация ключей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251919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Выбирается эллиптическая кривая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= 3, b = 5, p = 7 =&gt; E7(3, 5) = </a:t>
                      </a:r>
                    </a:p>
                    <a:p>
                      <a:pPr algn="ctr"/>
                      <a:r>
                        <a:rPr lang="en-US" dirty="0"/>
                        <a:t>𝑦^2 = (𝑥^3+3x + 5)𝑚𝑜𝑑 7</a:t>
                      </a:r>
                    </a:p>
                    <a:p>
                      <a:pPr algn="ctr"/>
                      <a:r>
                        <a:rPr lang="ru-RU" dirty="0"/>
                        <a:t>(</a:t>
                      </a:r>
                      <a:r>
                        <a:rPr lang="en-US" dirty="0"/>
                        <a:t>4a^3 + 27b^2</a:t>
                      </a:r>
                      <a:r>
                        <a:rPr lang="ru-RU" dirty="0"/>
                        <a:t>)</a:t>
                      </a:r>
                      <a:r>
                        <a:rPr lang="en-US" dirty="0"/>
                        <a:t> mod p != 0 – </a:t>
                      </a:r>
                      <a:r>
                        <a:rPr lang="ru-RU" dirty="0"/>
                        <a:t>выполняется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5455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Выбирается точка на кривой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e1 = (4, 5)</a:t>
                      </a:r>
                    </a:p>
                    <a:p>
                      <a:pPr algn="ctr"/>
                      <a:r>
                        <a:rPr lang="en-US" dirty="0"/>
                        <a:t>X = 4: (4^3+3*4+5) mod 7 = 81 mod 7 = 4 = y^2 mod 7 =&gt; y = 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293095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Подбирается порядок циклической подгруппы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 = 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231671"/>
                  </a:ext>
                </a:extLst>
              </a:tr>
              <a:tr h="40290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Выбирается целый закрытый 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 = 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566078"/>
                  </a:ext>
                </a:extLst>
              </a:tr>
              <a:tr h="38766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Вычисляется вторая точка на кривой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e2 = d * e1 = (6,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57509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Объявляется открытый 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(a, b, q, p, e1, e2) = (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 5, 7, 7, (4, 5), (6, 1)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691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A21317C-244B-40D2-BCB0-01E70B255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428552"/>
              </p:ext>
            </p:extLst>
          </p:nvPr>
        </p:nvGraphicFramePr>
        <p:xfrm>
          <a:off x="1259840" y="2163762"/>
          <a:ext cx="9672320" cy="4035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6160">
                  <a:extLst>
                    <a:ext uri="{9D8B030D-6E8A-4147-A177-3AD203B41FA5}">
                      <a16:colId xmlns:a16="http://schemas.microsoft.com/office/drawing/2014/main" val="11096413"/>
                    </a:ext>
                  </a:extLst>
                </a:gridCol>
                <a:gridCol w="4836160">
                  <a:extLst>
                    <a:ext uri="{9D8B030D-6E8A-4147-A177-3AD203B41FA5}">
                      <a16:colId xmlns:a16="http://schemas.microsoft.com/office/drawing/2014/main" val="2962758384"/>
                    </a:ext>
                  </a:extLst>
                </a:gridCol>
              </a:tblGrid>
              <a:tr h="652780"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Подписание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251919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Выбирается секретное случайное 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 = 3, (1 &lt; 3 &lt; q-1)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5455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Выбирается третья точка на кривой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e3 = (u, v) = r * e1 = (6, 6)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293095"/>
                  </a:ext>
                </a:extLst>
              </a:tr>
              <a:tr h="73596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Вычисляется 1я часть подписи, используя абсциссу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S1 = u mod p = 6 mod 7 = 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231671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Вычисляется дайджест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h(M) = 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57509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Вычисляется 2я часть подписи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S2 = (h(M) + d*S1) * r^-1 mod q = (10 + 4*6)/3 mod 7 = 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09742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189865A-EF85-495A-84FB-7A82F89C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Проверка лекционного материала по ECDSA</a:t>
            </a:r>
          </a:p>
        </p:txBody>
      </p:sp>
    </p:spTree>
    <p:extLst>
      <p:ext uri="{BB962C8B-B14F-4D97-AF65-F5344CB8AC3E}">
        <p14:creationId xmlns:p14="http://schemas.microsoft.com/office/powerpoint/2010/main" val="44199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A21317C-244B-40D2-BCB0-01E70B255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900582"/>
              </p:ext>
            </p:extLst>
          </p:nvPr>
        </p:nvGraphicFramePr>
        <p:xfrm>
          <a:off x="1056640" y="2097087"/>
          <a:ext cx="10078720" cy="4232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9360">
                  <a:extLst>
                    <a:ext uri="{9D8B030D-6E8A-4147-A177-3AD203B41FA5}">
                      <a16:colId xmlns:a16="http://schemas.microsoft.com/office/drawing/2014/main" val="11096413"/>
                    </a:ext>
                  </a:extLst>
                </a:gridCol>
                <a:gridCol w="5039360">
                  <a:extLst>
                    <a:ext uri="{9D8B030D-6E8A-4147-A177-3AD203B41FA5}">
                      <a16:colId xmlns:a16="http://schemas.microsoft.com/office/drawing/2014/main" val="2962758384"/>
                    </a:ext>
                  </a:extLst>
                </a:gridCol>
              </a:tblGrid>
              <a:tr h="1007261"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Проверка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251919"/>
                  </a:ext>
                </a:extLst>
              </a:tr>
              <a:tr h="108264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Получаем промежуточные результаты А и </a:t>
                      </a:r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= h(M’)*S2^-1 mod q = 10/2 mod 7 = 5</a:t>
                      </a:r>
                    </a:p>
                    <a:p>
                      <a:pPr algn="ctr"/>
                      <a:r>
                        <a:rPr lang="en-US" dirty="0"/>
                        <a:t>B = S2^-1 * S1 mod q = 1/2 * 6 mod 7 = 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5455"/>
                  </a:ext>
                </a:extLst>
              </a:tr>
              <a:tr h="100726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Восстанавливаем третью точку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T(x, y) = A*e1 + B*e2 = 5*(4, 5) + 3*(6, 1) = (1, 3)+(1, 3) = (6, 6)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293095"/>
                  </a:ext>
                </a:extLst>
              </a:tr>
              <a:tr h="1135619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Верефицируем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= x mod q = 6 mod 7 = 6</a:t>
                      </a:r>
                      <a:br>
                        <a:rPr lang="en-US" dirty="0"/>
                      </a:br>
                      <a:r>
                        <a:rPr lang="en-US" dirty="0"/>
                        <a:t>V = S1 (6 = 6) - </a:t>
                      </a:r>
                      <a:r>
                        <a:rPr lang="ru-RU" dirty="0"/>
                        <a:t>верно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231671"/>
                  </a:ext>
                </a:extLst>
              </a:tr>
            </a:tbl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D9CC8A6-F7AA-4BE3-9D0C-E304D4AF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Проверка лекционного материала по ECDSA</a:t>
            </a:r>
          </a:p>
        </p:txBody>
      </p:sp>
    </p:spTree>
    <p:extLst>
      <p:ext uri="{BB962C8B-B14F-4D97-AF65-F5344CB8AC3E}">
        <p14:creationId xmlns:p14="http://schemas.microsoft.com/office/powerpoint/2010/main" val="1662600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4FB4AAE-B51F-489B-AA72-CC4D1002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Проверка лекционного материала по ECDSA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47C55C-BC64-480F-B199-C0B1F5608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6" y="1703294"/>
            <a:ext cx="12114448" cy="478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52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2EA85-8F23-42B9-83DD-9F6701DF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Демонстрация процесса подписи в среде PKI</a:t>
            </a:r>
          </a:p>
        </p:txBody>
      </p:sp>
    </p:spTree>
    <p:extLst>
      <p:ext uri="{BB962C8B-B14F-4D97-AF65-F5344CB8AC3E}">
        <p14:creationId xmlns:p14="http://schemas.microsoft.com/office/powerpoint/2010/main" val="1557678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9273C-4703-4062-9005-6081F2CD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структуры сертификата из </a:t>
            </a:r>
            <a:r>
              <a:rPr lang="ru-RU" dirty="0" err="1"/>
              <a:t>CrypTool</a:t>
            </a:r>
            <a:r>
              <a:rPr lang="ru-RU" dirty="0"/>
              <a:t> 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036E8A-AB51-463D-AE69-6BC62B8FF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0" y="1901031"/>
            <a:ext cx="5551747" cy="41378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BD0C28-53BB-4C26-B1A6-102F1F333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978" y="1901031"/>
            <a:ext cx="5450904" cy="413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15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A1D8A6-90C2-4A5D-97DF-5A139E81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процедуры подписания из </a:t>
            </a:r>
            <a:r>
              <a:rPr lang="ru-RU" dirty="0" err="1"/>
              <a:t>CrypTool</a:t>
            </a:r>
            <a:r>
              <a:rPr lang="ru-RU" dirty="0"/>
              <a:t> 1.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1D89EB-41E8-422E-93AC-C96BB7661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552" y="1618862"/>
            <a:ext cx="6410896" cy="436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11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2EA85-8F23-42B9-83DD-9F6701DF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Подписание своего отчета</a:t>
            </a:r>
          </a:p>
        </p:txBody>
      </p:sp>
    </p:spTree>
    <p:extLst>
      <p:ext uri="{BB962C8B-B14F-4D97-AF65-F5344CB8AC3E}">
        <p14:creationId xmlns:p14="http://schemas.microsoft.com/office/powerpoint/2010/main" val="4045507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C5413C-9439-410B-93F6-4A23ADA34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49" y="1082040"/>
            <a:ext cx="9524611" cy="5488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5E624A-A19A-49BB-9883-565831601A7B}"/>
              </a:ext>
            </a:extLst>
          </p:cNvPr>
          <p:cNvSpPr txBox="1"/>
          <p:nvPr/>
        </p:nvSpPr>
        <p:spPr>
          <a:xfrm>
            <a:off x="624840" y="287849"/>
            <a:ext cx="99629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latin typeface="+mj-lt"/>
                <a:ea typeface="+mj-ea"/>
                <a:cs typeface="+mj-cs"/>
              </a:rPr>
              <a:t>Титульный лист с электронной подписью</a:t>
            </a:r>
          </a:p>
        </p:txBody>
      </p:sp>
    </p:spTree>
    <p:extLst>
      <p:ext uri="{BB962C8B-B14F-4D97-AF65-F5344CB8AC3E}">
        <p14:creationId xmlns:p14="http://schemas.microsoft.com/office/powerpoint/2010/main" val="3325036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2A538-618A-4EC6-9E8F-69893959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подписи и сертификата.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6B5C73-6A2B-46A0-9EDA-0374E0911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12" y="1401127"/>
            <a:ext cx="5476874" cy="48021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AF3141-88E3-4CA4-9E44-D10562FB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11" y="4497345"/>
            <a:ext cx="5482765" cy="19955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82FBD4-C647-4062-A735-E6782FAD9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502" y="1398089"/>
            <a:ext cx="6251457" cy="20471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83B267-CEFC-4A0A-AC8F-49E94A046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229" y="3413444"/>
            <a:ext cx="5938812" cy="199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1E9D6-F19F-42A5-BD1D-F4B72B3A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проверки после внесения изменений в отчет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B912A5-4765-4E7E-9C4E-F685C1DE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852136"/>
            <a:ext cx="9595286" cy="464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09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7CDF10-2111-4846-B65F-3C9C513A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44" y="1334293"/>
            <a:ext cx="11514456" cy="502840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1700" dirty="0">
                <a:latin typeface="Arial" panose="020B0604020202020204" pitchFamily="34" charset="0"/>
              </a:rPr>
              <a:t>В ходе работы было выполнено: 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1700" dirty="0">
                <a:latin typeface="Arial" panose="020B0604020202020204" pitchFamily="34" charset="0"/>
              </a:rPr>
              <a:t>Изучена генерация ключевых пар для алгоритмов </a:t>
            </a:r>
            <a:r>
              <a:rPr lang="en-US" sz="1700" dirty="0">
                <a:latin typeface="Arial" panose="020B0604020202020204" pitchFamily="34" charset="0"/>
              </a:rPr>
              <a:t>RSA-2048, DSA-2038, ECDSA-239. </a:t>
            </a:r>
            <a:r>
              <a:rPr lang="ru-RU" sz="1700" dirty="0">
                <a:latin typeface="Arial" panose="020B0604020202020204" pitchFamily="34" charset="0"/>
              </a:rPr>
              <a:t>В результате сравнения времени генерации ключа быстрее всех оказался </a:t>
            </a:r>
            <a:r>
              <a:rPr lang="en-US" sz="1700" dirty="0">
                <a:latin typeface="Arial" panose="020B0604020202020204" pitchFamily="34" charset="0"/>
              </a:rPr>
              <a:t>ECDSA-239.</a:t>
            </a:r>
            <a:endParaRPr lang="ru-RU" sz="1700" dirty="0">
              <a:latin typeface="Arial" panose="020B0604020202020204" pitchFamily="34" charset="0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1700" dirty="0">
                <a:latin typeface="Arial" panose="020B0604020202020204" pitchFamily="34" charset="0"/>
              </a:rPr>
              <a:t>Изучены процессы создания и проверки электронной подписи. Был подписан текстовый файл в 12000 символов и проведена проверка подписи. В результате сравнения времени проверки ключа быстрее всех оказался </a:t>
            </a:r>
            <a:r>
              <a:rPr lang="en-US" sz="1700" dirty="0">
                <a:latin typeface="Arial" panose="020B0604020202020204" pitchFamily="34" charset="0"/>
              </a:rPr>
              <a:t>ECDSA-239.</a:t>
            </a:r>
            <a:r>
              <a:rPr lang="ru-RU" sz="1700" dirty="0">
                <a:latin typeface="Arial" panose="020B0604020202020204" pitchFamily="34" charset="0"/>
              </a:rPr>
              <a:t> При изменении подписанного документа его модификация обнаружена при проверки подписи.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1700" dirty="0">
                <a:latin typeface="Arial" panose="020B0604020202020204" pitchFamily="34" charset="0"/>
              </a:rPr>
              <a:t>Изучено создание и проверка электронной подписи на основе эллиптических кривых путем исследования протокола </a:t>
            </a:r>
            <a:r>
              <a:rPr lang="en-US" sz="1700" dirty="0">
                <a:latin typeface="Arial" panose="020B0604020202020204" pitchFamily="34" charset="0"/>
              </a:rPr>
              <a:t>E</a:t>
            </a:r>
            <a:r>
              <a:rPr lang="ru-RU" sz="1700">
                <a:latin typeface="Arial" panose="020B0604020202020204" pitchFamily="34" charset="0"/>
              </a:rPr>
              <a:t>С</a:t>
            </a:r>
            <a:r>
              <a:rPr lang="en-US" sz="1700">
                <a:latin typeface="Arial" panose="020B0604020202020204" pitchFamily="34" charset="0"/>
              </a:rPr>
              <a:t>DSA </a:t>
            </a:r>
            <a:r>
              <a:rPr lang="ru-RU" sz="1700" dirty="0">
                <a:latin typeface="Arial" panose="020B0604020202020204" pitchFamily="34" charset="0"/>
              </a:rPr>
              <a:t>в пошаговом режиме. В результате создана и проверена цифровая подпись.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1700" dirty="0">
                <a:latin typeface="Arial" panose="020B0604020202020204" pitchFamily="34" charset="0"/>
              </a:rPr>
              <a:t>Продемонстрирован процесс подписи в среде PKI. В результате создан сертификат для полученного ключа </a:t>
            </a:r>
            <a:r>
              <a:rPr lang="en-US" sz="1700" dirty="0">
                <a:latin typeface="Arial" panose="020B0604020202020204" pitchFamily="34" charset="0"/>
              </a:rPr>
              <a:t>RSA-2048 </a:t>
            </a:r>
            <a:r>
              <a:rPr lang="ru-RU" sz="1700" dirty="0">
                <a:latin typeface="Arial" panose="020B0604020202020204" pitchFamily="34" charset="0"/>
              </a:rPr>
              <a:t>и с помощью него была создана электронная подпись.</a:t>
            </a:r>
          </a:p>
          <a:p>
            <a:pPr marL="514350" indent="-514350">
              <a:buAutoNum type="arabicPeriod"/>
            </a:pPr>
            <a:r>
              <a:rPr lang="ru-RU" sz="1700" dirty="0">
                <a:latin typeface="Arial" panose="020B0604020202020204" pitchFamily="34" charset="0"/>
              </a:rPr>
              <a:t>Подписан отчет и в результате получен подписанный отчет, сертификат и подпись, а также проведена проверка после изменения файла, после которой удалось выявить изменения.</a:t>
            </a:r>
            <a:endParaRPr lang="en-US" sz="1700" dirty="0">
              <a:latin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1700" dirty="0">
                <a:latin typeface="Arial" panose="020B0604020202020204" pitchFamily="34" charset="0"/>
              </a:rPr>
              <a:t>Получены практические навыки работы с алгоритмами создания и проверки электронной подписи, в том числе с использованием приложения </a:t>
            </a:r>
            <a:r>
              <a:rPr lang="ru-RU" sz="1700" dirty="0" err="1">
                <a:latin typeface="Arial" panose="020B0604020202020204" pitchFamily="34" charset="0"/>
              </a:rPr>
              <a:t>CrypTool</a:t>
            </a:r>
            <a:r>
              <a:rPr lang="ru-RU" sz="1700" dirty="0">
                <a:latin typeface="Arial" panose="020B0604020202020204" pitchFamily="34" charset="0"/>
              </a:rPr>
              <a:t> 1 и 2.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AC7E2FB-D405-4079-A8EB-D55AD434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769" y="304800"/>
            <a:ext cx="5986462" cy="80089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Заключение по работе.</a:t>
            </a:r>
          </a:p>
        </p:txBody>
      </p:sp>
    </p:spTree>
    <p:extLst>
      <p:ext uri="{BB962C8B-B14F-4D97-AF65-F5344CB8AC3E}">
        <p14:creationId xmlns:p14="http://schemas.microsoft.com/office/powerpoint/2010/main" val="3643814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F9ECA-BC1A-4C77-B033-4F50EB4C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682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  <a:br>
              <a:rPr lang="ru-RU" dirty="0"/>
            </a:br>
            <a:r>
              <a:rPr lang="ru-RU" dirty="0"/>
              <a:t>Готов ответить на Ваши вопросы.</a:t>
            </a:r>
          </a:p>
        </p:txBody>
      </p:sp>
    </p:spTree>
    <p:extLst>
      <p:ext uri="{BB962C8B-B14F-4D97-AF65-F5344CB8AC3E}">
        <p14:creationId xmlns:p14="http://schemas.microsoft.com/office/powerpoint/2010/main" val="3470465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4095</TotalTime>
  <Words>1217</Words>
  <Application>Microsoft Office PowerPoint</Application>
  <PresentationFormat>Широкоэкранный</PresentationFormat>
  <Paragraphs>138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Тема Office</vt:lpstr>
      <vt:lpstr>Лабораторная работа № 8 ИЗУЧЕНИЕ ЭЛЕКТРОННОЙ ПОДПИСИ</vt:lpstr>
      <vt:lpstr>Цель работы.</vt:lpstr>
      <vt:lpstr>Генерация ключевых пар</vt:lpstr>
      <vt:lpstr>RSA</vt:lpstr>
      <vt:lpstr>DSA</vt:lpstr>
      <vt:lpstr>ECDSA</vt:lpstr>
      <vt:lpstr>Таблица с фактическими временем генерации ключевых пар</vt:lpstr>
      <vt:lpstr>Процессы создания и проверки электронной подписи</vt:lpstr>
      <vt:lpstr>Схема</vt:lpstr>
      <vt:lpstr>Таблица с фактическими временами создания электронной подписи различными алгоритмами.</vt:lpstr>
      <vt:lpstr>Значения электронной подписи</vt:lpstr>
      <vt:lpstr>Проверка электронной подписи RSA</vt:lpstr>
      <vt:lpstr>Создание и проверка электронной подписи на основе эллиптических кривых</vt:lpstr>
      <vt:lpstr>Описание алгоритма формирования и проверки подписи ECDSA</vt:lpstr>
      <vt:lpstr>Описание алгоритма формирования и проверки подписи ECDSA</vt:lpstr>
      <vt:lpstr>Пошаговое выполнение ECDSA</vt:lpstr>
      <vt:lpstr>Проверка подписи ECSP-DSA для случаев со- хранения и нарушения целостности исходного текста</vt:lpstr>
      <vt:lpstr>Проверка лекционного материала по ECDSA</vt:lpstr>
      <vt:lpstr>Проверка лекционного материала по ECDSA</vt:lpstr>
      <vt:lpstr>Проверка лекционного материала по ECDSA</vt:lpstr>
      <vt:lpstr>Проверка лекционного материала по ECDSA</vt:lpstr>
      <vt:lpstr>Демонстрация процесса подписи в среде PKI</vt:lpstr>
      <vt:lpstr>Описание структуры сертификата из CrypTool 1</vt:lpstr>
      <vt:lpstr>Схема процедуры подписания из CrypTool 1.</vt:lpstr>
      <vt:lpstr>Подписание своего отчета</vt:lpstr>
      <vt:lpstr>Презентация PowerPoint</vt:lpstr>
      <vt:lpstr>Свойства подписи и сертификата.</vt:lpstr>
      <vt:lpstr>Результат проверки после внесения изменений в отчет</vt:lpstr>
      <vt:lpstr>Заключение по работе.</vt:lpstr>
      <vt:lpstr>Спасибо за внимание! Готов ответить на Ваши вопросы.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1 Изучение классических шифров</dc:title>
  <dc:creator>Pavel</dc:creator>
  <cp:lastModifiedBy>Pavel</cp:lastModifiedBy>
  <cp:revision>220</cp:revision>
  <cp:lastPrinted>2024-12-10T05:07:49Z</cp:lastPrinted>
  <dcterms:created xsi:type="dcterms:W3CDTF">2024-09-10T08:56:48Z</dcterms:created>
  <dcterms:modified xsi:type="dcterms:W3CDTF">2024-12-10T05:08:57Z</dcterms:modified>
</cp:coreProperties>
</file>