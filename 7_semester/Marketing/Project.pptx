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6858000" cx="12192000"/>
  <p:notesSz cx="6858000" cy="9144000"/>
  <p:embeddedFontLst>
    <p:embeddedFont>
      <p:font typeface="Roboto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5" roundtripDataSignature="AMtx7mhZKrNZIyQxEIqQNFfqkuH2JiSb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C5268F1-D22B-4333-9716-62DFDBF52120}">
  <a:tblStyle styleId="{2C5268F1-D22B-4333-9716-62DFDBF5212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314B4638-4748-4096-B324-42C872B7CB7C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Roboto-bold.fntdata"/><Relationship Id="rId41" Type="http://schemas.openxmlformats.org/officeDocument/2006/relationships/font" Target="fonts/Roboto-regular.fntdata"/><Relationship Id="rId22" Type="http://schemas.openxmlformats.org/officeDocument/2006/relationships/slide" Target="slides/slide17.xml"/><Relationship Id="rId44" Type="http://schemas.openxmlformats.org/officeDocument/2006/relationships/font" Target="fonts/Roboto-boldItalic.fntdata"/><Relationship Id="rId21" Type="http://schemas.openxmlformats.org/officeDocument/2006/relationships/slide" Target="slides/slide16.xml"/><Relationship Id="rId43" Type="http://schemas.openxmlformats.org/officeDocument/2006/relationships/font" Target="fonts/Roboto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0ae5f479bf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0ae5f479bf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0ae5f479bf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0ae5f479bf_5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0ae5f479bf_5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0ae5f479bf_5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0ae5f479bf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0ae5f479bf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0ae5f479bf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0aebfb84a9_0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0aebfb84a9_0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0aebfb84a9_0_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0aebfb84a9_0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0aebfb84a9_0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0aebfb84a9_0_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1018fcd1f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1018fcd1f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1018fcd1f2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1018fcd1f2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1018fcd1f2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1018fcd1f2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1018fcd1f2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1018fcd1f2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1018fcd1f2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1018fcd1f2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1018fcd1f2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1018fcd1f2_0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1018fcd1f2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1018fcd1f2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1018fcd1f2_0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1018fcd1f2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1018fcd1f2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1018fcd1f2_0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146e17739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146e17739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146e177390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146e177390_1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146e177390_1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146e177390_1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146e177390_1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146e177390_1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146e177390_1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19ffd3692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19ffd3692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19ffd3692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19ffd36927_6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19ffd36927_6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319ffd36927_6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19ffd36927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19ffd36927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319ffd36927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19ffd36927_4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19ffd36927_4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19ffd36927_4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19ffd36927_4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19ffd36927_4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19ffd36927_4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19ffd36927_4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19ffd36927_4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19ffd36927_4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19ffd36927_4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19ffd36927_4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g319ffd36927_4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3.png"/><Relationship Id="rId6" Type="http://schemas.openxmlformats.org/officeDocument/2006/relationships/image" Target="../media/image5.png"/><Relationship Id="rId7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8.png"/><Relationship Id="rId5" Type="http://schemas.openxmlformats.org/officeDocument/2006/relationships/image" Target="../media/image12.png"/><Relationship Id="rId6" Type="http://schemas.openxmlformats.org/officeDocument/2006/relationships/image" Target="../media/image4.png"/><Relationship Id="rId7" Type="http://schemas.openxmlformats.org/officeDocument/2006/relationships/image" Target="../media/image7.png"/><Relationship Id="rId8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3.png"/><Relationship Id="rId4" Type="http://schemas.openxmlformats.org/officeDocument/2006/relationships/image" Target="../media/image2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0.png"/><Relationship Id="rId4" Type="http://schemas.openxmlformats.org/officeDocument/2006/relationships/image" Target="../media/image1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9.png"/><Relationship Id="rId4" Type="http://schemas.openxmlformats.org/officeDocument/2006/relationships/image" Target="../media/image24.png"/><Relationship Id="rId5" Type="http://schemas.openxmlformats.org/officeDocument/2006/relationships/image" Target="../media/image16.png"/><Relationship Id="rId6" Type="http://schemas.openxmlformats.org/officeDocument/2006/relationships/image" Target="../media/image2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ru-RU"/>
              <a:t>Коммунальный Робот 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/>
              <a:t>Шаврин А.П.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/>
              <a:t>Макки К.Ю.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/>
              <a:t>Дешура Д.В.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/>
              <a:t>Виноградова М.О.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Описание</a:t>
            </a:r>
            <a:endParaRPr/>
          </a:p>
        </p:txBody>
      </p:sp>
      <p:sp>
        <p:nvSpPr>
          <p:cNvPr id="95" name="Google Shape;95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50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ru-RU"/>
              <a:t>Коммунальный робот состоит из 2х модулей.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ru-RU"/>
              <a:t>Основной модуль автопилота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Робот оснащен системой навигации и автоматического управления, которая позволяет ему перемещаться без участия оператора. Этот модуль обеспечивает точное позиционирование робота и предотвращает столкновения с препятствиями.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ru-RU"/>
              <a:t>Дополнительный модуль ориентированный на уборку в определенных условиях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Данный модуль включает различные инструменты и аксессуары, предназначенные для выполнения различных задач в зависимости от текущих условий окружающей среды.</a:t>
            </a:r>
            <a:endParaRPr/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0ae5f479bf_0_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Описание</a:t>
            </a:r>
            <a:endParaRPr/>
          </a:p>
        </p:txBody>
      </p:sp>
      <p:sp>
        <p:nvSpPr>
          <p:cNvPr id="102" name="Google Shape;102;g30ae5f479bf_0_1"/>
          <p:cNvSpPr txBox="1"/>
          <p:nvPr>
            <p:ph idx="1" type="body"/>
          </p:nvPr>
        </p:nvSpPr>
        <p:spPr>
          <a:xfrm>
            <a:off x="838200" y="16908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00" lvl="0" marL="2286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ru-RU" sz="2470"/>
              <a:t>1. Снегоуборочный модуль:</a:t>
            </a:r>
            <a:endParaRPr sz="2470"/>
          </a:p>
          <a:p>
            <a:pPr indent="-50800" lvl="0" marL="2286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ru-RU" sz="2470"/>
              <a:t>   - Робот оснащается снегоочистителем, который эффективно удаляет снег с поверхности дороги или тротуара.</a:t>
            </a:r>
            <a:endParaRPr sz="2470"/>
          </a:p>
          <a:p>
            <a:pPr indent="-50800" lvl="0" marL="2286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ru-RU" sz="2470"/>
              <a:t>2. Уборочный модуль:</a:t>
            </a:r>
            <a:endParaRPr sz="2470"/>
          </a:p>
          <a:p>
            <a:pPr indent="-50800" lvl="0" marL="2286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ru-RU" sz="2470"/>
              <a:t>   - Для уборки мусора и листьев робот может использовать вращающиеся щетки или специальные механизмы, позволяющие собирать мусор в контейнер.</a:t>
            </a:r>
            <a:endParaRPr sz="2470"/>
          </a:p>
          <a:p>
            <a:pPr indent="-50800" lvl="0" marL="2286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ru-RU" sz="2470"/>
              <a:t>3. Модуль для стрижки газона:</a:t>
            </a:r>
            <a:endParaRPr sz="2470"/>
          </a:p>
          <a:p>
            <a:pPr indent="-50800" lvl="0" marL="2286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ru-RU" sz="2470"/>
              <a:t>   - Встроенная система с лезвиями и механизмами для автоматической стрижки травы, поддерживающая газон в ухоженном состоянии.</a:t>
            </a:r>
            <a:endParaRPr sz="2470"/>
          </a:p>
          <a:p>
            <a:pPr indent="-50800" lvl="0" marL="2286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ru-RU" sz="2470"/>
              <a:t>4. Дополнительные функции:</a:t>
            </a:r>
            <a:endParaRPr sz="2470"/>
          </a:p>
          <a:p>
            <a:pPr indent="-50800" lvl="0" marL="2286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ru-RU" sz="2470"/>
              <a:t>   - Возможность подключения других инструментов и аксессуаров для выполнения специализированных задач, таких как полив растений, распыление удобрений и другие садово-парковые работы.</a:t>
            </a:r>
            <a:endParaRPr sz="2470"/>
          </a:p>
          <a:p>
            <a:pPr indent="-50800" lvl="0" marL="2286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t/>
            </a:r>
            <a:endParaRPr sz="2470"/>
          </a:p>
          <a:p>
            <a:pPr indent="-50800" lvl="0" marL="2286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ru-RU" sz="2470"/>
              <a:t>Таким образом, предлагаемый проект представляет собой комплексное решение для автоматизации процессов уборки и ухода за территориями различного типа, будь то городские улицы или частные участки.</a:t>
            </a:r>
            <a:endParaRPr sz="247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Классификация нововведения</a:t>
            </a:r>
            <a:endParaRPr/>
          </a:p>
        </p:txBody>
      </p:sp>
      <p:sp>
        <p:nvSpPr>
          <p:cNvPr id="108" name="Google Shape;108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Степень новизны: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/>
              <a:t>Рынок известен, технология нова, риск технический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Характер концепции: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/>
              <a:t>Технологическая инновация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Интенсивность: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/>
              <a:t>Улучшенная-Новая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Источник идеи: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/>
              <a:t>Втягиваемые спросом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Оценка идеи</a:t>
            </a:r>
            <a:endParaRPr/>
          </a:p>
        </p:txBody>
      </p:sp>
      <p:sp>
        <p:nvSpPr>
          <p:cNvPr id="115" name="Google Shape;115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Тенденция рынка: стабильный (3 балла)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Срок жизни товара: 5-10 лет (4 балла)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Скорость распространения: довольно высокая (4 балла)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Потенциал рынка (физический): &gt;10000 тыс. (5 баллов)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Потенциал рынка (денежный): 1 миллиард (5 баллов)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Потребность покупателей в настоящее время: удовлетворяется плохо (4 балла)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Потребность в рекламной поддержке: малозначимая 2-5% (4 балла)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Оценка идеи</a:t>
            </a:r>
            <a:endParaRPr/>
          </a:p>
        </p:txBody>
      </p:sp>
      <p:sp>
        <p:nvSpPr>
          <p:cNvPr id="121" name="Google Shape;121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Отличительные качества: значительные особенности (4 балла)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Сила конкуренции: очень слабая (5 баллов)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Продолжительность эксклюзивности: &gt;3 лет (5 баллов)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Цена: немного ниже  (4 балла)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Уровень качества: значительно превосходит (5 баллов)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Средний балл: 4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/>
          <p:nvPr>
            <p:ph type="title"/>
          </p:nvPr>
        </p:nvSpPr>
        <p:spPr>
          <a:xfrm>
            <a:off x="934775" y="633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Поведенческое</a:t>
            </a:r>
            <a:r>
              <a:rPr lang="ru-RU"/>
              <a:t> сегментирование</a:t>
            </a:r>
            <a:endParaRPr/>
          </a:p>
        </p:txBody>
      </p:sp>
      <p:graphicFrame>
        <p:nvGraphicFramePr>
          <p:cNvPr id="127" name="Google Shape;127;p7"/>
          <p:cNvGraphicFramePr/>
          <p:nvPr/>
        </p:nvGraphicFramePr>
        <p:xfrm>
          <a:off x="554125" y="1244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{2C5268F1-D22B-4333-9716-62DFDBF52120}</a:tableStyleId>
              </a:tblPr>
              <a:tblGrid>
                <a:gridCol w="5324575"/>
                <a:gridCol w="5324575"/>
              </a:tblGrid>
              <a:tr h="45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b="1" lang="ru-RU"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Параметр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b="1" lang="ru-RU"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Зн</a:t>
                      </a:r>
                      <a:r>
                        <a:rPr b="1" lang="ru-RU"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ачение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98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Место совершениā покупки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И</a:t>
                      </a:r>
                      <a:r>
                        <a:rPr lang="ru-RU"/>
                        <a:t>нтернет-магазин, Офис продаж.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</a:tr>
              <a:tr h="600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Частота совершения покупки и частота потребления </a:t>
                      </a:r>
                      <a:r>
                        <a:rPr lang="ru-RU"/>
                        <a:t>продукты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Покупка совершается однажды и потребляется при потребности.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</a:tr>
              <a:tr h="398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Искомая</a:t>
                      </a:r>
                      <a:r>
                        <a:rPr lang="ru-RU"/>
                        <a:t> </a:t>
                      </a:r>
                      <a:r>
                        <a:rPr lang="ru-RU"/>
                        <a:t>выгода</a:t>
                      </a:r>
                      <a:r>
                        <a:rPr lang="ru-RU"/>
                        <a:t> </a:t>
                      </a:r>
                      <a:r>
                        <a:rPr lang="ru-RU"/>
                        <a:t>для</a:t>
                      </a:r>
                      <a:r>
                        <a:rPr lang="ru-RU"/>
                        <a:t> потребителей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К</a:t>
                      </a:r>
                      <a:r>
                        <a:rPr lang="ru-RU"/>
                        <a:t>ачество товара, Э</a:t>
                      </a:r>
                      <a:r>
                        <a:rPr lang="ru-RU"/>
                        <a:t>ффективность</a:t>
                      </a:r>
                      <a:r>
                        <a:rPr lang="ru-RU"/>
                        <a:t> работы.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</a:tr>
              <a:tr h="600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Отношение к товару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Любое, временное обслуживание(наполнение топливо масло…).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</a:tr>
              <a:tr h="398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Ключевые</a:t>
                      </a:r>
                      <a:r>
                        <a:rPr lang="ru-RU"/>
                        <a:t> драйверу покупки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Цена, </a:t>
                      </a:r>
                      <a:r>
                        <a:rPr lang="ru-RU"/>
                        <a:t>Удобство.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</a:tr>
              <a:tr h="398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Повод для совершения покупки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Неисправность</a:t>
                      </a:r>
                      <a:r>
                        <a:rPr lang="ru-RU"/>
                        <a:t> коммунальщиков зимой.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</a:tr>
              <a:tr h="600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Ожидаемый</a:t>
                      </a:r>
                      <a:r>
                        <a:rPr lang="ru-RU"/>
                        <a:t> результат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Покупатель </a:t>
                      </a:r>
                      <a:r>
                        <a:rPr lang="ru-RU"/>
                        <a:t>избавляет</a:t>
                      </a:r>
                      <a:r>
                        <a:rPr lang="ru-RU"/>
                        <a:t> себя от вопроса связанных с чистки окружение своего города и собственности.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</a:tr>
              <a:tr h="398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Статус </a:t>
                      </a:r>
                      <a:r>
                        <a:rPr lang="ru-RU"/>
                        <a:t>покупателя</a:t>
                      </a:r>
                      <a:r>
                        <a:rPr lang="ru-RU"/>
                        <a:t>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$$$$$ + Дом/Дача.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</a:tr>
              <a:tr h="398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Степень готовности совершить покупку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ru-RU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Любая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</a:tr>
              <a:tr h="398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Степень вовлеченности в покупку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ru-RU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Любая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0ae5f479bf_5_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Социодемографические</a:t>
            </a:r>
            <a:r>
              <a:rPr lang="ru-RU"/>
              <a:t> сегментирование</a:t>
            </a:r>
            <a:endParaRPr/>
          </a:p>
        </p:txBody>
      </p:sp>
      <p:graphicFrame>
        <p:nvGraphicFramePr>
          <p:cNvPr id="134" name="Google Shape;134;g30ae5f479bf_5_9"/>
          <p:cNvGraphicFramePr/>
          <p:nvPr/>
        </p:nvGraphicFramePr>
        <p:xfrm>
          <a:off x="892125" y="169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{2C5268F1-D22B-4333-9716-62DFDBF52120}</a:tableStyleId>
              </a:tblPr>
              <a:tblGrid>
                <a:gridCol w="2632125"/>
                <a:gridCol w="2571750"/>
                <a:gridCol w="2571750"/>
                <a:gridCol w="2571750"/>
              </a:tblGrid>
              <a:tr h="799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800" u="none" cap="none" strike="noStrike">
                          <a:solidFill>
                            <a:schemeClr val="lt1"/>
                          </a:solidFill>
                        </a:rPr>
                        <a:t>Параметр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800">
                          <a:solidFill>
                            <a:schemeClr val="lt1"/>
                          </a:solidFill>
                        </a:rPr>
                        <a:t>Значение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800" u="none" cap="none" strike="noStrike">
                          <a:solidFill>
                            <a:schemeClr val="lt1"/>
                          </a:solidFill>
                        </a:rPr>
                        <a:t>Параметр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800">
                          <a:solidFill>
                            <a:schemeClr val="lt1"/>
                          </a:solidFill>
                        </a:rPr>
                        <a:t>Значение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799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Возраст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/>
                        <a:t>35-60 лет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Род занятий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Прибыльное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</a:tr>
              <a:tr h="799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Уровень дохода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Средний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Образование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Высокое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</a:tr>
              <a:tr h="799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Жизненный цикл семьи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ru-RU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Любая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Сфера работы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$$$$$$$$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</a:tr>
              <a:tr h="799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Наличие, возраст и количество детей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ru-RU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Любая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Важное</a:t>
                      </a:r>
                      <a:r>
                        <a:rPr lang="ru-RU"/>
                        <a:t> </a:t>
                      </a:r>
                      <a:r>
                        <a:rPr lang="ru-RU"/>
                        <a:t>событие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Покупка </a:t>
                      </a:r>
                      <a:r>
                        <a:rPr lang="ru-RU"/>
                        <a:t>упрощающая</a:t>
                      </a:r>
                      <a:r>
                        <a:rPr lang="ru-RU"/>
                        <a:t> жизнь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</a:tr>
              <a:tr h="799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Национальность и </a:t>
                      </a:r>
                      <a:r>
                        <a:rPr lang="ru-RU"/>
                        <a:t>расовая</a:t>
                      </a:r>
                      <a:r>
                        <a:rPr lang="ru-RU"/>
                        <a:t> принадлежность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ru-RU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Любая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Религиозные</a:t>
                      </a:r>
                      <a:r>
                        <a:rPr lang="ru-RU"/>
                        <a:t> </a:t>
                      </a:r>
                      <a:r>
                        <a:rPr lang="ru-RU"/>
                        <a:t>убеждения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Атеисты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Целевая аудитория: сегментация</a:t>
            </a:r>
            <a:endParaRPr/>
          </a:p>
        </p:txBody>
      </p:sp>
      <p:sp>
        <p:nvSpPr>
          <p:cNvPr id="140" name="Google Shape;140;p8"/>
          <p:cNvSpPr txBox="1"/>
          <p:nvPr>
            <p:ph idx="1" type="body"/>
          </p:nvPr>
        </p:nvSpPr>
        <p:spPr>
          <a:xfrm>
            <a:off x="838200" y="1825625"/>
            <a:ext cx="390144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 sz="4000"/>
              <a:t>Владелец загородной недвижимости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 sz="4000"/>
              <a:t>35-60 лет</a:t>
            </a:r>
            <a:endParaRPr/>
          </a:p>
        </p:txBody>
      </p:sp>
      <p:sp>
        <p:nvSpPr>
          <p:cNvPr id="141" name="Google Shape;141;p8"/>
          <p:cNvSpPr txBox="1"/>
          <p:nvPr/>
        </p:nvSpPr>
        <p:spPr>
          <a:xfrm>
            <a:off x="7452362" y="2170430"/>
            <a:ext cx="3901440" cy="8597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0" i="0" lang="ru-RU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Государство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6340" y="3300730"/>
            <a:ext cx="4261359" cy="3192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88582" y="3063875"/>
            <a:ext cx="3429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Целевая аудитория: ядро</a:t>
            </a:r>
            <a:endParaRPr/>
          </a:p>
        </p:txBody>
      </p:sp>
      <p:sp>
        <p:nvSpPr>
          <p:cNvPr id="149" name="Google Shape;149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ru-RU"/>
              <a:t>Средних лет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ru-RU"/>
              <a:t>Нет времени, сил и желания для самостоятельной уборки участка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ru-RU"/>
              <a:t>Доход от 100 тыс руб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ru-RU"/>
              <a:t>Любят загородный образ жизни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Целевая аудитория: портрет</a:t>
            </a:r>
            <a:endParaRPr/>
          </a:p>
        </p:txBody>
      </p:sp>
      <p:sp>
        <p:nvSpPr>
          <p:cNvPr id="155" name="Google Shape;155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ru-RU"/>
              <a:t>Русский европеец средних лет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ru-RU"/>
              <a:t>Сервисы: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ru-RU"/>
              <a:t>Бренды:</a:t>
            </a:r>
            <a:endParaRPr/>
          </a:p>
        </p:txBody>
      </p:sp>
      <p:pic>
        <p:nvPicPr>
          <p:cNvPr id="156" name="Google Shape;156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4700" y="2326425"/>
            <a:ext cx="2261651" cy="111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61247" y="2389447"/>
            <a:ext cx="2574775" cy="9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31124" y="3698500"/>
            <a:ext cx="2261651" cy="3038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15326" y="3990650"/>
            <a:ext cx="2477775" cy="245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019850" y="1934665"/>
            <a:ext cx="2477775" cy="1895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Целевая аудитория: ценностный портрет</a:t>
            </a:r>
            <a:endParaRPr/>
          </a:p>
        </p:txBody>
      </p:sp>
      <p:sp>
        <p:nvSpPr>
          <p:cNvPr id="166" name="Google Shape;166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67" name="Google Shape;167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2" y="1459950"/>
            <a:ext cx="3679375" cy="2237051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1"/>
          <p:cNvSpPr txBox="1"/>
          <p:nvPr/>
        </p:nvSpPr>
        <p:spPr>
          <a:xfrm>
            <a:off x="838200" y="3697000"/>
            <a:ext cx="3539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Любовь к природе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8200" y="4204901"/>
            <a:ext cx="2755175" cy="183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1"/>
          <p:cNvSpPr txBox="1"/>
          <p:nvPr/>
        </p:nvSpPr>
        <p:spPr>
          <a:xfrm>
            <a:off x="838200" y="6037075"/>
            <a:ext cx="791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Физический труд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1"/>
          <p:cNvSpPr txBox="1"/>
          <p:nvPr/>
        </p:nvSpPr>
        <p:spPr>
          <a:xfrm>
            <a:off x="4840475" y="3292125"/>
            <a:ext cx="3082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Предпочтение натуральных продуктов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12849" y="1459949"/>
            <a:ext cx="4153275" cy="311495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1"/>
          <p:cNvSpPr txBox="1"/>
          <p:nvPr/>
        </p:nvSpPr>
        <p:spPr>
          <a:xfrm>
            <a:off x="7767825" y="4574900"/>
            <a:ext cx="4299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Порядок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76163" y="1459950"/>
            <a:ext cx="3239671" cy="183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1"/>
          <p:cNvSpPr txBox="1"/>
          <p:nvPr/>
        </p:nvSpPr>
        <p:spPr>
          <a:xfrm>
            <a:off x="3850950" y="6441950"/>
            <a:ext cx="6759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Классический стиль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93775" y="4204898"/>
            <a:ext cx="2247900" cy="223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1"/>
          <p:cNvSpPr txBox="1"/>
          <p:nvPr/>
        </p:nvSpPr>
        <p:spPr>
          <a:xfrm>
            <a:off x="9781175" y="5875375"/>
            <a:ext cx="2356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Любовь к уединению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1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>
            <a:off x="6242074" y="5082800"/>
            <a:ext cx="3539101" cy="1740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Емкость рынка</a:t>
            </a:r>
            <a:endParaRPr/>
          </a:p>
        </p:txBody>
      </p:sp>
      <p:sp>
        <p:nvSpPr>
          <p:cNvPr id="184" name="Google Shape;184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В общем виде: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/>
              <a:t>	Q = n * q , где Q – общий спрос в штуках, n - количество потребляющих единиц, уровень охвата, q - количество товара, потребляемого единицей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/>
              <a:t>	Q = 1,3 млн * 2 + 2 тыс. * 100 = 4,6 млн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В денежном выражении: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/>
              <a:t>	R = n * q * p, где R – емкость в денежном выражении, p – средняя цена за единицу товара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/>
              <a:t>	R = Q * p = 4,6 млн * 300 тыс. = 1,4 трлн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Конкурентная матрица</a:t>
            </a:r>
            <a:endParaRPr/>
          </a:p>
        </p:txBody>
      </p:sp>
      <p:graphicFrame>
        <p:nvGraphicFramePr>
          <p:cNvPr id="190" name="Google Shape;190;p13"/>
          <p:cNvGraphicFramePr/>
          <p:nvPr/>
        </p:nvGraphicFramePr>
        <p:xfrm>
          <a:off x="657225" y="24447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{314B4638-4748-4096-B324-42C872B7CB7C}</a:tableStyleId>
              </a:tblPr>
              <a:tblGrid>
                <a:gridCol w="2324100"/>
                <a:gridCol w="2038350"/>
                <a:gridCol w="1133475"/>
                <a:gridCol w="1162050"/>
                <a:gridCol w="800100"/>
                <a:gridCol w="1104900"/>
                <a:gridCol w="1295400"/>
                <a:gridCol w="10191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Конкурент\Критерий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Поддерживаемые условия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Скорость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Удобство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ru-RU" sz="1800"/>
                        <a:t>Цена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Расходы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Технологичность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Сумма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Обычные коммунальные услуги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13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Клининг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8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Автономика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21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4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КВАДРОБОТЫ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28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Модель Портера</a:t>
            </a:r>
            <a:endParaRPr/>
          </a:p>
        </p:txBody>
      </p:sp>
      <p:sp>
        <p:nvSpPr>
          <p:cNvPr id="196" name="Google Shape;196;p14"/>
          <p:cNvSpPr txBox="1"/>
          <p:nvPr>
            <p:ph idx="1" type="body"/>
          </p:nvPr>
        </p:nvSpPr>
        <p:spPr>
          <a:xfrm>
            <a:off x="761325" y="4901225"/>
            <a:ext cx="10287000" cy="15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ru-RU"/>
              <a:t>Высокий уровень угрозы со стороны товаров-заменителей - 3б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-RU"/>
              <a:t>Средний уровень внутриотраслевой конкуренции - 7б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97" name="Google Shape;197;p14"/>
          <p:cNvGraphicFramePr/>
          <p:nvPr/>
        </p:nvGraphicFramePr>
        <p:xfrm>
          <a:off x="761325" y="1923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{2C5268F1-D22B-4333-9716-62DFDBF52120}</a:tableStyleId>
              </a:tblPr>
              <a:tblGrid>
                <a:gridCol w="3429000"/>
                <a:gridCol w="5566375"/>
                <a:gridCol w="1291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>
                          <a:solidFill>
                            <a:schemeClr val="lt1"/>
                          </a:solidFill>
                        </a:rPr>
                        <a:t>Параметр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>
                          <a:solidFill>
                            <a:schemeClr val="lt1"/>
                          </a:solidFill>
                        </a:rPr>
                        <a:t>Оценка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>
                          <a:solidFill>
                            <a:schemeClr val="lt1"/>
                          </a:solidFill>
                        </a:rPr>
                        <a:t>Баллы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т</a:t>
                      </a:r>
                      <a:r>
                        <a:rPr lang="ru-RU"/>
                        <a:t>овары-заменители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С</a:t>
                      </a:r>
                      <a:r>
                        <a:rPr lang="ru-RU"/>
                        <a:t>уществуют и занимают высокую долю на рынке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</a:tr>
              <a:tr h="396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количество игроков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Средний уровень насыщения рынка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темп роста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Стагнация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</a:tr>
              <a:tr h="411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уровень дифференциации на рынке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Продукты компаний значимо отличаются между собой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</a:tr>
              <a:tr h="411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ограничение в повышении цен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Всегда есть возможность к повышению цен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0ae5f479bf_0_11"/>
          <p:cNvSpPr txBox="1"/>
          <p:nvPr>
            <p:ph type="title"/>
          </p:nvPr>
        </p:nvSpPr>
        <p:spPr>
          <a:xfrm>
            <a:off x="838200" y="778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Модель Портера</a:t>
            </a:r>
            <a:endParaRPr/>
          </a:p>
        </p:txBody>
      </p:sp>
      <p:graphicFrame>
        <p:nvGraphicFramePr>
          <p:cNvPr id="204" name="Google Shape;204;g30ae5f479bf_0_11"/>
          <p:cNvGraphicFramePr/>
          <p:nvPr/>
        </p:nvGraphicFramePr>
        <p:xfrm>
          <a:off x="777850" y="1200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{2C5268F1-D22B-4333-9716-62DFDBF52120}</a:tableStyleId>
              </a:tblPr>
              <a:tblGrid>
                <a:gridCol w="3489350"/>
                <a:gridCol w="5566375"/>
                <a:gridCol w="1291625"/>
              </a:tblGrid>
              <a:tr h="411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>
                          <a:solidFill>
                            <a:schemeClr val="lt1"/>
                          </a:solidFill>
                        </a:rPr>
                        <a:t>Параметр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>
                          <a:solidFill>
                            <a:schemeClr val="lt1"/>
                          </a:solidFill>
                        </a:rPr>
                        <a:t>Оценка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>
                          <a:solidFill>
                            <a:schemeClr val="lt1"/>
                          </a:solidFill>
                        </a:rPr>
                        <a:t>Баллы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11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>
                          <a:solidFill>
                            <a:srgbClr val="1F1F1F"/>
                          </a:solidFill>
                        </a:rPr>
                        <a:t>Экономия на масштабе при производстве товара или услуги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Существует только у нескольких игроков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</a:tr>
              <a:tr h="411750">
                <a:tc>
                  <a:txBody>
                    <a:bodyPr/>
                    <a:lstStyle/>
                    <a:p>
                      <a:pPr indent="0" lvl="0" marL="25400" marR="25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Сильные марки с высоким уровнем знания и лояльности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Крупный игрок держит более 80% рынка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</a:tr>
              <a:tr h="411750">
                <a:tc>
                  <a:txBody>
                    <a:bodyPr/>
                    <a:lstStyle/>
                    <a:p>
                      <a:pPr indent="0" lvl="0" marL="25400" marR="25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Дифференциация продукта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Низкий уровень разнообразия товара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</a:tr>
              <a:tr h="411750">
                <a:tc>
                  <a:txBody>
                    <a:bodyPr/>
                    <a:lstStyle/>
                    <a:p>
                      <a:pPr indent="0" lvl="0" marL="25400" marR="25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Уровень инвестиций и затрат для входа в отрасль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Высокий окупается более чем за год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</a:tr>
              <a:tr h="411750">
                <a:tc>
                  <a:txBody>
                    <a:bodyPr/>
                    <a:lstStyle/>
                    <a:p>
                      <a:pPr indent="0" lvl="0" marL="25400" marR="25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Доступ к каналам распределения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Требует умеренных инвестиций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</a:tr>
              <a:tr h="411750">
                <a:tc>
                  <a:txBody>
                    <a:bodyPr/>
                    <a:lstStyle/>
                    <a:p>
                      <a:pPr indent="0" lvl="0" marL="25400" marR="25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Политика правительства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Нет ограничений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</a:tr>
              <a:tr h="411750">
                <a:tc>
                  <a:txBody>
                    <a:bodyPr/>
                    <a:lstStyle/>
                    <a:p>
                      <a:pPr indent="0" lvl="0" marL="25400" marR="25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Готовность существующих игроков к снижению цен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Не пойдут на снижение цен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</a:tr>
              <a:tr h="411750">
                <a:tc>
                  <a:txBody>
                    <a:bodyPr/>
                    <a:lstStyle/>
                    <a:p>
                      <a:pPr indent="0" lvl="0" marL="25400" marR="25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Темп роста отрасли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Стагнация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</a:tr>
            </a:tbl>
          </a:graphicData>
        </a:graphic>
      </p:graphicFrame>
      <p:sp>
        <p:nvSpPr>
          <p:cNvPr id="205" name="Google Shape;205;g30ae5f479bf_0_11"/>
          <p:cNvSpPr txBox="1"/>
          <p:nvPr/>
        </p:nvSpPr>
        <p:spPr>
          <a:xfrm>
            <a:off x="838200" y="6020500"/>
            <a:ext cx="8856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Средний уровень угрозы входа новых игроков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0aebfb84a9_0_4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Модель Портера</a:t>
            </a:r>
            <a:endParaRPr/>
          </a:p>
        </p:txBody>
      </p:sp>
      <p:graphicFrame>
        <p:nvGraphicFramePr>
          <p:cNvPr id="212" name="Google Shape;212;g30aebfb84a9_0_43"/>
          <p:cNvGraphicFramePr/>
          <p:nvPr/>
        </p:nvGraphicFramePr>
        <p:xfrm>
          <a:off x="702225" y="1690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{2C5268F1-D22B-4333-9716-62DFDBF52120}</a:tableStyleId>
              </a:tblPr>
              <a:tblGrid>
                <a:gridCol w="3429000"/>
                <a:gridCol w="5566375"/>
                <a:gridCol w="1291625"/>
              </a:tblGrid>
              <a:tr h="411750">
                <a:tc>
                  <a:txBody>
                    <a:bodyPr/>
                    <a:lstStyle/>
                    <a:p>
                      <a:pPr indent="0" lvl="0" marL="25400" marR="25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>
                          <a:solidFill>
                            <a:schemeClr val="lt1"/>
                          </a:solidFill>
                        </a:rPr>
                        <a:t>Параметр</a:t>
                      </a:r>
                      <a:endParaRPr>
                        <a:solidFill>
                          <a:schemeClr val="lt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>
                          <a:solidFill>
                            <a:schemeClr val="lt1"/>
                          </a:solidFill>
                        </a:rPr>
                        <a:t>Оценка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>
                          <a:solidFill>
                            <a:schemeClr val="lt1"/>
                          </a:solidFill>
                        </a:rPr>
                        <a:t>Баллы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11750">
                <a:tc>
                  <a:txBody>
                    <a:bodyPr/>
                    <a:lstStyle/>
                    <a:p>
                      <a:pPr indent="0" lvl="0" marL="25400" marR="25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Доля покупателей с большим объемом продаж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Более 80% продаж приходится на нескольких клиентов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</a:tr>
              <a:tr h="411750">
                <a:tc>
                  <a:txBody>
                    <a:bodyPr/>
                    <a:lstStyle/>
                    <a:p>
                      <a:pPr indent="0" lvl="0" marL="25400" marR="25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Склонность к переключению на товары субституты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Есть отличительные характеристики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</a:tr>
              <a:tr h="411750">
                <a:tc>
                  <a:txBody>
                    <a:bodyPr/>
                    <a:lstStyle/>
                    <a:p>
                      <a:pPr indent="0" lvl="0" marL="25400" marR="25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Чувствительность к цене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Не чувствителен к цене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</a:tr>
              <a:tr h="411750">
                <a:tc>
                  <a:txBody>
                    <a:bodyPr/>
                    <a:lstStyle/>
                    <a:p>
                      <a:pPr indent="0" lvl="0" marL="25400" marR="25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Потребители не удовлетворены качеством существующего на рынке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25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Неудовлетворенность ключевыми характеристиками товара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</a:tr>
            </a:tbl>
          </a:graphicData>
        </a:graphic>
      </p:graphicFrame>
      <p:sp>
        <p:nvSpPr>
          <p:cNvPr id="213" name="Google Shape;213;g30aebfb84a9_0_43"/>
          <p:cNvSpPr txBox="1"/>
          <p:nvPr/>
        </p:nvSpPr>
        <p:spPr>
          <a:xfrm>
            <a:off x="702225" y="4944125"/>
            <a:ext cx="8856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Высокий уровень угрозы потери клиентов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0aebfb84a9_0_5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Модель Портера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0aebfb84a9_0_51"/>
          <p:cNvSpPr txBox="1"/>
          <p:nvPr>
            <p:ph idx="1" type="body"/>
          </p:nvPr>
        </p:nvSpPr>
        <p:spPr>
          <a:xfrm>
            <a:off x="838200" y="4647925"/>
            <a:ext cx="10515600" cy="757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5. Высокий уровень влияния поставщиков</a:t>
            </a:r>
            <a:endParaRPr/>
          </a:p>
        </p:txBody>
      </p:sp>
      <p:graphicFrame>
        <p:nvGraphicFramePr>
          <p:cNvPr id="221" name="Google Shape;221;g30aebfb84a9_0_51"/>
          <p:cNvGraphicFramePr/>
          <p:nvPr/>
        </p:nvGraphicFramePr>
        <p:xfrm>
          <a:off x="838200" y="1825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{2C5268F1-D22B-4333-9716-62DFDBF52120}</a:tableStyleId>
              </a:tblPr>
              <a:tblGrid>
                <a:gridCol w="3429000"/>
                <a:gridCol w="5566375"/>
                <a:gridCol w="1291625"/>
              </a:tblGrid>
              <a:tr h="411750">
                <a:tc>
                  <a:txBody>
                    <a:bodyPr/>
                    <a:lstStyle/>
                    <a:p>
                      <a:pPr indent="0" lvl="0" marL="25400" marR="25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>
                          <a:solidFill>
                            <a:schemeClr val="lt1"/>
                          </a:solidFill>
                        </a:rPr>
                        <a:t>Параметр</a:t>
                      </a:r>
                      <a:endParaRPr>
                        <a:solidFill>
                          <a:schemeClr val="lt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>
                          <a:solidFill>
                            <a:schemeClr val="lt1"/>
                          </a:solidFill>
                        </a:rPr>
                        <a:t>Оценка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>
                          <a:solidFill>
                            <a:schemeClr val="lt1"/>
                          </a:solidFill>
                        </a:rPr>
                        <a:t>Баллы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11750">
                <a:tc>
                  <a:txBody>
                    <a:bodyPr/>
                    <a:lstStyle/>
                    <a:p>
                      <a:pPr indent="0" lvl="0" marL="25400" marR="25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Количество поставщиков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Широкий выбор поставщиков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</a:tr>
              <a:tr h="411750">
                <a:tc>
                  <a:txBody>
                    <a:bodyPr/>
                    <a:lstStyle/>
                    <a:p>
                      <a:pPr indent="0" lvl="0" marL="25400" marR="25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Ограниченность ресурсов поставщиков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Ограниченность в объемах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</a:tr>
              <a:tr h="411750">
                <a:tc>
                  <a:txBody>
                    <a:bodyPr/>
                    <a:lstStyle/>
                    <a:p>
                      <a:pPr indent="0" lvl="0" marL="25400" marR="25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Издержки переключения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Высокие издержки к переключению на других поставщиков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</a:tr>
              <a:tr h="411750">
                <a:tc>
                  <a:txBody>
                    <a:bodyPr/>
                    <a:lstStyle/>
                    <a:p>
                      <a:pPr indent="0" lvl="0" marL="25400" marR="25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Приоритетность направления для поставщика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Средняя приоритетность отрасли для поставщиков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"/>
          <p:cNvSpPr txBox="1"/>
          <p:nvPr>
            <p:ph type="title"/>
          </p:nvPr>
        </p:nvSpPr>
        <p:spPr>
          <a:xfrm>
            <a:off x="257175" y="1974850"/>
            <a:ext cx="371475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-RU"/>
              <a:t>Карта </a:t>
            </a:r>
            <a:br>
              <a:rPr lang="ru-RU"/>
            </a:br>
            <a:r>
              <a:rPr lang="ru-RU"/>
              <a:t>позиционирования</a:t>
            </a:r>
            <a:endParaRPr/>
          </a:p>
        </p:txBody>
      </p:sp>
      <p:pic>
        <p:nvPicPr>
          <p:cNvPr id="227" name="Google Shape;227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4463" y="204723"/>
            <a:ext cx="6889800" cy="618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1018fcd1f2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С</a:t>
            </a:r>
            <a:r>
              <a:rPr lang="ru-RU"/>
              <a:t>тратегия развития</a:t>
            </a:r>
            <a:endParaRPr/>
          </a:p>
        </p:txBody>
      </p:sp>
      <p:pic>
        <p:nvPicPr>
          <p:cNvPr id="234" name="Google Shape;234;g31018fcd1f2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7200" y="1690825"/>
            <a:ext cx="10946750" cy="456657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g31018fcd1f2_0_0"/>
          <p:cNvSpPr/>
          <p:nvPr/>
        </p:nvSpPr>
        <p:spPr>
          <a:xfrm>
            <a:off x="1547800" y="4087800"/>
            <a:ext cx="4590600" cy="939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1018fcd1f2_0_2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Стратегия развития</a:t>
            </a:r>
            <a:endParaRPr/>
          </a:p>
        </p:txBody>
      </p:sp>
      <p:sp>
        <p:nvSpPr>
          <p:cNvPr id="242" name="Google Shape;242;g31018fcd1f2_0_2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Стратегия: продуктовое лидерство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Увеличение доли рынка — это превращение «трудных детей» в «звезд» с помощью переноса в них инвестиций из других категорий продуктов. При таком подходе компания обычно терпит краткосрочные убытки в расчете на дальнейшую прибыль от новых «звезд».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1018fcd1f2_0_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Продукт</a:t>
            </a:r>
            <a:endParaRPr/>
          </a:p>
        </p:txBody>
      </p:sp>
      <p:graphicFrame>
        <p:nvGraphicFramePr>
          <p:cNvPr id="249" name="Google Shape;249;g31018fcd1f2_0_7"/>
          <p:cNvGraphicFramePr/>
          <p:nvPr/>
        </p:nvGraphicFramePr>
        <p:xfrm>
          <a:off x="657225" y="21406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{314B4638-4748-4096-B324-42C872B7CB7C}</a:tableStyleId>
              </a:tblPr>
              <a:tblGrid>
                <a:gridCol w="2324100"/>
                <a:gridCol w="2038350"/>
                <a:gridCol w="1133475"/>
                <a:gridCol w="1162050"/>
                <a:gridCol w="800100"/>
                <a:gridCol w="1104900"/>
                <a:gridCol w="1295400"/>
                <a:gridCol w="1019175"/>
              </a:tblGrid>
              <a:tr h="3708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Конкурент\Критерий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  <a:tc gridSpan="6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Атрибуты</a:t>
                      </a:r>
                      <a:endParaRPr sz="1800"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Баллы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Поддерживаемые условия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Скорость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Удобство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ru-RU" sz="1800"/>
                        <a:t>Цена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Расходы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Технологичность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Сумма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Обычные коммунальные услуги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2.1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Клининг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1.8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8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Автономика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3.6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4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КВАДРОБОТЫ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4.7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4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Важность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0.2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0.2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0.1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0.2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0.1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0.2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/>
                        <a:t>1.00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1018fcd1f2_0_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Продукт. Имплицитная ценность</a:t>
            </a:r>
            <a:endParaRPr/>
          </a:p>
        </p:txBody>
      </p:sp>
      <p:sp>
        <p:nvSpPr>
          <p:cNvPr id="256" name="Google Shape;256;g31018fcd1f2_0_1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Как и в какой момент эти ценности удовлетворяются?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1. </a:t>
            </a:r>
            <a:r>
              <a:rPr lang="ru-RU"/>
              <a:t>Во время покупки продукта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2. Во время применения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3. По окончании применения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4. Ценность удовлетворена надолго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5. Удовлетворение сопровождается чувствами наслаждения чистоты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1018fcd1f2_0_3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Продукт. Жизненный цикл</a:t>
            </a:r>
            <a:endParaRPr/>
          </a:p>
        </p:txBody>
      </p:sp>
      <p:pic>
        <p:nvPicPr>
          <p:cNvPr id="263" name="Google Shape;263;g31018fcd1f2_0_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075" y="2357900"/>
            <a:ext cx="11419426" cy="272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9" name="Google Shape;269;g31018fcd1f2_0_44"/>
          <p:cNvGraphicFramePr/>
          <p:nvPr/>
        </p:nvGraphicFramePr>
        <p:xfrm>
          <a:off x="166938" y="853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{2C5268F1-D22B-4333-9716-62DFDBF52120}</a:tableStyleId>
              </a:tblPr>
              <a:tblGrid>
                <a:gridCol w="3876275"/>
                <a:gridCol w="3876275"/>
                <a:gridCol w="3876275"/>
              </a:tblGrid>
              <a:tr h="507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>
                          <a:solidFill>
                            <a:schemeClr val="lt1"/>
                          </a:solidFill>
                        </a:rPr>
                        <a:t>Характеристики экономической и конкурентной среды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>
                          <a:solidFill>
                            <a:schemeClr val="lt1"/>
                          </a:solidFill>
                        </a:rPr>
                        <a:t>Приоритетные цели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>
                          <a:solidFill>
                            <a:schemeClr val="lt1"/>
                          </a:solidFill>
                        </a:rPr>
                        <a:t>Маркетинговая программа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1014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700">
                          <a:solidFill>
                            <a:schemeClr val="dk1"/>
                          </a:solidFill>
                        </a:rPr>
                        <a:t>Проблемы с технологией</a:t>
                      </a:r>
                      <a:r>
                        <a:rPr lang="ru-RU" sz="1700">
                          <a:solidFill>
                            <a:schemeClr val="dk1"/>
                          </a:solidFill>
                        </a:rPr>
                        <a:t>: технология еще недостаточно освоена, возможны технические трудности.</a:t>
                      </a:r>
                      <a:endParaRPr sz="17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700">
                          <a:solidFill>
                            <a:schemeClr val="dk1"/>
                          </a:solidFill>
                        </a:rPr>
                        <a:t>Добиться известности товара</a:t>
                      </a:r>
                      <a:r>
                        <a:rPr lang="ru-RU" sz="1700">
                          <a:solidFill>
                            <a:schemeClr val="dk1"/>
                          </a:solidFill>
                        </a:rPr>
                        <a:t>: создать осведомленность о продукте и его преимуществах</a:t>
                      </a:r>
                      <a:endParaRPr sz="17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700">
                          <a:solidFill>
                            <a:schemeClr val="dk1"/>
                          </a:solidFill>
                        </a:rPr>
                        <a:t>Информационная кампания</a:t>
                      </a:r>
                      <a:r>
                        <a:rPr lang="ru-RU" sz="1700">
                          <a:solidFill>
                            <a:schemeClr val="dk1"/>
                          </a:solidFill>
                        </a:rPr>
                        <a:t>: объявления в СМИ, на выставках, социальных платформах</a:t>
                      </a:r>
                      <a:endParaRPr sz="17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</a:tr>
              <a:tr h="1230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700"/>
                        <a:t>Стагнация рынка: с</a:t>
                      </a:r>
                      <a:r>
                        <a:rPr lang="ru-RU" sz="1700"/>
                        <a:t>уществует определенная конкуренция, однако рынок не развивается стремительно.</a:t>
                      </a:r>
                      <a:endParaRPr sz="17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7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700">
                          <a:solidFill>
                            <a:schemeClr val="dk1"/>
                          </a:solidFill>
                        </a:rPr>
                        <a:t>Ввести товар в сбытовые сети</a:t>
                      </a:r>
                      <a:r>
                        <a:rPr lang="ru-RU" sz="1700">
                          <a:solidFill>
                            <a:schemeClr val="dk1"/>
                          </a:solidFill>
                        </a:rPr>
                        <a:t>: обеспечить наличие продукта в розничных точках и онлайн-ресурсах.</a:t>
                      </a:r>
                      <a:endParaRPr sz="17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700">
                          <a:solidFill>
                            <a:schemeClr val="dk1"/>
                          </a:solidFill>
                        </a:rPr>
                        <a:t>Промо-акции и скидки</a:t>
                      </a:r>
                      <a:r>
                        <a:rPr lang="ru-RU" sz="1700">
                          <a:solidFill>
                            <a:schemeClr val="dk1"/>
                          </a:solidFill>
                        </a:rPr>
                        <a:t>: предложить выгодные условия на начальной стадии, чтобы привлечь клиентов</a:t>
                      </a:r>
                      <a:endParaRPr sz="17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</a:tr>
              <a:tr h="1014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700">
                          <a:solidFill>
                            <a:schemeClr val="dk1"/>
                          </a:solidFill>
                        </a:rPr>
                        <a:t>Низкая осведомленность о новых технологиях: </a:t>
                      </a:r>
                      <a:r>
                        <a:rPr lang="ru-RU" sz="1700">
                          <a:solidFill>
                            <a:schemeClr val="dk1"/>
                          </a:solidFill>
                        </a:rPr>
                        <a:t>потребители могут не понимать всей ценности нового продукта.</a:t>
                      </a:r>
                      <a:endParaRPr sz="17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700">
                          <a:solidFill>
                            <a:schemeClr val="dk1"/>
                          </a:solidFill>
                        </a:rPr>
                        <a:t>Информирование рынка о выгодах инновации</a:t>
                      </a:r>
                      <a:r>
                        <a:rPr lang="ru-RU" sz="1700">
                          <a:solidFill>
                            <a:schemeClr val="dk1"/>
                          </a:solidFill>
                        </a:rPr>
                        <a:t>: донести, как продукт решает повседневные проблемы.</a:t>
                      </a:r>
                      <a:endParaRPr sz="17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700">
                          <a:solidFill>
                            <a:schemeClr val="dk1"/>
                          </a:solidFill>
                        </a:rPr>
                        <a:t>Демонстрация возможностей продукта</a:t>
                      </a:r>
                      <a:r>
                        <a:rPr lang="ru-RU" sz="1700">
                          <a:solidFill>
                            <a:schemeClr val="dk1"/>
                          </a:solidFill>
                        </a:rPr>
                        <a:t>: создание видеороликов и постов, показывающих, как робот выполняет задачи.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</a:tr>
              <a:tr h="1230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700">
                          <a:solidFill>
                            <a:schemeClr val="dk1"/>
                          </a:solidFill>
                        </a:rPr>
                        <a:t>Высокая конкуренция со стороны подражателей: </a:t>
                      </a:r>
                      <a:r>
                        <a:rPr lang="ru-RU" sz="1700">
                          <a:solidFill>
                            <a:schemeClr val="dk1"/>
                          </a:solidFill>
                        </a:rPr>
                        <a:t>возможно быстрое копирование технологии другими игроками.</a:t>
                      </a:r>
                      <a:endParaRPr sz="17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700">
                          <a:solidFill>
                            <a:schemeClr val="dk1"/>
                          </a:solidFill>
                        </a:rPr>
                        <a:t>Селективная система сбыта</a:t>
                      </a:r>
                      <a:r>
                        <a:rPr lang="ru-RU" sz="1700">
                          <a:solidFill>
                            <a:schemeClr val="dk1"/>
                          </a:solidFill>
                        </a:rPr>
                        <a:t>: продвигать продукт через ограниченные каналы продаж для создания эксклюзивности</a:t>
                      </a:r>
                      <a:endParaRPr sz="17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700">
                          <a:solidFill>
                            <a:schemeClr val="dk1"/>
                          </a:solidFill>
                        </a:rPr>
                        <a:t>Рекламные статьи и пресс-релизы</a:t>
                      </a:r>
                      <a:r>
                        <a:rPr lang="ru-RU" sz="1700">
                          <a:solidFill>
                            <a:schemeClr val="dk1"/>
                          </a:solidFill>
                        </a:rPr>
                        <a:t>: публикации в популярных изданиях о преимуществах использования роботов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</a:tr>
            </a:tbl>
          </a:graphicData>
        </a:graphic>
      </p:graphicFrame>
      <p:sp>
        <p:nvSpPr>
          <p:cNvPr id="270" name="Google Shape;270;g31018fcd1f2_0_44"/>
          <p:cNvSpPr txBox="1"/>
          <p:nvPr>
            <p:ph type="title"/>
          </p:nvPr>
        </p:nvSpPr>
        <p:spPr>
          <a:xfrm>
            <a:off x="838200" y="0"/>
            <a:ext cx="10515600" cy="853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Фаза введения товара на рынок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146e177390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Цена на основе МПЦ</a:t>
            </a:r>
            <a:endParaRPr/>
          </a:p>
        </p:txBody>
      </p:sp>
      <p:sp>
        <p:nvSpPr>
          <p:cNvPr id="277" name="Google Shape;277;g3146e177390_0_0"/>
          <p:cNvSpPr txBox="1"/>
          <p:nvPr>
            <p:ph idx="1" type="body"/>
          </p:nvPr>
        </p:nvSpPr>
        <p:spPr>
          <a:xfrm>
            <a:off x="838200" y="19018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55000"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1. </a:t>
            </a:r>
            <a:r>
              <a:rPr lang="ru-RU" u="sng"/>
              <a:t>Ч</a:t>
            </a:r>
            <a:r>
              <a:rPr lang="ru-RU" u="sng"/>
              <a:t>то может потерять клиент, если не купит мой товар</a:t>
            </a:r>
            <a:r>
              <a:rPr lang="ru-RU"/>
              <a:t>?</a:t>
            </a:r>
            <a:r>
              <a:rPr b="1" lang="ru-RU"/>
              <a:t>  Время, качество, эффективность, здоровье, удобство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2.</a:t>
            </a:r>
            <a:r>
              <a:rPr lang="ru-RU" u="sng"/>
              <a:t>Совокупность применений</a:t>
            </a:r>
            <a:r>
              <a:rPr lang="ru-RU"/>
              <a:t>: </a:t>
            </a:r>
            <a:r>
              <a:rPr b="1" lang="ru-RU"/>
              <a:t>Облагораживание и очистка территорий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u="sng"/>
              <a:t>Условия применения</a:t>
            </a:r>
            <a:r>
              <a:rPr lang="ru-RU"/>
              <a:t>: </a:t>
            </a:r>
            <a:r>
              <a:rPr b="1" lang="ru-RU"/>
              <a:t>Любые погодные условия, размеры участка, необходимо наличие электричества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3.</a:t>
            </a:r>
            <a:r>
              <a:rPr lang="ru-RU" u="sng"/>
              <a:t>Неценовые достоинства товара</a:t>
            </a:r>
            <a:endParaRPr u="sng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Обьективные: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- </a:t>
            </a:r>
            <a:r>
              <a:rPr b="1" lang="ru-RU"/>
              <a:t>Многофункциональность</a:t>
            </a:r>
            <a:r>
              <a:rPr lang="ru-RU"/>
              <a:t>: Замена модулей позволяет использовать робота как летом, так и зимой (уборка снега, прополка, стрижка газона).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- </a:t>
            </a:r>
            <a:r>
              <a:rPr b="1" lang="ru-RU"/>
              <a:t>Экологичность</a:t>
            </a:r>
            <a:r>
              <a:rPr lang="ru-RU"/>
              <a:t>: Использование электричества вместо бензина, что снижает уровень загрязнения.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- </a:t>
            </a:r>
            <a:r>
              <a:rPr b="1" lang="ru-RU"/>
              <a:t>Автономность</a:t>
            </a:r>
            <a:r>
              <a:rPr lang="ru-RU"/>
              <a:t>: Сразу несколько режимов работы и возможность программирования задач.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Субьективные 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- </a:t>
            </a:r>
            <a:r>
              <a:rPr b="1" lang="ru-RU"/>
              <a:t>Комфорт и удобство</a:t>
            </a:r>
            <a:r>
              <a:rPr lang="ru-RU"/>
              <a:t>: Освобождает время для других дел и отдыха, что особенно ценно для дачников и занятого населения.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- </a:t>
            </a:r>
            <a:r>
              <a:rPr b="1" lang="ru-RU"/>
              <a:t>Современные технологии</a:t>
            </a:r>
            <a:r>
              <a:rPr lang="ru-RU"/>
              <a:t>: Может вызвать восхищение, когда друзья увидят, как робот справляется с работой.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- </a:t>
            </a:r>
            <a:r>
              <a:rPr b="1" lang="ru-RU"/>
              <a:t>Уверенность в качестве уборки</a:t>
            </a:r>
            <a:r>
              <a:rPr lang="ru-RU"/>
              <a:t>: Возможность получить качественное выполнение задач без лишних усилий.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146e177390_1_1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Цена на основе МПЦ</a:t>
            </a:r>
            <a:endParaRPr/>
          </a:p>
        </p:txBody>
      </p:sp>
      <p:sp>
        <p:nvSpPr>
          <p:cNvPr id="284" name="Google Shape;284;g3146e177390_1_1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62500"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ru-RU"/>
              <a:t>4.</a:t>
            </a:r>
            <a:r>
              <a:rPr lang="ru-RU" u="sng"/>
              <a:t>Неценовые издержки покупателя при использовании</a:t>
            </a:r>
            <a:r>
              <a:rPr lang="ru-RU"/>
              <a:t> товара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Обьективные: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- </a:t>
            </a:r>
            <a:r>
              <a:rPr b="1" lang="ru-RU"/>
              <a:t>Затраты на обслуживание</a:t>
            </a:r>
            <a:r>
              <a:rPr lang="ru-RU"/>
              <a:t>: Периодическая покупка сменных модулей и техобслуживание робота.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ru-RU"/>
              <a:t>- </a:t>
            </a:r>
            <a:r>
              <a:rPr b="1" lang="ru-RU"/>
              <a:t>Энергетические расходы</a:t>
            </a:r>
            <a:r>
              <a:rPr lang="ru-RU"/>
              <a:t>: Повышение счетов за электроэнергию, хотя и незначительное.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Субьективные: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- </a:t>
            </a:r>
            <a:r>
              <a:rPr b="1" lang="ru-RU"/>
              <a:t>Привыкание к технологии</a:t>
            </a:r>
            <a:r>
              <a:rPr lang="ru-RU"/>
              <a:t>: Поначалу может быть некомфортно доверить такую работу роботу, особенно у людей с консервативным подходом.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ru-RU"/>
              <a:t>- </a:t>
            </a:r>
            <a:r>
              <a:rPr b="1" lang="ru-RU"/>
              <a:t>Страх поломки</a:t>
            </a:r>
            <a:r>
              <a:rPr lang="ru-RU"/>
              <a:t>: Возможно, возникнет тревога из-за теоретической возможности поломки устройства, что может вызывать стресс.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5.Уровень равновесия «достоинства-издержки», соответствующий максимальной приемлемой цене.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1,2 млн - достоинства за 5 лет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850 тыс - издержки за 5 лет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ru-RU"/>
              <a:t>1,2 - 0.85 = 350 тыс - уровень равновесия (максимально приемлемая цена)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146e177390_1_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Метод Van Westendorp «Price Sensitivity Meter» для расчета МПЦ</a:t>
            </a:r>
            <a:endParaRPr/>
          </a:p>
        </p:txBody>
      </p:sp>
      <p:pic>
        <p:nvPicPr>
          <p:cNvPr id="291" name="Google Shape;291;g3146e177390_1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3525" y="1656575"/>
            <a:ext cx="7313550" cy="520142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g3146e177390_1_1"/>
          <p:cNvSpPr/>
          <p:nvPr/>
        </p:nvSpPr>
        <p:spPr>
          <a:xfrm>
            <a:off x="5129100" y="5631250"/>
            <a:ext cx="261600" cy="261600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19ffd36927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Продвижение</a:t>
            </a:r>
            <a:endParaRPr/>
          </a:p>
        </p:txBody>
      </p:sp>
      <p:sp>
        <p:nvSpPr>
          <p:cNvPr id="299" name="Google Shape;299;g319ffd36927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00" name="Google Shape;300;g319ffd36927_0_0"/>
          <p:cNvGraphicFramePr/>
          <p:nvPr/>
        </p:nvGraphicFramePr>
        <p:xfrm>
          <a:off x="518213" y="1505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{2C5268F1-D22B-4333-9716-62DFDBF52120}</a:tableStyleId>
              </a:tblPr>
              <a:tblGrid>
                <a:gridCol w="707900"/>
                <a:gridCol w="3941775"/>
                <a:gridCol w="1690775"/>
                <a:gridCol w="2113500"/>
                <a:gridCol w="2648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lt1"/>
                          </a:solidFill>
                        </a:rPr>
                        <a:t>№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lt1"/>
                          </a:solidFill>
                        </a:rPr>
                        <a:t>Заголовок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lt1"/>
                          </a:solidFill>
                        </a:rPr>
                        <a:t>Цель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lt1"/>
                          </a:solidFill>
                        </a:rPr>
                        <a:t>Рубрика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lt1"/>
                          </a:solidFill>
                        </a:rPr>
                        <a:t>Аудитория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Роботы будущего уже здесь!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привлечение новых покупателей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реклама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частники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Современные решения для чистых городов: роботы-уборщики для муниципальных нужд!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повышение продаж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Новости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государство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Умный помощник на даче: роботы-уборщики – ваш ключ к чистоте!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повышение продаж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Новости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частники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Как выбрать идеального помощника для дачной уборки: советы по покупке робота-уборщика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привлечение покупателей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Советы и рекомендации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частники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Роботы-уборщики на даче: какие функции действительно важны?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повышение продаж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Советы и рекомендации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частники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Топ-5 советов по уходу за вашим коммунальным роботом на даче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привлечение покупателей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Советы и рекомендации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частники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19ffd36927_6_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Продвижение</a:t>
            </a:r>
            <a:endParaRPr/>
          </a:p>
        </p:txBody>
      </p:sp>
      <p:sp>
        <p:nvSpPr>
          <p:cNvPr id="307" name="Google Shape;307;g319ffd36927_6_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08" name="Google Shape;308;g319ffd36927_6_6"/>
          <p:cNvGraphicFramePr/>
          <p:nvPr/>
        </p:nvGraphicFramePr>
        <p:xfrm>
          <a:off x="563938" y="1825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{2C5268F1-D22B-4333-9716-62DFDBF52120}</a:tableStyleId>
              </a:tblPr>
              <a:tblGrid>
                <a:gridCol w="724425"/>
                <a:gridCol w="4033750"/>
                <a:gridCol w="1730225"/>
                <a:gridCol w="2162800"/>
                <a:gridCol w="2710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lt1"/>
                          </a:solidFill>
                        </a:rPr>
                        <a:t>№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lt1"/>
                          </a:solidFill>
                        </a:rPr>
                        <a:t>Заголовок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lt1"/>
                          </a:solidFill>
                        </a:rPr>
                        <a:t>Цель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lt1"/>
                          </a:solidFill>
                        </a:rPr>
                        <a:t>Рубрика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lt1"/>
                          </a:solidFill>
                        </a:rPr>
                        <a:t>Аудитория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Мой робот-уборщик: реальный опыт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повышение лояльности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Отзывы покупателей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частники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Моя дача стала чище благодаря этому устройству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повышение лояльности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Отзывы покупателей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частники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Осенняя</a:t>
                      </a:r>
                      <a:r>
                        <a:rPr lang="ru-RU">
                          <a:solidFill>
                            <a:schemeClr val="dk1"/>
                          </a:solidFill>
                        </a:rPr>
                        <a:t> акция: чистый двор без усилий! Скидки на роботов-уборщиков до 30%!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повышение продаж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Акции и скидки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частиники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10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Черная пятница!!! Успей купить по супер скидке в 50%!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повышение продаж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Акции и скидки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частники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11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Подарок к Новому году: скидка 10% на всех роботов-уборщиков для дачников!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повышение продаж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Акции и скидки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частники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12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Представляем обновленную линейку роботов-уборщиков: теперь еще эффективнее!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привлечение покупателей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Новости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частники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19ffd36927_0_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УТП (Уникальное Товарное Предложение)</a:t>
            </a:r>
            <a:endParaRPr/>
          </a:p>
        </p:txBody>
      </p:sp>
      <p:sp>
        <p:nvSpPr>
          <p:cNvPr id="315" name="Google Shape;315;g319ffd36927_0_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ru-RU" sz="2400">
                <a:latin typeface="Roboto"/>
                <a:ea typeface="Roboto"/>
                <a:cs typeface="Roboto"/>
                <a:sym typeface="Roboto"/>
              </a:rPr>
              <a:t>B2C (упор на сегментирование) 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2400">
                <a:latin typeface="Roboto"/>
                <a:ea typeface="Roboto"/>
                <a:cs typeface="Roboto"/>
                <a:sym typeface="Roboto"/>
              </a:rPr>
              <a:t>“Квадроботы - будущее уже у вас за окном”</a:t>
            </a:r>
            <a:endParaRPr i="1"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ru-RU" sz="2400">
                <a:latin typeface="Roboto"/>
                <a:ea typeface="Roboto"/>
                <a:cs typeface="Roboto"/>
                <a:sym typeface="Roboto"/>
              </a:rPr>
              <a:t>B2B (упор на боль заказчика - государства) 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1" lang="ru-RU" sz="2400">
                <a:latin typeface="Roboto"/>
                <a:ea typeface="Roboto"/>
                <a:cs typeface="Roboto"/>
                <a:sym typeface="Roboto"/>
              </a:rPr>
              <a:t>“</a:t>
            </a:r>
            <a:r>
              <a:rPr i="1" lang="ru-RU" sz="2400">
                <a:latin typeface="Roboto"/>
                <a:ea typeface="Roboto"/>
                <a:cs typeface="Roboto"/>
                <a:sym typeface="Roboto"/>
              </a:rPr>
              <a:t>Квадроботы. Робот - самый надëжный подрядчик”</a:t>
            </a:r>
            <a:endParaRPr i="1" sz="24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19ffd36927_4_2"/>
          <p:cNvSpPr txBox="1"/>
          <p:nvPr>
            <p:ph type="title"/>
          </p:nvPr>
        </p:nvSpPr>
        <p:spPr>
          <a:xfrm>
            <a:off x="8790125" y="321650"/>
            <a:ext cx="17181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Сбыт</a:t>
            </a:r>
            <a:endParaRPr/>
          </a:p>
        </p:txBody>
      </p:sp>
      <p:pic>
        <p:nvPicPr>
          <p:cNvPr id="322" name="Google Shape;322;g319ffd36927_4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5525" y="1608148"/>
            <a:ext cx="6162301" cy="492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g319ffd36927_4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550" y="321662"/>
            <a:ext cx="3887200" cy="6214675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g319ffd36927_4_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https://vk.com/club228447812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g319ffd36927_4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425" y="823913"/>
            <a:ext cx="7124700" cy="521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g319ffd36927_4_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4600" y="1760450"/>
            <a:ext cx="6499151" cy="492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19ffd36927_4_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8" name="Google Shape;338;g319ffd36927_4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"/>
            <a:ext cx="7585702" cy="3867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g319ffd36927_4_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456020"/>
            <a:ext cx="5465450" cy="3287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g319ffd36927_4_18"/>
          <p:cNvPicPr preferRelativeResize="0"/>
          <p:nvPr/>
        </p:nvPicPr>
        <p:blipFill rotWithShape="1">
          <a:blip r:embed="rId5">
            <a:alphaModFix/>
          </a:blip>
          <a:srcRect b="0" l="0" r="-27877" t="0"/>
          <a:stretch/>
        </p:blipFill>
        <p:spPr>
          <a:xfrm>
            <a:off x="7585699" y="2506800"/>
            <a:ext cx="5890109" cy="4351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g319ffd36927_4_18"/>
          <p:cNvPicPr preferRelativeResize="0"/>
          <p:nvPr/>
        </p:nvPicPr>
        <p:blipFill rotWithShape="1">
          <a:blip r:embed="rId6">
            <a:alphaModFix/>
          </a:blip>
          <a:srcRect b="0" l="0" r="45849" t="0"/>
          <a:stretch/>
        </p:blipFill>
        <p:spPr>
          <a:xfrm>
            <a:off x="7340750" y="365125"/>
            <a:ext cx="4851250" cy="193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19ffd36927_4_2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319ffd36927_4_2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9" name="Google Shape;349;g319ffd36927_4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6300" y="365125"/>
            <a:ext cx="1043940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2024-09-18T13:11:32Z</dcterms:created>
  <dc:creator>Pavel</dc:creator>
</cp:coreProperties>
</file>